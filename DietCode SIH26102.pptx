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Bebas Neue Cyrillic" panose="020B0604020202020204" charset="0"/>
      <p:regular r:id="rId11"/>
    </p:embeddedFont>
    <p:embeddedFont>
      <p:font typeface="Inter" panose="020B0604020202020204" charset="0"/>
      <p:regular r:id="rId12"/>
    </p:embeddedFont>
    <p:embeddedFont>
      <p:font typeface="Inter Bold" panose="020B0604020202020204" charset="0"/>
      <p:regular r:id="rId13"/>
    </p:embeddedFont>
    <p:embeddedFont>
      <p:font typeface="Inter Italics" panose="020B0604020202020204" charset="0"/>
      <p:regular r:id="rId14"/>
    </p:embeddedFont>
    <p:embeddedFont>
      <p:font typeface="Roboto Bold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6.png"/><Relationship Id="rId9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21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57456"/>
            <a:ext cx="18288000" cy="10172088"/>
          </a:xfrm>
          <a:custGeom>
            <a:avLst/>
            <a:gdLst/>
            <a:ahLst/>
            <a:cxnLst/>
            <a:rect l="l" t="t" r="r" b="b"/>
            <a:pathLst>
              <a:path w="18288000" h="10172088">
                <a:moveTo>
                  <a:pt x="0" y="0"/>
                </a:moveTo>
                <a:lnTo>
                  <a:pt x="18288000" y="0"/>
                </a:lnTo>
                <a:lnTo>
                  <a:pt x="18288000" y="10172088"/>
                </a:lnTo>
                <a:lnTo>
                  <a:pt x="0" y="101720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968502" y="1563554"/>
            <a:ext cx="4102496" cy="1246204"/>
          </a:xfrm>
          <a:custGeom>
            <a:avLst/>
            <a:gdLst/>
            <a:ahLst/>
            <a:cxnLst/>
            <a:rect l="l" t="t" r="r" b="b"/>
            <a:pathLst>
              <a:path w="4102496" h="1246204">
                <a:moveTo>
                  <a:pt x="0" y="0"/>
                </a:moveTo>
                <a:lnTo>
                  <a:pt x="4102497" y="0"/>
                </a:lnTo>
                <a:lnTo>
                  <a:pt x="4102497" y="1246204"/>
                </a:lnTo>
                <a:lnTo>
                  <a:pt x="0" y="12462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895" r="-12545" b="-57092"/>
            </a:stretch>
          </a:blipFill>
        </p:spPr>
      </p:sp>
      <p:sp>
        <p:nvSpPr>
          <p:cNvPr id="4" name="Freeform 4"/>
          <p:cNvSpPr/>
          <p:nvPr/>
        </p:nvSpPr>
        <p:spPr>
          <a:xfrm rot="-4435598">
            <a:off x="9222412" y="2060906"/>
            <a:ext cx="1079584" cy="483396"/>
          </a:xfrm>
          <a:custGeom>
            <a:avLst/>
            <a:gdLst/>
            <a:ahLst/>
            <a:cxnLst/>
            <a:rect l="l" t="t" r="r" b="b"/>
            <a:pathLst>
              <a:path w="1079584" h="483396">
                <a:moveTo>
                  <a:pt x="0" y="0"/>
                </a:moveTo>
                <a:lnTo>
                  <a:pt x="1079584" y="0"/>
                </a:lnTo>
                <a:lnTo>
                  <a:pt x="1079584" y="483396"/>
                </a:lnTo>
                <a:lnTo>
                  <a:pt x="0" y="4833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4435598">
            <a:off x="9355762" y="1659049"/>
            <a:ext cx="1079584" cy="483396"/>
          </a:xfrm>
          <a:custGeom>
            <a:avLst/>
            <a:gdLst/>
            <a:ahLst/>
            <a:cxnLst/>
            <a:rect l="l" t="t" r="r" b="b"/>
            <a:pathLst>
              <a:path w="1079584" h="483396">
                <a:moveTo>
                  <a:pt x="0" y="0"/>
                </a:moveTo>
                <a:lnTo>
                  <a:pt x="1079584" y="0"/>
                </a:lnTo>
                <a:lnTo>
                  <a:pt x="1079584" y="483396"/>
                </a:lnTo>
                <a:lnTo>
                  <a:pt x="0" y="4833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5750688" y="1492025"/>
            <a:ext cx="5135437" cy="800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08"/>
              </a:lnSpc>
              <a:spcBef>
                <a:spcPct val="0"/>
              </a:spcBef>
            </a:pPr>
            <a:r>
              <a:rPr lang="en-US" sz="5173" b="1" u="sng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ARTHSETU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9728"/>
            <a:chOff x="0" y="0"/>
            <a:chExt cx="24384000" cy="14630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46304"/>
            </a:xfrm>
            <a:custGeom>
              <a:avLst/>
              <a:gdLst/>
              <a:ahLst/>
              <a:cxnLst/>
              <a:rect l="l" t="t" r="r" b="b"/>
              <a:pathLst>
                <a:path w="24384000" h="146304">
                  <a:moveTo>
                    <a:pt x="0" y="0"/>
                  </a:moveTo>
                  <a:lnTo>
                    <a:pt x="24384000" y="0"/>
                  </a:lnTo>
                  <a:lnTo>
                    <a:pt x="2438400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5B4B8A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3657600" y="325755"/>
            <a:ext cx="10058400" cy="1099170"/>
            <a:chOff x="0" y="0"/>
            <a:chExt cx="13411200" cy="14655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411200" cy="1465560"/>
            </a:xfrm>
            <a:custGeom>
              <a:avLst/>
              <a:gdLst/>
              <a:ahLst/>
              <a:cxnLst/>
              <a:rect l="l" t="t" r="r" b="b"/>
              <a:pathLst>
                <a:path w="13411200" h="1465560">
                  <a:moveTo>
                    <a:pt x="0" y="0"/>
                  </a:moveTo>
                  <a:lnTo>
                    <a:pt x="13411200" y="0"/>
                  </a:lnTo>
                  <a:lnTo>
                    <a:pt x="13411200" y="1465560"/>
                  </a:lnTo>
                  <a:lnTo>
                    <a:pt x="0" y="1465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40870" b="-115741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13411200" cy="14655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239"/>
                </a:lnSpc>
              </a:pPr>
              <a:r>
                <a:rPr lang="en-US" sz="5199" b="1">
                  <a:solidFill>
                    <a:srgbClr val="1B3A5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THE PROBLEM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14400" y="1205865"/>
            <a:ext cx="16459200" cy="548640"/>
            <a:chOff x="0" y="0"/>
            <a:chExt cx="21945600" cy="73152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945600" cy="731520"/>
            </a:xfrm>
            <a:custGeom>
              <a:avLst/>
              <a:gdLst/>
              <a:ahLst/>
              <a:cxnLst/>
              <a:rect l="l" t="t" r="r" b="b"/>
              <a:pathLst>
                <a:path w="21945600" h="73152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34551" b="-534551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0"/>
              <a:ext cx="2194560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MPLADS monitoring today is a reporting system — not a control system.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18823" y="1992630"/>
            <a:ext cx="5420363" cy="3134363"/>
            <a:chOff x="0" y="0"/>
            <a:chExt cx="7227151" cy="417915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227189" cy="4179189"/>
            </a:xfrm>
            <a:custGeom>
              <a:avLst/>
              <a:gdLst/>
              <a:ahLst/>
              <a:cxnLst/>
              <a:rect l="l" t="t" r="r" b="b"/>
              <a:pathLst>
                <a:path w="7227189" h="4179189">
                  <a:moveTo>
                    <a:pt x="0" y="196723"/>
                  </a:moveTo>
                  <a:cubicBezTo>
                    <a:pt x="0" y="88011"/>
                    <a:pt x="88011" y="0"/>
                    <a:pt x="196723" y="0"/>
                  </a:cubicBezTo>
                  <a:lnTo>
                    <a:pt x="7030466" y="0"/>
                  </a:lnTo>
                  <a:cubicBezTo>
                    <a:pt x="7139051" y="0"/>
                    <a:pt x="7227189" y="88011"/>
                    <a:pt x="7227189" y="196723"/>
                  </a:cubicBezTo>
                  <a:lnTo>
                    <a:pt x="7227189" y="3982466"/>
                  </a:lnTo>
                  <a:cubicBezTo>
                    <a:pt x="7227189" y="4091051"/>
                    <a:pt x="7139178" y="4179189"/>
                    <a:pt x="7030466" y="4179189"/>
                  </a:cubicBezTo>
                  <a:lnTo>
                    <a:pt x="196723" y="4179189"/>
                  </a:lnTo>
                  <a:cubicBezTo>
                    <a:pt x="88011" y="4179189"/>
                    <a:pt x="0" y="4091051"/>
                    <a:pt x="0" y="3982466"/>
                  </a:cubicBezTo>
                  <a:close/>
                </a:path>
              </a:pathLst>
            </a:custGeom>
            <a:solidFill>
              <a:srgbClr val="F8FAFC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4754880" y="2224783"/>
            <a:ext cx="1097280" cy="548640"/>
            <a:chOff x="0" y="0"/>
            <a:chExt cx="1463040" cy="73152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463040" cy="731520"/>
            </a:xfrm>
            <a:custGeom>
              <a:avLst/>
              <a:gdLst/>
              <a:ahLst/>
              <a:cxnLst/>
              <a:rect l="l" t="t" r="r" b="b"/>
              <a:pathLst>
                <a:path w="1463040" h="731520">
                  <a:moveTo>
                    <a:pt x="0" y="0"/>
                  </a:moveTo>
                  <a:lnTo>
                    <a:pt x="1463040" y="0"/>
                  </a:lnTo>
                  <a:lnTo>
                    <a:pt x="1463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r="-14151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0"/>
              <a:ext cx="146304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3840"/>
                </a:lnSpc>
              </a:pPr>
              <a:r>
                <a:rPr lang="en-US" sz="3200" b="1">
                  <a:solidFill>
                    <a:srgbClr val="94A3B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01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479543" y="1992630"/>
            <a:ext cx="5420363" cy="3134363"/>
            <a:chOff x="0" y="0"/>
            <a:chExt cx="7227151" cy="417915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7227189" cy="4179189"/>
            </a:xfrm>
            <a:custGeom>
              <a:avLst/>
              <a:gdLst/>
              <a:ahLst/>
              <a:cxnLst/>
              <a:rect l="l" t="t" r="r" b="b"/>
              <a:pathLst>
                <a:path w="7227189" h="4179189">
                  <a:moveTo>
                    <a:pt x="0" y="196723"/>
                  </a:moveTo>
                  <a:cubicBezTo>
                    <a:pt x="0" y="88011"/>
                    <a:pt x="88011" y="0"/>
                    <a:pt x="196723" y="0"/>
                  </a:cubicBezTo>
                  <a:lnTo>
                    <a:pt x="7030466" y="0"/>
                  </a:lnTo>
                  <a:cubicBezTo>
                    <a:pt x="7139051" y="0"/>
                    <a:pt x="7227189" y="88011"/>
                    <a:pt x="7227189" y="196723"/>
                  </a:cubicBezTo>
                  <a:lnTo>
                    <a:pt x="7227189" y="3982466"/>
                  </a:lnTo>
                  <a:cubicBezTo>
                    <a:pt x="7227189" y="4091051"/>
                    <a:pt x="7139178" y="4179189"/>
                    <a:pt x="7030466" y="4179189"/>
                  </a:cubicBezTo>
                  <a:lnTo>
                    <a:pt x="196723" y="4179189"/>
                  </a:lnTo>
                  <a:cubicBezTo>
                    <a:pt x="88011" y="4179189"/>
                    <a:pt x="0" y="4091051"/>
                    <a:pt x="0" y="3982466"/>
                  </a:cubicBezTo>
                  <a:close/>
                </a:path>
              </a:pathLst>
            </a:custGeom>
            <a:solidFill>
              <a:srgbClr val="F8FAFC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10515600" y="2224783"/>
            <a:ext cx="1097280" cy="548640"/>
            <a:chOff x="0" y="0"/>
            <a:chExt cx="1463040" cy="73152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463040" cy="731520"/>
            </a:xfrm>
            <a:custGeom>
              <a:avLst/>
              <a:gdLst/>
              <a:ahLst/>
              <a:cxnLst/>
              <a:rect l="l" t="t" r="r" b="b"/>
              <a:pathLst>
                <a:path w="1463040" h="731520">
                  <a:moveTo>
                    <a:pt x="0" y="0"/>
                  </a:moveTo>
                  <a:lnTo>
                    <a:pt x="1463040" y="0"/>
                  </a:lnTo>
                  <a:lnTo>
                    <a:pt x="1463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r="-14151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0"/>
              <a:ext cx="146304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3840"/>
                </a:lnSpc>
              </a:pPr>
              <a:r>
                <a:rPr lang="en-US" sz="3200" b="1">
                  <a:solidFill>
                    <a:srgbClr val="94A3B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2240263" y="1992630"/>
            <a:ext cx="5420363" cy="3134363"/>
            <a:chOff x="0" y="0"/>
            <a:chExt cx="7227151" cy="4179151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7227189" cy="4179189"/>
            </a:xfrm>
            <a:custGeom>
              <a:avLst/>
              <a:gdLst/>
              <a:ahLst/>
              <a:cxnLst/>
              <a:rect l="l" t="t" r="r" b="b"/>
              <a:pathLst>
                <a:path w="7227189" h="4179189">
                  <a:moveTo>
                    <a:pt x="0" y="196723"/>
                  </a:moveTo>
                  <a:cubicBezTo>
                    <a:pt x="0" y="88011"/>
                    <a:pt x="88011" y="0"/>
                    <a:pt x="196723" y="0"/>
                  </a:cubicBezTo>
                  <a:lnTo>
                    <a:pt x="7030466" y="0"/>
                  </a:lnTo>
                  <a:cubicBezTo>
                    <a:pt x="7139051" y="0"/>
                    <a:pt x="7227189" y="88011"/>
                    <a:pt x="7227189" y="196723"/>
                  </a:cubicBezTo>
                  <a:lnTo>
                    <a:pt x="7227189" y="3982466"/>
                  </a:lnTo>
                  <a:cubicBezTo>
                    <a:pt x="7227189" y="4091051"/>
                    <a:pt x="7139178" y="4179189"/>
                    <a:pt x="7030466" y="4179189"/>
                  </a:cubicBezTo>
                  <a:lnTo>
                    <a:pt x="196723" y="4179189"/>
                  </a:lnTo>
                  <a:cubicBezTo>
                    <a:pt x="88011" y="4179189"/>
                    <a:pt x="0" y="4091051"/>
                    <a:pt x="0" y="3982466"/>
                  </a:cubicBezTo>
                  <a:close/>
                </a:path>
              </a:pathLst>
            </a:custGeom>
            <a:solidFill>
              <a:srgbClr val="F8FAFC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16276320" y="2224783"/>
            <a:ext cx="1097280" cy="548640"/>
            <a:chOff x="0" y="0"/>
            <a:chExt cx="1463040" cy="73152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463040" cy="731520"/>
            </a:xfrm>
            <a:custGeom>
              <a:avLst/>
              <a:gdLst/>
              <a:ahLst/>
              <a:cxnLst/>
              <a:rect l="l" t="t" r="r" b="b"/>
              <a:pathLst>
                <a:path w="1463040" h="731520">
                  <a:moveTo>
                    <a:pt x="0" y="0"/>
                  </a:moveTo>
                  <a:lnTo>
                    <a:pt x="1463040" y="0"/>
                  </a:lnTo>
                  <a:lnTo>
                    <a:pt x="1463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r="-14151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0" y="0"/>
              <a:ext cx="146304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3840"/>
                </a:lnSpc>
              </a:pPr>
              <a:r>
                <a:rPr lang="en-US" sz="3200" b="1">
                  <a:solidFill>
                    <a:srgbClr val="94A3B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18823" y="5382263"/>
            <a:ext cx="10345417" cy="3865883"/>
            <a:chOff x="0" y="0"/>
            <a:chExt cx="13793889" cy="5154511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3793797" cy="5154422"/>
            </a:xfrm>
            <a:custGeom>
              <a:avLst/>
              <a:gdLst/>
              <a:ahLst/>
              <a:cxnLst/>
              <a:rect l="l" t="t" r="r" b="b"/>
              <a:pathLst>
                <a:path w="13793797" h="5154422">
                  <a:moveTo>
                    <a:pt x="0" y="196342"/>
                  </a:moveTo>
                  <a:cubicBezTo>
                    <a:pt x="0" y="87884"/>
                    <a:pt x="90164" y="0"/>
                    <a:pt x="201436" y="0"/>
                  </a:cubicBezTo>
                  <a:lnTo>
                    <a:pt x="13592361" y="0"/>
                  </a:lnTo>
                  <a:cubicBezTo>
                    <a:pt x="13703633" y="0"/>
                    <a:pt x="13793797" y="87884"/>
                    <a:pt x="13793797" y="196342"/>
                  </a:cubicBezTo>
                  <a:lnTo>
                    <a:pt x="13793797" y="4958080"/>
                  </a:lnTo>
                  <a:cubicBezTo>
                    <a:pt x="13793797" y="5066538"/>
                    <a:pt x="13703633" y="5154422"/>
                    <a:pt x="13592361" y="5154422"/>
                  </a:cubicBezTo>
                  <a:lnTo>
                    <a:pt x="201436" y="5154422"/>
                  </a:lnTo>
                  <a:cubicBezTo>
                    <a:pt x="90164" y="5154549"/>
                    <a:pt x="0" y="5066538"/>
                    <a:pt x="0" y="4958080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1005840" y="5614416"/>
            <a:ext cx="9509760" cy="457200"/>
            <a:chOff x="0" y="0"/>
            <a:chExt cx="12679680" cy="6096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2679680" cy="609600"/>
            </a:xfrm>
            <a:custGeom>
              <a:avLst/>
              <a:gdLst/>
              <a:ahLst/>
              <a:cxnLst/>
              <a:rect l="l" t="t" r="r" b="b"/>
              <a:pathLst>
                <a:path w="12679680" h="609600">
                  <a:moveTo>
                    <a:pt x="0" y="0"/>
                  </a:moveTo>
                  <a:lnTo>
                    <a:pt x="12679680" y="0"/>
                  </a:lnTo>
                  <a:lnTo>
                    <a:pt x="1267968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55288" b="-355288"/>
              </a:stretch>
            </a:blipFill>
          </p:spPr>
        </p:sp>
        <p:sp>
          <p:nvSpPr>
            <p:cNvPr id="29" name="TextBox 29"/>
            <p:cNvSpPr txBox="1"/>
            <p:nvPr/>
          </p:nvSpPr>
          <p:spPr>
            <a:xfrm>
              <a:off x="0" y="0"/>
              <a:ext cx="12679680" cy="6096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39"/>
                </a:lnSpc>
              </a:pPr>
              <a:r>
                <a:rPr lang="en-US" sz="2199" b="1">
                  <a:solidFill>
                    <a:srgbClr val="0D948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THE OPPORTUNITY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005840" y="6126480"/>
            <a:ext cx="9509760" cy="1005840"/>
            <a:chOff x="0" y="0"/>
            <a:chExt cx="12679680" cy="134112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2679680" cy="1341120"/>
            </a:xfrm>
            <a:custGeom>
              <a:avLst/>
              <a:gdLst/>
              <a:ahLst/>
              <a:cxnLst/>
              <a:rect l="l" t="t" r="r" b="b"/>
              <a:pathLst>
                <a:path w="12679680" h="1341120">
                  <a:moveTo>
                    <a:pt x="0" y="0"/>
                  </a:moveTo>
                  <a:lnTo>
                    <a:pt x="12679680" y="0"/>
                  </a:lnTo>
                  <a:lnTo>
                    <a:pt x="126796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4222" b="-134222"/>
              </a:stretch>
            </a:blipFill>
          </p:spPr>
        </p:sp>
        <p:sp>
          <p:nvSpPr>
            <p:cNvPr id="32" name="TextBox 32"/>
            <p:cNvSpPr txBox="1"/>
            <p:nvPr/>
          </p:nvSpPr>
          <p:spPr>
            <a:xfrm>
              <a:off x="0" y="0"/>
              <a:ext cx="12679680" cy="13411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Move MPLADS from reporting to controlled fund release — every next payment depends on verified spending and verified work.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082040" y="7574280"/>
            <a:ext cx="1639824" cy="725424"/>
            <a:chOff x="0" y="0"/>
            <a:chExt cx="2186432" cy="967232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186432" cy="967232"/>
            </a:xfrm>
            <a:custGeom>
              <a:avLst/>
              <a:gdLst/>
              <a:ahLst/>
              <a:cxnLst/>
              <a:rect l="l" t="t" r="r" b="b"/>
              <a:pathLst>
                <a:path w="2186432" h="967232">
                  <a:moveTo>
                    <a:pt x="0" y="152654"/>
                  </a:moveTo>
                  <a:cubicBezTo>
                    <a:pt x="0" y="68326"/>
                    <a:pt x="68326" y="0"/>
                    <a:pt x="152654" y="0"/>
                  </a:cubicBezTo>
                  <a:lnTo>
                    <a:pt x="2033778" y="0"/>
                  </a:lnTo>
                  <a:cubicBezTo>
                    <a:pt x="2118106" y="0"/>
                    <a:pt x="2186432" y="68326"/>
                    <a:pt x="2186432" y="152654"/>
                  </a:cubicBezTo>
                  <a:lnTo>
                    <a:pt x="2186432" y="814578"/>
                  </a:lnTo>
                  <a:cubicBezTo>
                    <a:pt x="2186432" y="898906"/>
                    <a:pt x="2118106" y="967232"/>
                    <a:pt x="2033778" y="967232"/>
                  </a:cubicBezTo>
                  <a:lnTo>
                    <a:pt x="152654" y="967232"/>
                  </a:lnTo>
                  <a:cubicBezTo>
                    <a:pt x="68326" y="967232"/>
                    <a:pt x="0" y="898906"/>
                    <a:pt x="0" y="814578"/>
                  </a:cubicBezTo>
                  <a:close/>
                </a:path>
              </a:pathLst>
            </a:custGeom>
            <a:solidFill>
              <a:srgbClr val="FFFFFF"/>
            </a:solidFill>
            <a:ln w="30480" cap="sq">
              <a:solidFill>
                <a:srgbClr val="1B3A5F"/>
              </a:solidFill>
              <a:prstDash val="solid"/>
              <a:miter/>
            </a:ln>
          </p:spPr>
        </p:sp>
      </p:grpSp>
      <p:grpSp>
        <p:nvGrpSpPr>
          <p:cNvPr id="35" name="Group 35"/>
          <p:cNvGrpSpPr/>
          <p:nvPr/>
        </p:nvGrpSpPr>
        <p:grpSpPr>
          <a:xfrm>
            <a:off x="1097280" y="7589520"/>
            <a:ext cx="1609344" cy="694944"/>
            <a:chOff x="0" y="0"/>
            <a:chExt cx="2145792" cy="926592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2145792" cy="926592"/>
            </a:xfrm>
            <a:custGeom>
              <a:avLst/>
              <a:gdLst/>
              <a:ahLst/>
              <a:cxnLst/>
              <a:rect l="l" t="t" r="r" b="b"/>
              <a:pathLst>
                <a:path w="2145792" h="926592">
                  <a:moveTo>
                    <a:pt x="0" y="0"/>
                  </a:moveTo>
                  <a:lnTo>
                    <a:pt x="2145792" y="0"/>
                  </a:lnTo>
                  <a:lnTo>
                    <a:pt x="21457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403" r="-5403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0"/>
              <a:ext cx="2145792" cy="9265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1B3A5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DETECT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2724912" y="7589520"/>
            <a:ext cx="365760" cy="694944"/>
            <a:chOff x="0" y="0"/>
            <a:chExt cx="487680" cy="926592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487680" cy="926592"/>
            </a:xfrm>
            <a:custGeom>
              <a:avLst/>
              <a:gdLst/>
              <a:ahLst/>
              <a:cxnLst/>
              <a:rect l="l" t="t" r="r" b="b"/>
              <a:pathLst>
                <a:path w="487680" h="926592">
                  <a:moveTo>
                    <a:pt x="0" y="0"/>
                  </a:moveTo>
                  <a:lnTo>
                    <a:pt x="487680" y="0"/>
                  </a:lnTo>
                  <a:lnTo>
                    <a:pt x="4876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93776" r="-193776"/>
              </a:stretch>
            </a:blipFill>
          </p:spPr>
        </p:sp>
        <p:sp>
          <p:nvSpPr>
            <p:cNvPr id="40" name="TextBox 40"/>
            <p:cNvSpPr txBox="1"/>
            <p:nvPr/>
          </p:nvSpPr>
          <p:spPr>
            <a:xfrm>
              <a:off x="0" y="0"/>
              <a:ext cx="487680" cy="9265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40"/>
                </a:lnSpc>
              </a:pPr>
              <a:r>
                <a:rPr lang="en-US" sz="3200" b="1">
                  <a:solidFill>
                    <a:srgbClr val="1B3A5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›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3130296" y="7574280"/>
            <a:ext cx="1639824" cy="725424"/>
            <a:chOff x="0" y="0"/>
            <a:chExt cx="2186432" cy="967232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2186432" cy="967232"/>
            </a:xfrm>
            <a:custGeom>
              <a:avLst/>
              <a:gdLst/>
              <a:ahLst/>
              <a:cxnLst/>
              <a:rect l="l" t="t" r="r" b="b"/>
              <a:pathLst>
                <a:path w="2186432" h="967232">
                  <a:moveTo>
                    <a:pt x="0" y="152654"/>
                  </a:moveTo>
                  <a:cubicBezTo>
                    <a:pt x="0" y="68326"/>
                    <a:pt x="68326" y="0"/>
                    <a:pt x="152654" y="0"/>
                  </a:cubicBezTo>
                  <a:lnTo>
                    <a:pt x="2033778" y="0"/>
                  </a:lnTo>
                  <a:cubicBezTo>
                    <a:pt x="2118106" y="0"/>
                    <a:pt x="2186432" y="68326"/>
                    <a:pt x="2186432" y="152654"/>
                  </a:cubicBezTo>
                  <a:lnTo>
                    <a:pt x="2186432" y="814578"/>
                  </a:lnTo>
                  <a:cubicBezTo>
                    <a:pt x="2186432" y="898906"/>
                    <a:pt x="2118106" y="967232"/>
                    <a:pt x="2033778" y="967232"/>
                  </a:cubicBezTo>
                  <a:lnTo>
                    <a:pt x="152654" y="967232"/>
                  </a:lnTo>
                  <a:cubicBezTo>
                    <a:pt x="68326" y="967232"/>
                    <a:pt x="0" y="898906"/>
                    <a:pt x="0" y="814578"/>
                  </a:cubicBezTo>
                  <a:close/>
                </a:path>
              </a:pathLst>
            </a:custGeom>
            <a:solidFill>
              <a:srgbClr val="FFFFFF"/>
            </a:solidFill>
            <a:ln w="30480" cap="sq">
              <a:solidFill>
                <a:srgbClr val="1B3A5F"/>
              </a:solidFill>
              <a:prstDash val="solid"/>
              <a:miter/>
            </a:ln>
          </p:spPr>
        </p:sp>
      </p:grpSp>
      <p:grpSp>
        <p:nvGrpSpPr>
          <p:cNvPr id="43" name="Group 43"/>
          <p:cNvGrpSpPr/>
          <p:nvPr/>
        </p:nvGrpSpPr>
        <p:grpSpPr>
          <a:xfrm>
            <a:off x="3145536" y="7589520"/>
            <a:ext cx="1609344" cy="694944"/>
            <a:chOff x="0" y="0"/>
            <a:chExt cx="2145792" cy="926592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2145792" cy="926592"/>
            </a:xfrm>
            <a:custGeom>
              <a:avLst/>
              <a:gdLst/>
              <a:ahLst/>
              <a:cxnLst/>
              <a:rect l="l" t="t" r="r" b="b"/>
              <a:pathLst>
                <a:path w="2145792" h="926592">
                  <a:moveTo>
                    <a:pt x="0" y="0"/>
                  </a:moveTo>
                  <a:lnTo>
                    <a:pt x="2145792" y="0"/>
                  </a:lnTo>
                  <a:lnTo>
                    <a:pt x="21457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403" r="-5403"/>
              </a:stretch>
            </a:blipFill>
          </p:spPr>
        </p:sp>
        <p:sp>
          <p:nvSpPr>
            <p:cNvPr id="45" name="TextBox 45"/>
            <p:cNvSpPr txBox="1"/>
            <p:nvPr/>
          </p:nvSpPr>
          <p:spPr>
            <a:xfrm>
              <a:off x="0" y="0"/>
              <a:ext cx="2145792" cy="9265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1B3A5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VERIFY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4773168" y="7589520"/>
            <a:ext cx="365760" cy="694944"/>
            <a:chOff x="0" y="0"/>
            <a:chExt cx="487680" cy="926592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487680" cy="926592"/>
            </a:xfrm>
            <a:custGeom>
              <a:avLst/>
              <a:gdLst/>
              <a:ahLst/>
              <a:cxnLst/>
              <a:rect l="l" t="t" r="r" b="b"/>
              <a:pathLst>
                <a:path w="487680" h="926592">
                  <a:moveTo>
                    <a:pt x="0" y="0"/>
                  </a:moveTo>
                  <a:lnTo>
                    <a:pt x="487680" y="0"/>
                  </a:lnTo>
                  <a:lnTo>
                    <a:pt x="4876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93776" r="-193776"/>
              </a:stretch>
            </a:blipFill>
          </p:spPr>
        </p:sp>
        <p:sp>
          <p:nvSpPr>
            <p:cNvPr id="48" name="TextBox 48"/>
            <p:cNvSpPr txBox="1"/>
            <p:nvPr/>
          </p:nvSpPr>
          <p:spPr>
            <a:xfrm>
              <a:off x="0" y="0"/>
              <a:ext cx="487680" cy="9265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40"/>
                </a:lnSpc>
              </a:pPr>
              <a:r>
                <a:rPr lang="en-US" sz="3200" b="1">
                  <a:solidFill>
                    <a:srgbClr val="1B3A5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›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5178552" y="7574280"/>
            <a:ext cx="1639824" cy="725424"/>
            <a:chOff x="0" y="0"/>
            <a:chExt cx="2186432" cy="967232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2186432" cy="967232"/>
            </a:xfrm>
            <a:custGeom>
              <a:avLst/>
              <a:gdLst/>
              <a:ahLst/>
              <a:cxnLst/>
              <a:rect l="l" t="t" r="r" b="b"/>
              <a:pathLst>
                <a:path w="2186432" h="967232">
                  <a:moveTo>
                    <a:pt x="0" y="152654"/>
                  </a:moveTo>
                  <a:cubicBezTo>
                    <a:pt x="0" y="68326"/>
                    <a:pt x="68326" y="0"/>
                    <a:pt x="152654" y="0"/>
                  </a:cubicBezTo>
                  <a:lnTo>
                    <a:pt x="2033778" y="0"/>
                  </a:lnTo>
                  <a:cubicBezTo>
                    <a:pt x="2118106" y="0"/>
                    <a:pt x="2186432" y="68326"/>
                    <a:pt x="2186432" y="152654"/>
                  </a:cubicBezTo>
                  <a:lnTo>
                    <a:pt x="2186432" y="814578"/>
                  </a:lnTo>
                  <a:cubicBezTo>
                    <a:pt x="2186432" y="898906"/>
                    <a:pt x="2118106" y="967232"/>
                    <a:pt x="2033778" y="967232"/>
                  </a:cubicBezTo>
                  <a:lnTo>
                    <a:pt x="152654" y="967232"/>
                  </a:lnTo>
                  <a:cubicBezTo>
                    <a:pt x="68326" y="967232"/>
                    <a:pt x="0" y="898906"/>
                    <a:pt x="0" y="814578"/>
                  </a:cubicBezTo>
                  <a:close/>
                </a:path>
              </a:pathLst>
            </a:custGeom>
            <a:solidFill>
              <a:srgbClr val="FFFFFF"/>
            </a:solidFill>
            <a:ln w="30480" cap="sq">
              <a:solidFill>
                <a:srgbClr val="1B3A5F"/>
              </a:solidFill>
              <a:prstDash val="solid"/>
              <a:miter/>
            </a:ln>
          </p:spPr>
        </p:sp>
      </p:grpSp>
      <p:grpSp>
        <p:nvGrpSpPr>
          <p:cNvPr id="51" name="Group 51"/>
          <p:cNvGrpSpPr/>
          <p:nvPr/>
        </p:nvGrpSpPr>
        <p:grpSpPr>
          <a:xfrm>
            <a:off x="5193792" y="7589520"/>
            <a:ext cx="1609344" cy="694944"/>
            <a:chOff x="0" y="0"/>
            <a:chExt cx="2145792" cy="926592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2145792" cy="926592"/>
            </a:xfrm>
            <a:custGeom>
              <a:avLst/>
              <a:gdLst/>
              <a:ahLst/>
              <a:cxnLst/>
              <a:rect l="l" t="t" r="r" b="b"/>
              <a:pathLst>
                <a:path w="2145792" h="926592">
                  <a:moveTo>
                    <a:pt x="0" y="0"/>
                  </a:moveTo>
                  <a:lnTo>
                    <a:pt x="2145792" y="0"/>
                  </a:lnTo>
                  <a:lnTo>
                    <a:pt x="21457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403" r="-5403"/>
              </a:stretch>
            </a:blipFill>
          </p:spPr>
        </p:sp>
        <p:sp>
          <p:nvSpPr>
            <p:cNvPr id="53" name="TextBox 53"/>
            <p:cNvSpPr txBox="1"/>
            <p:nvPr/>
          </p:nvSpPr>
          <p:spPr>
            <a:xfrm>
              <a:off x="0" y="0"/>
              <a:ext cx="2145792" cy="9265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1B3A5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ACCOUNT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6821424" y="7589520"/>
            <a:ext cx="365760" cy="694944"/>
            <a:chOff x="0" y="0"/>
            <a:chExt cx="487680" cy="926592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487680" cy="926592"/>
            </a:xfrm>
            <a:custGeom>
              <a:avLst/>
              <a:gdLst/>
              <a:ahLst/>
              <a:cxnLst/>
              <a:rect l="l" t="t" r="r" b="b"/>
              <a:pathLst>
                <a:path w="487680" h="926592">
                  <a:moveTo>
                    <a:pt x="0" y="0"/>
                  </a:moveTo>
                  <a:lnTo>
                    <a:pt x="487680" y="0"/>
                  </a:lnTo>
                  <a:lnTo>
                    <a:pt x="4876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93776" r="-193776"/>
              </a:stretch>
            </a:blipFill>
          </p:spPr>
        </p:sp>
        <p:sp>
          <p:nvSpPr>
            <p:cNvPr id="56" name="TextBox 56"/>
            <p:cNvSpPr txBox="1"/>
            <p:nvPr/>
          </p:nvSpPr>
          <p:spPr>
            <a:xfrm>
              <a:off x="0" y="0"/>
              <a:ext cx="487680" cy="9265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40"/>
                </a:lnSpc>
              </a:pPr>
              <a:r>
                <a:rPr lang="en-US" sz="3200" b="1">
                  <a:solidFill>
                    <a:srgbClr val="1B3A5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›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7226808" y="7574280"/>
            <a:ext cx="1639824" cy="725424"/>
            <a:chOff x="0" y="0"/>
            <a:chExt cx="2186432" cy="967232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2186432" cy="967232"/>
            </a:xfrm>
            <a:custGeom>
              <a:avLst/>
              <a:gdLst/>
              <a:ahLst/>
              <a:cxnLst/>
              <a:rect l="l" t="t" r="r" b="b"/>
              <a:pathLst>
                <a:path w="2186432" h="967232">
                  <a:moveTo>
                    <a:pt x="0" y="152654"/>
                  </a:moveTo>
                  <a:cubicBezTo>
                    <a:pt x="0" y="68326"/>
                    <a:pt x="68326" y="0"/>
                    <a:pt x="152654" y="0"/>
                  </a:cubicBezTo>
                  <a:lnTo>
                    <a:pt x="2033778" y="0"/>
                  </a:lnTo>
                  <a:cubicBezTo>
                    <a:pt x="2118106" y="0"/>
                    <a:pt x="2186432" y="68326"/>
                    <a:pt x="2186432" y="152654"/>
                  </a:cubicBezTo>
                  <a:lnTo>
                    <a:pt x="2186432" y="814578"/>
                  </a:lnTo>
                  <a:cubicBezTo>
                    <a:pt x="2186432" y="898906"/>
                    <a:pt x="2118106" y="967232"/>
                    <a:pt x="2033778" y="967232"/>
                  </a:cubicBezTo>
                  <a:lnTo>
                    <a:pt x="152654" y="967232"/>
                  </a:lnTo>
                  <a:cubicBezTo>
                    <a:pt x="68326" y="967232"/>
                    <a:pt x="0" y="898906"/>
                    <a:pt x="0" y="814578"/>
                  </a:cubicBezTo>
                  <a:close/>
                </a:path>
              </a:pathLst>
            </a:custGeom>
            <a:solidFill>
              <a:srgbClr val="FFFFFF"/>
            </a:solidFill>
            <a:ln w="30480" cap="sq">
              <a:solidFill>
                <a:srgbClr val="1B3A5F"/>
              </a:solidFill>
              <a:prstDash val="solid"/>
              <a:miter/>
            </a:ln>
          </p:spPr>
        </p:sp>
      </p:grpSp>
      <p:grpSp>
        <p:nvGrpSpPr>
          <p:cNvPr id="59" name="Group 59"/>
          <p:cNvGrpSpPr/>
          <p:nvPr/>
        </p:nvGrpSpPr>
        <p:grpSpPr>
          <a:xfrm>
            <a:off x="7242048" y="7589520"/>
            <a:ext cx="1609344" cy="694944"/>
            <a:chOff x="0" y="0"/>
            <a:chExt cx="2145792" cy="926592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2145792" cy="926592"/>
            </a:xfrm>
            <a:custGeom>
              <a:avLst/>
              <a:gdLst/>
              <a:ahLst/>
              <a:cxnLst/>
              <a:rect l="l" t="t" r="r" b="b"/>
              <a:pathLst>
                <a:path w="2145792" h="926592">
                  <a:moveTo>
                    <a:pt x="0" y="0"/>
                  </a:moveTo>
                  <a:lnTo>
                    <a:pt x="2145792" y="0"/>
                  </a:lnTo>
                  <a:lnTo>
                    <a:pt x="21457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403" r="-5403"/>
              </a:stretch>
            </a:blipFill>
          </p:spPr>
        </p:sp>
        <p:sp>
          <p:nvSpPr>
            <p:cNvPr id="61" name="TextBox 61"/>
            <p:cNvSpPr txBox="1"/>
            <p:nvPr/>
          </p:nvSpPr>
          <p:spPr>
            <a:xfrm>
              <a:off x="0" y="0"/>
              <a:ext cx="2145792" cy="9265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1B3A5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APPROVE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8869680" y="7589520"/>
            <a:ext cx="365760" cy="694944"/>
            <a:chOff x="0" y="0"/>
            <a:chExt cx="487680" cy="926592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487680" cy="926592"/>
            </a:xfrm>
            <a:custGeom>
              <a:avLst/>
              <a:gdLst/>
              <a:ahLst/>
              <a:cxnLst/>
              <a:rect l="l" t="t" r="r" b="b"/>
              <a:pathLst>
                <a:path w="487680" h="926592">
                  <a:moveTo>
                    <a:pt x="0" y="0"/>
                  </a:moveTo>
                  <a:lnTo>
                    <a:pt x="487680" y="0"/>
                  </a:lnTo>
                  <a:lnTo>
                    <a:pt x="4876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93776" r="-193776"/>
              </a:stretch>
            </a:blipFill>
          </p:spPr>
        </p:sp>
        <p:sp>
          <p:nvSpPr>
            <p:cNvPr id="64" name="TextBox 64"/>
            <p:cNvSpPr txBox="1"/>
            <p:nvPr/>
          </p:nvSpPr>
          <p:spPr>
            <a:xfrm>
              <a:off x="0" y="0"/>
              <a:ext cx="487680" cy="9265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40"/>
                </a:lnSpc>
              </a:pPr>
              <a:r>
                <a:rPr lang="en-US" sz="3200" b="1">
                  <a:solidFill>
                    <a:srgbClr val="1B3A5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›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9275064" y="7574280"/>
            <a:ext cx="1639824" cy="725424"/>
            <a:chOff x="0" y="0"/>
            <a:chExt cx="2186432" cy="967232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2186432" cy="967232"/>
            </a:xfrm>
            <a:custGeom>
              <a:avLst/>
              <a:gdLst/>
              <a:ahLst/>
              <a:cxnLst/>
              <a:rect l="l" t="t" r="r" b="b"/>
              <a:pathLst>
                <a:path w="2186432" h="967232">
                  <a:moveTo>
                    <a:pt x="0" y="152654"/>
                  </a:moveTo>
                  <a:cubicBezTo>
                    <a:pt x="0" y="68326"/>
                    <a:pt x="68326" y="0"/>
                    <a:pt x="152654" y="0"/>
                  </a:cubicBezTo>
                  <a:lnTo>
                    <a:pt x="2033778" y="0"/>
                  </a:lnTo>
                  <a:cubicBezTo>
                    <a:pt x="2118106" y="0"/>
                    <a:pt x="2186432" y="68326"/>
                    <a:pt x="2186432" y="152654"/>
                  </a:cubicBezTo>
                  <a:lnTo>
                    <a:pt x="2186432" y="814578"/>
                  </a:lnTo>
                  <a:cubicBezTo>
                    <a:pt x="2186432" y="898906"/>
                    <a:pt x="2118106" y="967232"/>
                    <a:pt x="2033778" y="967232"/>
                  </a:cubicBezTo>
                  <a:lnTo>
                    <a:pt x="152654" y="967232"/>
                  </a:lnTo>
                  <a:cubicBezTo>
                    <a:pt x="68326" y="967232"/>
                    <a:pt x="0" y="898906"/>
                    <a:pt x="0" y="814578"/>
                  </a:cubicBezTo>
                  <a:close/>
                </a:path>
              </a:pathLst>
            </a:custGeom>
            <a:solidFill>
              <a:srgbClr val="0D9488"/>
            </a:solidFill>
            <a:ln w="30480" cap="sq">
              <a:solidFill>
                <a:srgbClr val="0D9488"/>
              </a:solidFill>
              <a:prstDash val="solid"/>
              <a:miter/>
            </a:ln>
          </p:spPr>
        </p:sp>
      </p:grpSp>
      <p:grpSp>
        <p:nvGrpSpPr>
          <p:cNvPr id="67" name="Group 67"/>
          <p:cNvGrpSpPr/>
          <p:nvPr/>
        </p:nvGrpSpPr>
        <p:grpSpPr>
          <a:xfrm>
            <a:off x="9290304" y="7589520"/>
            <a:ext cx="1609344" cy="694944"/>
            <a:chOff x="0" y="0"/>
            <a:chExt cx="2145792" cy="926592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2145792" cy="926592"/>
            </a:xfrm>
            <a:custGeom>
              <a:avLst/>
              <a:gdLst/>
              <a:ahLst/>
              <a:cxnLst/>
              <a:rect l="l" t="t" r="r" b="b"/>
              <a:pathLst>
                <a:path w="2145792" h="926592">
                  <a:moveTo>
                    <a:pt x="0" y="0"/>
                  </a:moveTo>
                  <a:lnTo>
                    <a:pt x="2145792" y="0"/>
                  </a:lnTo>
                  <a:lnTo>
                    <a:pt x="21457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403" r="-5403"/>
              </a:stretch>
            </a:blipFill>
          </p:spPr>
        </p:sp>
        <p:sp>
          <p:nvSpPr>
            <p:cNvPr id="69" name="TextBox 69"/>
            <p:cNvSpPr txBox="1"/>
            <p:nvPr/>
          </p:nvSpPr>
          <p:spPr>
            <a:xfrm>
              <a:off x="0" y="0"/>
              <a:ext cx="2145792" cy="9265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RELEASE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11142983" y="5382263"/>
            <a:ext cx="6426203" cy="3865883"/>
            <a:chOff x="0" y="0"/>
            <a:chExt cx="8568271" cy="5154511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8568182" cy="5154422"/>
            </a:xfrm>
            <a:custGeom>
              <a:avLst/>
              <a:gdLst/>
              <a:ahLst/>
              <a:cxnLst/>
              <a:rect l="l" t="t" r="r" b="b"/>
              <a:pathLst>
                <a:path w="8568182" h="5154422">
                  <a:moveTo>
                    <a:pt x="0" y="196342"/>
                  </a:moveTo>
                  <a:cubicBezTo>
                    <a:pt x="0" y="87884"/>
                    <a:pt x="87884" y="0"/>
                    <a:pt x="196342" y="0"/>
                  </a:cubicBezTo>
                  <a:lnTo>
                    <a:pt x="8371840" y="0"/>
                  </a:lnTo>
                  <a:cubicBezTo>
                    <a:pt x="8480298" y="0"/>
                    <a:pt x="8568182" y="87884"/>
                    <a:pt x="8568182" y="196342"/>
                  </a:cubicBezTo>
                  <a:lnTo>
                    <a:pt x="8568182" y="4958080"/>
                  </a:lnTo>
                  <a:cubicBezTo>
                    <a:pt x="8568182" y="5066538"/>
                    <a:pt x="8480298" y="5154422"/>
                    <a:pt x="8371840" y="5154422"/>
                  </a:cubicBezTo>
                  <a:lnTo>
                    <a:pt x="196342" y="5154422"/>
                  </a:lnTo>
                  <a:cubicBezTo>
                    <a:pt x="87884" y="5154549"/>
                    <a:pt x="0" y="5066538"/>
                    <a:pt x="0" y="4958080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id="72" name="Group 72"/>
          <p:cNvGrpSpPr/>
          <p:nvPr/>
        </p:nvGrpSpPr>
        <p:grpSpPr>
          <a:xfrm>
            <a:off x="11430000" y="5577840"/>
            <a:ext cx="5852160" cy="548640"/>
            <a:chOff x="0" y="0"/>
            <a:chExt cx="7802880" cy="731520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7802880" cy="731520"/>
            </a:xfrm>
            <a:custGeom>
              <a:avLst/>
              <a:gdLst/>
              <a:ahLst/>
              <a:cxnLst/>
              <a:rect l="l" t="t" r="r" b="b"/>
              <a:pathLst>
                <a:path w="7802880" h="731520">
                  <a:moveTo>
                    <a:pt x="0" y="0"/>
                  </a:moveTo>
                  <a:lnTo>
                    <a:pt x="7802880" y="0"/>
                  </a:lnTo>
                  <a:lnTo>
                    <a:pt x="78028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57840" b="-157840"/>
              </a:stretch>
            </a:blipFill>
          </p:spPr>
        </p:sp>
        <p:sp>
          <p:nvSpPr>
            <p:cNvPr id="74" name="TextBox 74"/>
            <p:cNvSpPr txBox="1"/>
            <p:nvPr/>
          </p:nvSpPr>
          <p:spPr>
            <a:xfrm>
              <a:off x="0" y="0"/>
              <a:ext cx="780288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1E293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Expenditures vs Verified Progress (Current System)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11704320" y="6126480"/>
            <a:ext cx="329184" cy="219456"/>
            <a:chOff x="0" y="0"/>
            <a:chExt cx="438912" cy="292608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438912" cy="292608"/>
            </a:xfrm>
            <a:custGeom>
              <a:avLst/>
              <a:gdLst/>
              <a:ahLst/>
              <a:cxnLst/>
              <a:rect l="l" t="t" r="r" b="b"/>
              <a:pathLst>
                <a:path w="438912" h="292608">
                  <a:moveTo>
                    <a:pt x="0" y="0"/>
                  </a:moveTo>
                  <a:lnTo>
                    <a:pt x="438912" y="0"/>
                  </a:lnTo>
                  <a:lnTo>
                    <a:pt x="438912" y="292608"/>
                  </a:lnTo>
                  <a:lnTo>
                    <a:pt x="0" y="292608"/>
                  </a:lnTo>
                  <a:close/>
                </a:path>
              </a:pathLst>
            </a:custGeom>
            <a:solidFill>
              <a:srgbClr val="1B3A5F"/>
            </a:solidFill>
          </p:spPr>
        </p:sp>
      </p:grpSp>
      <p:grpSp>
        <p:nvGrpSpPr>
          <p:cNvPr id="77" name="Group 77"/>
          <p:cNvGrpSpPr/>
          <p:nvPr/>
        </p:nvGrpSpPr>
        <p:grpSpPr>
          <a:xfrm>
            <a:off x="12161520" y="6071616"/>
            <a:ext cx="2560320" cy="329184"/>
            <a:chOff x="0" y="0"/>
            <a:chExt cx="3413760" cy="438912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3413760" cy="438912"/>
            </a:xfrm>
            <a:custGeom>
              <a:avLst/>
              <a:gdLst/>
              <a:ahLst/>
              <a:cxnLst/>
              <a:rect l="l" t="t" r="r" b="b"/>
              <a:pathLst>
                <a:path w="3413760" h="438912">
                  <a:moveTo>
                    <a:pt x="0" y="0"/>
                  </a:moveTo>
                  <a:lnTo>
                    <a:pt x="3413760" y="0"/>
                  </a:lnTo>
                  <a:lnTo>
                    <a:pt x="341376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1550" b="-101550"/>
              </a:stretch>
            </a:blipFill>
          </p:spPr>
        </p:sp>
        <p:sp>
          <p:nvSpPr>
            <p:cNvPr id="79" name="TextBox 79"/>
            <p:cNvSpPr txBox="1"/>
            <p:nvPr/>
          </p:nvSpPr>
          <p:spPr>
            <a:xfrm>
              <a:off x="0" y="0"/>
              <a:ext cx="3413760" cy="43891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80"/>
                </a:lnSpc>
              </a:pPr>
              <a:r>
                <a:rPr lang="en-US" sz="14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Financial Expenditure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14813280" y="6126480"/>
            <a:ext cx="329184" cy="219456"/>
            <a:chOff x="0" y="0"/>
            <a:chExt cx="438912" cy="292608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438912" cy="292608"/>
            </a:xfrm>
            <a:custGeom>
              <a:avLst/>
              <a:gdLst/>
              <a:ahLst/>
              <a:cxnLst/>
              <a:rect l="l" t="t" r="r" b="b"/>
              <a:pathLst>
                <a:path w="438912" h="292608">
                  <a:moveTo>
                    <a:pt x="0" y="0"/>
                  </a:moveTo>
                  <a:lnTo>
                    <a:pt x="438912" y="0"/>
                  </a:lnTo>
                  <a:lnTo>
                    <a:pt x="438912" y="292608"/>
                  </a:lnTo>
                  <a:lnTo>
                    <a:pt x="0" y="292608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id="82" name="Group 82"/>
          <p:cNvGrpSpPr/>
          <p:nvPr/>
        </p:nvGrpSpPr>
        <p:grpSpPr>
          <a:xfrm>
            <a:off x="15270480" y="6071616"/>
            <a:ext cx="2194560" cy="329184"/>
            <a:chOff x="0" y="0"/>
            <a:chExt cx="2926080" cy="438912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2926080" cy="438912"/>
            </a:xfrm>
            <a:custGeom>
              <a:avLst/>
              <a:gdLst/>
              <a:ahLst/>
              <a:cxnLst/>
              <a:rect l="l" t="t" r="r" b="b"/>
              <a:pathLst>
                <a:path w="2926080" h="438912">
                  <a:moveTo>
                    <a:pt x="0" y="0"/>
                  </a:moveTo>
                  <a:lnTo>
                    <a:pt x="2926080" y="0"/>
                  </a:lnTo>
                  <a:lnTo>
                    <a:pt x="292608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79900" b="-79900"/>
              </a:stretch>
            </a:blipFill>
          </p:spPr>
        </p:sp>
        <p:sp>
          <p:nvSpPr>
            <p:cNvPr id="84" name="TextBox 84"/>
            <p:cNvSpPr txBox="1"/>
            <p:nvPr/>
          </p:nvSpPr>
          <p:spPr>
            <a:xfrm>
              <a:off x="0" y="0"/>
              <a:ext cx="2926080" cy="43891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80"/>
                </a:lnSpc>
              </a:pPr>
              <a:r>
                <a:rPr lang="en-US" sz="14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Verified Physical Progress</a:t>
              </a:r>
            </a:p>
          </p:txBody>
        </p:sp>
      </p:grpSp>
      <p:pic>
        <p:nvPicPr>
          <p:cNvPr id="85" name="Picture 8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4784" y="6044184"/>
            <a:ext cx="7022592" cy="3730752"/>
          </a:xfrm>
          <a:prstGeom prst="rect">
            <a:avLst/>
          </a:prstGeom>
        </p:spPr>
      </p:pic>
      <p:sp>
        <p:nvSpPr>
          <p:cNvPr id="86" name="Freeform 86"/>
          <p:cNvSpPr/>
          <p:nvPr/>
        </p:nvSpPr>
        <p:spPr>
          <a:xfrm>
            <a:off x="14969490" y="166878"/>
            <a:ext cx="3203463" cy="1464440"/>
          </a:xfrm>
          <a:custGeom>
            <a:avLst/>
            <a:gdLst/>
            <a:ahLst/>
            <a:cxnLst/>
            <a:rect l="l" t="t" r="r" b="b"/>
            <a:pathLst>
              <a:path w="3203463" h="1464440">
                <a:moveTo>
                  <a:pt x="0" y="0"/>
                </a:moveTo>
                <a:lnTo>
                  <a:pt x="3203463" y="0"/>
                </a:lnTo>
                <a:lnTo>
                  <a:pt x="3203463" y="1464440"/>
                </a:lnTo>
                <a:lnTo>
                  <a:pt x="0" y="14644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7" name="TextBox 87"/>
          <p:cNvSpPr txBox="1"/>
          <p:nvPr/>
        </p:nvSpPr>
        <p:spPr>
          <a:xfrm>
            <a:off x="1060704" y="2801998"/>
            <a:ext cx="4736592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1E293B"/>
                </a:solidFill>
                <a:latin typeface="Inter Bold"/>
                <a:ea typeface="Inter Bold"/>
                <a:cs typeface="Inter Bold"/>
                <a:sym typeface="Inter Bold"/>
              </a:rPr>
              <a:t>Money tracked only after spending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1060704" y="3897373"/>
            <a:ext cx="4736592" cy="923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Reports arrive after funds are spent, making corrective action too late.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6821424" y="2811523"/>
            <a:ext cx="4736592" cy="1005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1E293B"/>
                </a:solidFill>
                <a:latin typeface="Inter Bold"/>
                <a:ea typeface="Inter Bold"/>
                <a:cs typeface="Inter Bold"/>
                <a:sym typeface="Inter Bold"/>
              </a:rPr>
              <a:t>Money and work are tracked separately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6821424" y="3817363"/>
            <a:ext cx="4736592" cy="923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Financial records and physical progress sit in different records, with no automatic cross-check.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12582144" y="2762569"/>
            <a:ext cx="4736592" cy="1005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1E293B"/>
                </a:solidFill>
                <a:latin typeface="Inter Bold"/>
                <a:ea typeface="Inter Bold"/>
                <a:cs typeface="Inter Bold"/>
                <a:sym typeface="Inter Bold"/>
              </a:rPr>
              <a:t>Dashboards report — they don’t control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12582144" y="3836413"/>
            <a:ext cx="4736592" cy="923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Existing portals show progress but do not decide whether the next payment should be released.</a:t>
            </a:r>
          </a:p>
        </p:txBody>
      </p:sp>
      <p:grpSp>
        <p:nvGrpSpPr>
          <p:cNvPr id="93" name="Group 93"/>
          <p:cNvGrpSpPr/>
          <p:nvPr/>
        </p:nvGrpSpPr>
        <p:grpSpPr>
          <a:xfrm>
            <a:off x="722858" y="226337"/>
            <a:ext cx="2331190" cy="1296754"/>
            <a:chOff x="0" y="0"/>
            <a:chExt cx="1168702" cy="650105"/>
          </a:xfrm>
        </p:grpSpPr>
        <p:sp>
          <p:nvSpPr>
            <p:cNvPr id="94" name="Freeform 94"/>
            <p:cNvSpPr/>
            <p:nvPr/>
          </p:nvSpPr>
          <p:spPr>
            <a:xfrm>
              <a:off x="0" y="0"/>
              <a:ext cx="1168702" cy="650105"/>
            </a:xfrm>
            <a:custGeom>
              <a:avLst/>
              <a:gdLst/>
              <a:ahLst/>
              <a:cxnLst/>
              <a:rect l="l" t="t" r="r" b="b"/>
              <a:pathLst>
                <a:path w="1168702" h="650105">
                  <a:moveTo>
                    <a:pt x="584351" y="0"/>
                  </a:moveTo>
                  <a:cubicBezTo>
                    <a:pt x="261623" y="0"/>
                    <a:pt x="0" y="145531"/>
                    <a:pt x="0" y="325053"/>
                  </a:cubicBezTo>
                  <a:cubicBezTo>
                    <a:pt x="0" y="504574"/>
                    <a:pt x="261623" y="650105"/>
                    <a:pt x="584351" y="650105"/>
                  </a:cubicBezTo>
                  <a:cubicBezTo>
                    <a:pt x="907079" y="650105"/>
                    <a:pt x="1168702" y="504574"/>
                    <a:pt x="1168702" y="325053"/>
                  </a:cubicBezTo>
                  <a:cubicBezTo>
                    <a:pt x="1168702" y="145531"/>
                    <a:pt x="907079" y="0"/>
                    <a:pt x="584351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109566" y="-43828"/>
              <a:ext cx="949570" cy="6329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530"/>
                </a:lnSpc>
              </a:pPr>
              <a:r>
                <a:rPr lang="en-US" sz="4664">
                  <a:solidFill>
                    <a:srgbClr val="0A2F5C"/>
                  </a:solidFill>
                  <a:latin typeface="Bebas Neue Cyrillic"/>
                  <a:ea typeface="Bebas Neue Cyrillic"/>
                  <a:cs typeface="Bebas Neue Cyrillic"/>
                  <a:sym typeface="Bebas Neue Cyrillic"/>
                </a:rPr>
                <a:t>DietCode</a:t>
              </a:r>
            </a:p>
          </p:txBody>
        </p:sp>
      </p:grpSp>
      <p:grpSp>
        <p:nvGrpSpPr>
          <p:cNvPr id="96" name="Group 96"/>
          <p:cNvGrpSpPr/>
          <p:nvPr/>
        </p:nvGrpSpPr>
        <p:grpSpPr>
          <a:xfrm>
            <a:off x="0" y="9705346"/>
            <a:ext cx="18288000" cy="665855"/>
            <a:chOff x="0" y="0"/>
            <a:chExt cx="24384000" cy="887806"/>
          </a:xfrm>
        </p:grpSpPr>
        <p:sp>
          <p:nvSpPr>
            <p:cNvPr id="97" name="Freeform 97"/>
            <p:cNvSpPr/>
            <p:nvPr/>
          </p:nvSpPr>
          <p:spPr>
            <a:xfrm>
              <a:off x="0" y="0"/>
              <a:ext cx="24384000" cy="887806"/>
            </a:xfrm>
            <a:custGeom>
              <a:avLst/>
              <a:gdLst/>
              <a:ahLst/>
              <a:cxnLst/>
              <a:rect l="l" t="t" r="r" b="b"/>
              <a:pathLst>
                <a:path w="24384000" h="887806">
                  <a:moveTo>
                    <a:pt x="0" y="0"/>
                  </a:moveTo>
                  <a:lnTo>
                    <a:pt x="24384000" y="0"/>
                  </a:lnTo>
                  <a:lnTo>
                    <a:pt x="24384000" y="887806"/>
                  </a:lnTo>
                  <a:lnTo>
                    <a:pt x="0" y="887806"/>
                  </a:lnTo>
                  <a:close/>
                </a:path>
              </a:pathLst>
            </a:custGeom>
            <a:solidFill>
              <a:srgbClr val="1B3A5F"/>
            </a:solidFill>
          </p:spPr>
        </p:sp>
      </p:grpSp>
      <p:grpSp>
        <p:nvGrpSpPr>
          <p:cNvPr id="98" name="Group 98"/>
          <p:cNvGrpSpPr/>
          <p:nvPr/>
        </p:nvGrpSpPr>
        <p:grpSpPr>
          <a:xfrm>
            <a:off x="16571221" y="9714871"/>
            <a:ext cx="1280160" cy="866329"/>
            <a:chOff x="0" y="0"/>
            <a:chExt cx="1706880" cy="1155105"/>
          </a:xfrm>
        </p:grpSpPr>
        <p:sp>
          <p:nvSpPr>
            <p:cNvPr id="99" name="Freeform 99"/>
            <p:cNvSpPr/>
            <p:nvPr/>
          </p:nvSpPr>
          <p:spPr>
            <a:xfrm>
              <a:off x="0" y="0"/>
              <a:ext cx="1706880" cy="1155105"/>
            </a:xfrm>
            <a:custGeom>
              <a:avLst/>
              <a:gdLst/>
              <a:ahLst/>
              <a:cxnLst/>
              <a:rect l="l" t="t" r="r" b="b"/>
              <a:pathLst>
                <a:path w="1706880" h="1155105">
                  <a:moveTo>
                    <a:pt x="0" y="0"/>
                  </a:moveTo>
                  <a:lnTo>
                    <a:pt x="1706880" y="0"/>
                  </a:lnTo>
                  <a:lnTo>
                    <a:pt x="1706880" y="1155105"/>
                  </a:lnTo>
                  <a:lnTo>
                    <a:pt x="0" y="115510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r="-26982" b="11338"/>
              </a:stretch>
            </a:blipFill>
          </p:spPr>
        </p:sp>
        <p:sp>
          <p:nvSpPr>
            <p:cNvPr id="100" name="TextBox 100"/>
            <p:cNvSpPr txBox="1"/>
            <p:nvPr/>
          </p:nvSpPr>
          <p:spPr>
            <a:xfrm>
              <a:off x="0" y="0"/>
              <a:ext cx="1706880" cy="11551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02</a:t>
              </a:r>
            </a:p>
            <a:p>
              <a:pPr algn="r">
                <a:lnSpc>
                  <a:spcPts val="2879"/>
                </a:lnSpc>
              </a:pPr>
              <a:endParaRPr lang="en-US" sz="2400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endParaRPr>
            </a:p>
          </p:txBody>
        </p:sp>
      </p:grpSp>
      <p:grpSp>
        <p:nvGrpSpPr>
          <p:cNvPr id="101" name="Group 101"/>
          <p:cNvGrpSpPr/>
          <p:nvPr/>
        </p:nvGrpSpPr>
        <p:grpSpPr>
          <a:xfrm>
            <a:off x="548640" y="9752971"/>
            <a:ext cx="12801600" cy="524885"/>
            <a:chOff x="0" y="0"/>
            <a:chExt cx="17068800" cy="699846"/>
          </a:xfrm>
        </p:grpSpPr>
        <p:sp>
          <p:nvSpPr>
            <p:cNvPr id="102" name="Freeform 102"/>
            <p:cNvSpPr/>
            <p:nvPr/>
          </p:nvSpPr>
          <p:spPr>
            <a:xfrm>
              <a:off x="0" y="0"/>
              <a:ext cx="17068800" cy="699846"/>
            </a:xfrm>
            <a:custGeom>
              <a:avLst/>
              <a:gdLst/>
              <a:ahLst/>
              <a:cxnLst/>
              <a:rect l="l" t="t" r="r" b="b"/>
              <a:pathLst>
                <a:path w="17068800" h="699846">
                  <a:moveTo>
                    <a:pt x="0" y="0"/>
                  </a:moveTo>
                  <a:lnTo>
                    <a:pt x="17068800" y="0"/>
                  </a:lnTo>
                  <a:lnTo>
                    <a:pt x="17068800" y="699846"/>
                  </a:lnTo>
                  <a:lnTo>
                    <a:pt x="0" y="69984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02059" b="-448395"/>
              </a:stretch>
            </a:blipFill>
          </p:spPr>
        </p:sp>
        <p:sp>
          <p:nvSpPr>
            <p:cNvPr id="103" name="TextBox 103"/>
            <p:cNvSpPr txBox="1"/>
            <p:nvPr/>
          </p:nvSpPr>
          <p:spPr>
            <a:xfrm>
              <a:off x="0" y="-9525"/>
              <a:ext cx="17068800" cy="70937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ArthSetu  ·  SIH 26102  ·  Idea Submission</a:t>
              </a:r>
            </a:p>
          </p:txBody>
        </p:sp>
      </p:grp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91440"/>
            <a:chOff x="0" y="0"/>
            <a:chExt cx="24384000" cy="1219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21920"/>
            </a:xfrm>
            <a:custGeom>
              <a:avLst/>
              <a:gdLst/>
              <a:ahLst/>
              <a:cxnLst/>
              <a:rect l="l" t="t" r="r" b="b"/>
              <a:pathLst>
                <a:path w="24384000" h="121920">
                  <a:moveTo>
                    <a:pt x="0" y="0"/>
                  </a:moveTo>
                  <a:lnTo>
                    <a:pt x="24384000" y="0"/>
                  </a:lnTo>
                  <a:lnTo>
                    <a:pt x="2438400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5B4B8A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859536" y="1659893"/>
            <a:ext cx="16824960" cy="548640"/>
            <a:chOff x="0" y="0"/>
            <a:chExt cx="22433280" cy="7315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433280" cy="731520"/>
            </a:xfrm>
            <a:custGeom>
              <a:avLst/>
              <a:gdLst/>
              <a:ahLst/>
              <a:cxnLst/>
              <a:rect l="l" t="t" r="r" b="b"/>
              <a:pathLst>
                <a:path w="22433280" h="731520">
                  <a:moveTo>
                    <a:pt x="0" y="0"/>
                  </a:moveTo>
                  <a:lnTo>
                    <a:pt x="22433280" y="0"/>
                  </a:lnTo>
                  <a:lnTo>
                    <a:pt x="22433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47541" b="-547541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2243328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ArthSetu — four connected layers that turn fund monitoring into gated fund release.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27383" y="2656208"/>
            <a:ext cx="3957323" cy="5786123"/>
            <a:chOff x="0" y="0"/>
            <a:chExt cx="5276431" cy="771483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276469" cy="7714869"/>
            </a:xfrm>
            <a:custGeom>
              <a:avLst/>
              <a:gdLst/>
              <a:ahLst/>
              <a:cxnLst/>
              <a:rect l="l" t="t" r="r" b="b"/>
              <a:pathLst>
                <a:path w="5276469" h="7714869">
                  <a:moveTo>
                    <a:pt x="0" y="196342"/>
                  </a:moveTo>
                  <a:cubicBezTo>
                    <a:pt x="0" y="87884"/>
                    <a:pt x="87884" y="0"/>
                    <a:pt x="196342" y="0"/>
                  </a:cubicBezTo>
                  <a:lnTo>
                    <a:pt x="5080127" y="0"/>
                  </a:lnTo>
                  <a:cubicBezTo>
                    <a:pt x="5188585" y="0"/>
                    <a:pt x="5276469" y="87884"/>
                    <a:pt x="5276469" y="196342"/>
                  </a:cubicBezTo>
                  <a:lnTo>
                    <a:pt x="5276469" y="7518527"/>
                  </a:lnTo>
                  <a:cubicBezTo>
                    <a:pt x="5276469" y="7626985"/>
                    <a:pt x="5188585" y="7714869"/>
                    <a:pt x="5080127" y="7714869"/>
                  </a:cubicBezTo>
                  <a:lnTo>
                    <a:pt x="196342" y="7714869"/>
                  </a:lnTo>
                  <a:cubicBezTo>
                    <a:pt x="87884" y="7714869"/>
                    <a:pt x="0" y="7626985"/>
                    <a:pt x="0" y="7518527"/>
                  </a:cubicBezTo>
                  <a:close/>
                </a:path>
              </a:pathLst>
            </a:custGeom>
            <a:solidFill>
              <a:srgbClr val="F8FAFC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640080" y="2668905"/>
            <a:ext cx="3931920" cy="694944"/>
            <a:chOff x="0" y="0"/>
            <a:chExt cx="5242560" cy="92659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242560" cy="926592"/>
            </a:xfrm>
            <a:custGeom>
              <a:avLst/>
              <a:gdLst/>
              <a:ahLst/>
              <a:cxnLst/>
              <a:rect l="l" t="t" r="r" b="b"/>
              <a:pathLst>
                <a:path w="5242560" h="926592">
                  <a:moveTo>
                    <a:pt x="0" y="0"/>
                  </a:moveTo>
                  <a:lnTo>
                    <a:pt x="5242560" y="0"/>
                  </a:lnTo>
                  <a:lnTo>
                    <a:pt x="524256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640080" y="2668905"/>
            <a:ext cx="3931920" cy="822960"/>
            <a:chOff x="0" y="0"/>
            <a:chExt cx="5242560" cy="109728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242560" cy="1097280"/>
            </a:xfrm>
            <a:custGeom>
              <a:avLst/>
              <a:gdLst/>
              <a:ahLst/>
              <a:cxnLst/>
              <a:rect l="l" t="t" r="r" b="b"/>
              <a:pathLst>
                <a:path w="5242560" h="109728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5047488" y="0"/>
                  </a:lnTo>
                  <a:cubicBezTo>
                    <a:pt x="5155184" y="0"/>
                    <a:pt x="5242560" y="87376"/>
                    <a:pt x="5242560" y="195072"/>
                  </a:cubicBezTo>
                  <a:lnTo>
                    <a:pt x="5242560" y="902208"/>
                  </a:lnTo>
                  <a:cubicBezTo>
                    <a:pt x="5242560" y="1009904"/>
                    <a:pt x="5155184" y="1097280"/>
                    <a:pt x="5047488" y="1097280"/>
                  </a:cubicBezTo>
                  <a:lnTo>
                    <a:pt x="195072" y="1097280"/>
                  </a:lnTo>
                  <a:cubicBezTo>
                    <a:pt x="87376" y="1097280"/>
                    <a:pt x="0" y="1009904"/>
                    <a:pt x="0" y="902208"/>
                  </a:cubicBez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640080" y="3217545"/>
            <a:ext cx="3931920" cy="274320"/>
            <a:chOff x="0" y="0"/>
            <a:chExt cx="5242560" cy="36576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242560" cy="365760"/>
            </a:xfrm>
            <a:custGeom>
              <a:avLst/>
              <a:gdLst/>
              <a:ahLst/>
              <a:cxnLst/>
              <a:rect l="l" t="t" r="r" b="b"/>
              <a:pathLst>
                <a:path w="5242560" h="365760">
                  <a:moveTo>
                    <a:pt x="0" y="0"/>
                  </a:moveTo>
                  <a:lnTo>
                    <a:pt x="5242560" y="0"/>
                  </a:lnTo>
                  <a:lnTo>
                    <a:pt x="5242560" y="365760"/>
                  </a:lnTo>
                  <a:lnTo>
                    <a:pt x="0" y="365760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640080" y="2668905"/>
            <a:ext cx="3931920" cy="694944"/>
            <a:chOff x="0" y="0"/>
            <a:chExt cx="5242560" cy="92659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242560" cy="926592"/>
            </a:xfrm>
            <a:custGeom>
              <a:avLst/>
              <a:gdLst/>
              <a:ahLst/>
              <a:cxnLst/>
              <a:rect l="l" t="t" r="r" b="b"/>
              <a:pathLst>
                <a:path w="5242560" h="926592">
                  <a:moveTo>
                    <a:pt x="0" y="0"/>
                  </a:moveTo>
                  <a:lnTo>
                    <a:pt x="5242560" y="0"/>
                  </a:lnTo>
                  <a:lnTo>
                    <a:pt x="52425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0244" b="-60244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0"/>
              <a:ext cx="5242560" cy="9265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39"/>
                </a:lnSpc>
              </a:pPr>
              <a:r>
                <a:rPr lang="en-US" sz="2199" b="1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LAYER 01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19991" y="3674745"/>
            <a:ext cx="3493008" cy="914400"/>
            <a:chOff x="0" y="0"/>
            <a:chExt cx="4657344" cy="12192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657344" cy="1219200"/>
            </a:xfrm>
            <a:custGeom>
              <a:avLst/>
              <a:gdLst/>
              <a:ahLst/>
              <a:cxnLst/>
              <a:rect l="l" t="t" r="r" b="b"/>
              <a:pathLst>
                <a:path w="4657344" h="1219200">
                  <a:moveTo>
                    <a:pt x="0" y="0"/>
                  </a:moveTo>
                  <a:lnTo>
                    <a:pt x="4657344" y="0"/>
                  </a:lnTo>
                  <a:lnTo>
                    <a:pt x="4657344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4432" b="-24432"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0" y="0"/>
              <a:ext cx="4657344" cy="1219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 b="1">
                  <a:solidFill>
                    <a:srgbClr val="1E293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AI Risk Detection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02513" y="4722495"/>
            <a:ext cx="3493008" cy="2560320"/>
            <a:chOff x="0" y="0"/>
            <a:chExt cx="4657344" cy="341376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4657344" cy="3413760"/>
            </a:xfrm>
            <a:custGeom>
              <a:avLst/>
              <a:gdLst/>
              <a:ahLst/>
              <a:cxnLst/>
              <a:rect l="l" t="t" r="r" b="b"/>
              <a:pathLst>
                <a:path w="4657344" h="3413760">
                  <a:moveTo>
                    <a:pt x="0" y="0"/>
                  </a:moveTo>
                  <a:lnTo>
                    <a:pt x="4657344" y="0"/>
                  </a:lnTo>
                  <a:lnTo>
                    <a:pt x="4657344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4044" r="-44044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0"/>
              <a:ext cx="4657344" cy="34137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39"/>
                </a:lnSpc>
              </a:pPr>
              <a:r>
                <a:rPr lang="en-US" sz="2199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Flags unusual spending, cost overruns, delays, and gaps between reported spending and physical progress.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476496" y="5028545"/>
            <a:ext cx="406400" cy="675680"/>
            <a:chOff x="0" y="0"/>
            <a:chExt cx="541867" cy="900906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541867" cy="900907"/>
            </a:xfrm>
            <a:custGeom>
              <a:avLst/>
              <a:gdLst/>
              <a:ahLst/>
              <a:cxnLst/>
              <a:rect l="l" t="t" r="r" b="b"/>
              <a:pathLst>
                <a:path w="541867" h="900907">
                  <a:moveTo>
                    <a:pt x="0" y="0"/>
                  </a:moveTo>
                  <a:lnTo>
                    <a:pt x="541867" y="0"/>
                  </a:lnTo>
                  <a:lnTo>
                    <a:pt x="541867" y="900907"/>
                  </a:lnTo>
                  <a:lnTo>
                    <a:pt x="0" y="90090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66078" r="-138077" b="5268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0" y="0"/>
              <a:ext cx="541867" cy="90090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40"/>
                </a:lnSpc>
              </a:pPr>
              <a:r>
                <a:rPr lang="en-US" sz="3200" b="1">
                  <a:solidFill>
                    <a:srgbClr val="0D948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→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888487" y="2656208"/>
            <a:ext cx="3957323" cy="5786123"/>
            <a:chOff x="0" y="0"/>
            <a:chExt cx="5276431" cy="7714831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5276469" cy="7714869"/>
            </a:xfrm>
            <a:custGeom>
              <a:avLst/>
              <a:gdLst/>
              <a:ahLst/>
              <a:cxnLst/>
              <a:rect l="l" t="t" r="r" b="b"/>
              <a:pathLst>
                <a:path w="5276469" h="7714869">
                  <a:moveTo>
                    <a:pt x="0" y="196342"/>
                  </a:moveTo>
                  <a:cubicBezTo>
                    <a:pt x="0" y="87884"/>
                    <a:pt x="87884" y="0"/>
                    <a:pt x="196342" y="0"/>
                  </a:cubicBezTo>
                  <a:lnTo>
                    <a:pt x="5080127" y="0"/>
                  </a:lnTo>
                  <a:cubicBezTo>
                    <a:pt x="5188585" y="0"/>
                    <a:pt x="5276469" y="87884"/>
                    <a:pt x="5276469" y="196342"/>
                  </a:cubicBezTo>
                  <a:lnTo>
                    <a:pt x="5276469" y="7518527"/>
                  </a:lnTo>
                  <a:cubicBezTo>
                    <a:pt x="5276469" y="7626985"/>
                    <a:pt x="5188585" y="7714869"/>
                    <a:pt x="5080127" y="7714869"/>
                  </a:cubicBezTo>
                  <a:lnTo>
                    <a:pt x="196342" y="7714869"/>
                  </a:lnTo>
                  <a:cubicBezTo>
                    <a:pt x="87884" y="7714869"/>
                    <a:pt x="0" y="7626985"/>
                    <a:pt x="0" y="7518527"/>
                  </a:cubicBezTo>
                  <a:close/>
                </a:path>
              </a:pathLst>
            </a:custGeom>
            <a:solidFill>
              <a:srgbClr val="F8FAFC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4901184" y="2668905"/>
            <a:ext cx="3931920" cy="694944"/>
            <a:chOff x="0" y="0"/>
            <a:chExt cx="5242560" cy="926592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5242560" cy="926592"/>
            </a:xfrm>
            <a:custGeom>
              <a:avLst/>
              <a:gdLst/>
              <a:ahLst/>
              <a:cxnLst/>
              <a:rect l="l" t="t" r="r" b="b"/>
              <a:pathLst>
                <a:path w="5242560" h="926592">
                  <a:moveTo>
                    <a:pt x="0" y="0"/>
                  </a:moveTo>
                  <a:lnTo>
                    <a:pt x="5242560" y="0"/>
                  </a:lnTo>
                  <a:lnTo>
                    <a:pt x="524256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4901184" y="2668905"/>
            <a:ext cx="3931920" cy="822960"/>
            <a:chOff x="0" y="0"/>
            <a:chExt cx="5242560" cy="109728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5242560" cy="1097280"/>
            </a:xfrm>
            <a:custGeom>
              <a:avLst/>
              <a:gdLst/>
              <a:ahLst/>
              <a:cxnLst/>
              <a:rect l="l" t="t" r="r" b="b"/>
              <a:pathLst>
                <a:path w="5242560" h="109728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5047488" y="0"/>
                  </a:lnTo>
                  <a:cubicBezTo>
                    <a:pt x="5155184" y="0"/>
                    <a:pt x="5242560" y="87376"/>
                    <a:pt x="5242560" y="195072"/>
                  </a:cubicBezTo>
                  <a:lnTo>
                    <a:pt x="5242560" y="902208"/>
                  </a:lnTo>
                  <a:cubicBezTo>
                    <a:pt x="5242560" y="1009904"/>
                    <a:pt x="5155184" y="1097280"/>
                    <a:pt x="5047488" y="1097280"/>
                  </a:cubicBezTo>
                  <a:lnTo>
                    <a:pt x="195072" y="1097280"/>
                  </a:lnTo>
                  <a:cubicBezTo>
                    <a:pt x="87376" y="1097280"/>
                    <a:pt x="0" y="1009904"/>
                    <a:pt x="0" y="902208"/>
                  </a:cubicBez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id="33" name="Group 33"/>
          <p:cNvGrpSpPr/>
          <p:nvPr/>
        </p:nvGrpSpPr>
        <p:grpSpPr>
          <a:xfrm>
            <a:off x="4901184" y="3217545"/>
            <a:ext cx="3931920" cy="274320"/>
            <a:chOff x="0" y="0"/>
            <a:chExt cx="5242560" cy="36576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5242560" cy="365760"/>
            </a:xfrm>
            <a:custGeom>
              <a:avLst/>
              <a:gdLst/>
              <a:ahLst/>
              <a:cxnLst/>
              <a:rect l="l" t="t" r="r" b="b"/>
              <a:pathLst>
                <a:path w="5242560" h="365760">
                  <a:moveTo>
                    <a:pt x="0" y="0"/>
                  </a:moveTo>
                  <a:lnTo>
                    <a:pt x="5242560" y="0"/>
                  </a:lnTo>
                  <a:lnTo>
                    <a:pt x="5242560" y="365760"/>
                  </a:lnTo>
                  <a:lnTo>
                    <a:pt x="0" y="365760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id="35" name="Group 35"/>
          <p:cNvGrpSpPr/>
          <p:nvPr/>
        </p:nvGrpSpPr>
        <p:grpSpPr>
          <a:xfrm>
            <a:off x="4901184" y="2668905"/>
            <a:ext cx="3931920" cy="694944"/>
            <a:chOff x="0" y="0"/>
            <a:chExt cx="5242560" cy="926592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5242560" cy="926592"/>
            </a:xfrm>
            <a:custGeom>
              <a:avLst/>
              <a:gdLst/>
              <a:ahLst/>
              <a:cxnLst/>
              <a:rect l="l" t="t" r="r" b="b"/>
              <a:pathLst>
                <a:path w="5242560" h="926592">
                  <a:moveTo>
                    <a:pt x="0" y="0"/>
                  </a:moveTo>
                  <a:lnTo>
                    <a:pt x="5242560" y="0"/>
                  </a:lnTo>
                  <a:lnTo>
                    <a:pt x="52425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0244" b="-60244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0"/>
              <a:ext cx="5242560" cy="9265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39"/>
                </a:lnSpc>
              </a:pPr>
              <a:r>
                <a:rPr lang="en-US" sz="2199" b="1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LAYER 02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5113020" y="3674745"/>
            <a:ext cx="3493008" cy="914400"/>
            <a:chOff x="0" y="0"/>
            <a:chExt cx="4657344" cy="12192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4657344" cy="1219200"/>
            </a:xfrm>
            <a:custGeom>
              <a:avLst/>
              <a:gdLst/>
              <a:ahLst/>
              <a:cxnLst/>
              <a:rect l="l" t="t" r="r" b="b"/>
              <a:pathLst>
                <a:path w="4657344" h="1219200">
                  <a:moveTo>
                    <a:pt x="0" y="0"/>
                  </a:moveTo>
                  <a:lnTo>
                    <a:pt x="4657344" y="0"/>
                  </a:lnTo>
                  <a:lnTo>
                    <a:pt x="4657344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4432" b="-24432"/>
              </a:stretch>
            </a:blipFill>
          </p:spPr>
        </p:sp>
        <p:sp>
          <p:nvSpPr>
            <p:cNvPr id="40" name="TextBox 40"/>
            <p:cNvSpPr txBox="1"/>
            <p:nvPr/>
          </p:nvSpPr>
          <p:spPr>
            <a:xfrm>
              <a:off x="0" y="0"/>
              <a:ext cx="4657344" cy="1219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 b="1">
                  <a:solidFill>
                    <a:srgbClr val="1E293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Evidence &amp; Verification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110988" y="4589145"/>
            <a:ext cx="3493008" cy="2560320"/>
            <a:chOff x="0" y="0"/>
            <a:chExt cx="4657344" cy="341376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4657344" cy="3413760"/>
            </a:xfrm>
            <a:custGeom>
              <a:avLst/>
              <a:gdLst/>
              <a:ahLst/>
              <a:cxnLst/>
              <a:rect l="l" t="t" r="r" b="b"/>
              <a:pathLst>
                <a:path w="4657344" h="3413760">
                  <a:moveTo>
                    <a:pt x="0" y="0"/>
                  </a:moveTo>
                  <a:lnTo>
                    <a:pt x="4657344" y="0"/>
                  </a:lnTo>
                  <a:lnTo>
                    <a:pt x="4657344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4044" r="-44044"/>
              </a:stretch>
            </a:blipFill>
          </p:spPr>
        </p:sp>
        <p:sp>
          <p:nvSpPr>
            <p:cNvPr id="43" name="TextBox 43"/>
            <p:cNvSpPr txBox="1"/>
            <p:nvPr/>
          </p:nvSpPr>
          <p:spPr>
            <a:xfrm>
              <a:off x="0" y="0"/>
              <a:ext cx="4657344" cy="34137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39"/>
                </a:lnSpc>
              </a:pPr>
              <a:r>
                <a:rPr lang="en-US" sz="2199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Links each milestone to geotagged photos, bills, measurements, and field checks.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8794496" y="5038070"/>
            <a:ext cx="406400" cy="675680"/>
            <a:chOff x="0" y="0"/>
            <a:chExt cx="541867" cy="900906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541867" cy="900907"/>
            </a:xfrm>
            <a:custGeom>
              <a:avLst/>
              <a:gdLst/>
              <a:ahLst/>
              <a:cxnLst/>
              <a:rect l="l" t="t" r="r" b="b"/>
              <a:pathLst>
                <a:path w="541867" h="900907">
                  <a:moveTo>
                    <a:pt x="0" y="0"/>
                  </a:moveTo>
                  <a:lnTo>
                    <a:pt x="541867" y="0"/>
                  </a:lnTo>
                  <a:lnTo>
                    <a:pt x="541867" y="900907"/>
                  </a:lnTo>
                  <a:lnTo>
                    <a:pt x="0" y="90090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66078" r="-138077" b="5268"/>
              </a:stretch>
            </a:blipFill>
          </p:spPr>
        </p:sp>
        <p:sp>
          <p:nvSpPr>
            <p:cNvPr id="46" name="TextBox 46"/>
            <p:cNvSpPr txBox="1"/>
            <p:nvPr/>
          </p:nvSpPr>
          <p:spPr>
            <a:xfrm>
              <a:off x="0" y="0"/>
              <a:ext cx="541867" cy="90090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40"/>
                </a:lnSpc>
              </a:pPr>
              <a:r>
                <a:rPr lang="en-US" sz="3200" b="1">
                  <a:solidFill>
                    <a:srgbClr val="0D948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→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9139428" y="2646045"/>
            <a:ext cx="3977640" cy="5806440"/>
            <a:chOff x="0" y="0"/>
            <a:chExt cx="5303520" cy="774192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5303520" cy="7741920"/>
            </a:xfrm>
            <a:custGeom>
              <a:avLst/>
              <a:gdLst/>
              <a:ahLst/>
              <a:cxnLst/>
              <a:rect l="l" t="t" r="r" b="b"/>
              <a:pathLst>
                <a:path w="5303520" h="7741920">
                  <a:moveTo>
                    <a:pt x="0" y="197358"/>
                  </a:moveTo>
                  <a:cubicBezTo>
                    <a:pt x="0" y="88392"/>
                    <a:pt x="88392" y="0"/>
                    <a:pt x="197358" y="0"/>
                  </a:cubicBezTo>
                  <a:lnTo>
                    <a:pt x="5106162" y="0"/>
                  </a:lnTo>
                  <a:cubicBezTo>
                    <a:pt x="5215128" y="0"/>
                    <a:pt x="5303520" y="88392"/>
                    <a:pt x="5303520" y="197358"/>
                  </a:cubicBezTo>
                  <a:lnTo>
                    <a:pt x="5303520" y="7544562"/>
                  </a:lnTo>
                  <a:cubicBezTo>
                    <a:pt x="5303520" y="7653528"/>
                    <a:pt x="5215128" y="7741920"/>
                    <a:pt x="5106162" y="7741920"/>
                  </a:cubicBezTo>
                  <a:lnTo>
                    <a:pt x="197358" y="7741920"/>
                  </a:lnTo>
                  <a:cubicBezTo>
                    <a:pt x="88392" y="7741920"/>
                    <a:pt x="0" y="7653528"/>
                    <a:pt x="0" y="7544562"/>
                  </a:cubicBezTo>
                  <a:close/>
                </a:path>
              </a:pathLst>
            </a:custGeom>
            <a:solidFill>
              <a:srgbClr val="E6F7F5"/>
            </a:solidFill>
            <a:ln w="45720" cap="sq">
              <a:solidFill>
                <a:srgbClr val="0D9488"/>
              </a:solidFill>
              <a:prstDash val="solid"/>
              <a:miter/>
            </a:ln>
          </p:spPr>
        </p:sp>
      </p:grpSp>
      <p:grpSp>
        <p:nvGrpSpPr>
          <p:cNvPr id="49" name="Group 49"/>
          <p:cNvGrpSpPr/>
          <p:nvPr/>
        </p:nvGrpSpPr>
        <p:grpSpPr>
          <a:xfrm>
            <a:off x="9162288" y="2668905"/>
            <a:ext cx="3931920" cy="694944"/>
            <a:chOff x="0" y="0"/>
            <a:chExt cx="5242560" cy="926592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5242560" cy="926592"/>
            </a:xfrm>
            <a:custGeom>
              <a:avLst/>
              <a:gdLst/>
              <a:ahLst/>
              <a:cxnLst/>
              <a:rect l="l" t="t" r="r" b="b"/>
              <a:pathLst>
                <a:path w="5242560" h="926592">
                  <a:moveTo>
                    <a:pt x="0" y="0"/>
                  </a:moveTo>
                  <a:lnTo>
                    <a:pt x="5242560" y="0"/>
                  </a:lnTo>
                  <a:lnTo>
                    <a:pt x="524256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0F766E"/>
            </a:solidFill>
          </p:spPr>
        </p:sp>
      </p:grpSp>
      <p:grpSp>
        <p:nvGrpSpPr>
          <p:cNvPr id="51" name="Group 51"/>
          <p:cNvGrpSpPr/>
          <p:nvPr/>
        </p:nvGrpSpPr>
        <p:grpSpPr>
          <a:xfrm>
            <a:off x="9162288" y="2668905"/>
            <a:ext cx="3931920" cy="822960"/>
            <a:chOff x="0" y="0"/>
            <a:chExt cx="5242560" cy="109728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5242560" cy="1097280"/>
            </a:xfrm>
            <a:custGeom>
              <a:avLst/>
              <a:gdLst/>
              <a:ahLst/>
              <a:cxnLst/>
              <a:rect l="l" t="t" r="r" b="b"/>
              <a:pathLst>
                <a:path w="5242560" h="109728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5047488" y="0"/>
                  </a:lnTo>
                  <a:cubicBezTo>
                    <a:pt x="5155184" y="0"/>
                    <a:pt x="5242560" y="87376"/>
                    <a:pt x="5242560" y="195072"/>
                  </a:cubicBezTo>
                  <a:lnTo>
                    <a:pt x="5242560" y="902208"/>
                  </a:lnTo>
                  <a:cubicBezTo>
                    <a:pt x="5242560" y="1009904"/>
                    <a:pt x="5155184" y="1097280"/>
                    <a:pt x="5047488" y="1097280"/>
                  </a:cubicBezTo>
                  <a:lnTo>
                    <a:pt x="195072" y="1097280"/>
                  </a:lnTo>
                  <a:cubicBezTo>
                    <a:pt x="87376" y="1097280"/>
                    <a:pt x="0" y="1009904"/>
                    <a:pt x="0" y="902208"/>
                  </a:cubicBezTo>
                  <a:close/>
                </a:path>
              </a:pathLst>
            </a:custGeom>
            <a:solidFill>
              <a:srgbClr val="0F766E"/>
            </a:solidFill>
          </p:spPr>
        </p:sp>
      </p:grpSp>
      <p:grpSp>
        <p:nvGrpSpPr>
          <p:cNvPr id="53" name="Group 53"/>
          <p:cNvGrpSpPr/>
          <p:nvPr/>
        </p:nvGrpSpPr>
        <p:grpSpPr>
          <a:xfrm>
            <a:off x="9162288" y="3217545"/>
            <a:ext cx="3931920" cy="274320"/>
            <a:chOff x="0" y="0"/>
            <a:chExt cx="5242560" cy="36576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5242560" cy="365760"/>
            </a:xfrm>
            <a:custGeom>
              <a:avLst/>
              <a:gdLst/>
              <a:ahLst/>
              <a:cxnLst/>
              <a:rect l="l" t="t" r="r" b="b"/>
              <a:pathLst>
                <a:path w="5242560" h="365760">
                  <a:moveTo>
                    <a:pt x="0" y="0"/>
                  </a:moveTo>
                  <a:lnTo>
                    <a:pt x="5242560" y="0"/>
                  </a:lnTo>
                  <a:lnTo>
                    <a:pt x="5242560" y="365760"/>
                  </a:lnTo>
                  <a:lnTo>
                    <a:pt x="0" y="365760"/>
                  </a:lnTo>
                  <a:close/>
                </a:path>
              </a:pathLst>
            </a:custGeom>
            <a:solidFill>
              <a:srgbClr val="0F766E"/>
            </a:solidFill>
          </p:spPr>
        </p:sp>
      </p:grpSp>
      <p:grpSp>
        <p:nvGrpSpPr>
          <p:cNvPr id="55" name="Group 55"/>
          <p:cNvGrpSpPr/>
          <p:nvPr/>
        </p:nvGrpSpPr>
        <p:grpSpPr>
          <a:xfrm>
            <a:off x="9162288" y="2668905"/>
            <a:ext cx="3931920" cy="694944"/>
            <a:chOff x="0" y="0"/>
            <a:chExt cx="5242560" cy="926592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5242560" cy="926592"/>
            </a:xfrm>
            <a:custGeom>
              <a:avLst/>
              <a:gdLst/>
              <a:ahLst/>
              <a:cxnLst/>
              <a:rect l="l" t="t" r="r" b="b"/>
              <a:pathLst>
                <a:path w="5242560" h="926592">
                  <a:moveTo>
                    <a:pt x="0" y="0"/>
                  </a:moveTo>
                  <a:lnTo>
                    <a:pt x="5242560" y="0"/>
                  </a:lnTo>
                  <a:lnTo>
                    <a:pt x="52425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0244" b="-60244"/>
              </a:stretch>
            </a:blipFill>
          </p:spPr>
        </p:sp>
        <p:sp>
          <p:nvSpPr>
            <p:cNvPr id="57" name="TextBox 57"/>
            <p:cNvSpPr txBox="1"/>
            <p:nvPr/>
          </p:nvSpPr>
          <p:spPr>
            <a:xfrm>
              <a:off x="0" y="0"/>
              <a:ext cx="5242560" cy="9265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39"/>
                </a:lnSpc>
              </a:pPr>
              <a:r>
                <a:rPr lang="en-US" sz="2199" b="1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LAYER 03 · CORE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9381749" y="3674745"/>
            <a:ext cx="3493008" cy="914400"/>
            <a:chOff x="0" y="0"/>
            <a:chExt cx="4657344" cy="1219200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4657344" cy="1219200"/>
            </a:xfrm>
            <a:custGeom>
              <a:avLst/>
              <a:gdLst/>
              <a:ahLst/>
              <a:cxnLst/>
              <a:rect l="l" t="t" r="r" b="b"/>
              <a:pathLst>
                <a:path w="4657344" h="1219200">
                  <a:moveTo>
                    <a:pt x="0" y="0"/>
                  </a:moveTo>
                  <a:lnTo>
                    <a:pt x="4657344" y="0"/>
                  </a:lnTo>
                  <a:lnTo>
                    <a:pt x="4657344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4432" b="-24432"/>
              </a:stretch>
            </a:blipFill>
          </p:spPr>
        </p:sp>
        <p:sp>
          <p:nvSpPr>
            <p:cNvPr id="60" name="TextBox 60"/>
            <p:cNvSpPr txBox="1"/>
            <p:nvPr/>
          </p:nvSpPr>
          <p:spPr>
            <a:xfrm>
              <a:off x="0" y="0"/>
              <a:ext cx="4657344" cy="1219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 b="1">
                  <a:solidFill>
                    <a:srgbClr val="1E293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Conditional Funding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9391396" y="4501515"/>
            <a:ext cx="3493008" cy="2560320"/>
            <a:chOff x="0" y="0"/>
            <a:chExt cx="4657344" cy="341376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4657344" cy="3413760"/>
            </a:xfrm>
            <a:custGeom>
              <a:avLst/>
              <a:gdLst/>
              <a:ahLst/>
              <a:cxnLst/>
              <a:rect l="l" t="t" r="r" b="b"/>
              <a:pathLst>
                <a:path w="4657344" h="3413760">
                  <a:moveTo>
                    <a:pt x="0" y="0"/>
                  </a:moveTo>
                  <a:lnTo>
                    <a:pt x="4657344" y="0"/>
                  </a:lnTo>
                  <a:lnTo>
                    <a:pt x="4657344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4044" r="-44044"/>
              </a:stretch>
            </a:blipFill>
          </p:spPr>
        </p:sp>
        <p:sp>
          <p:nvSpPr>
            <p:cNvPr id="63" name="TextBox 63"/>
            <p:cNvSpPr txBox="1"/>
            <p:nvPr/>
          </p:nvSpPr>
          <p:spPr>
            <a:xfrm>
              <a:off x="0" y="0"/>
              <a:ext cx="4657344" cy="34137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39"/>
                </a:lnSpc>
              </a:pPr>
              <a:r>
                <a:rPr lang="en-US" sz="2199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The Accountability Gate: the next payment unlocks only after the current milestone is verified.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12974764" y="5028545"/>
            <a:ext cx="587121" cy="675680"/>
            <a:chOff x="0" y="0"/>
            <a:chExt cx="782828" cy="900906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782828" cy="900907"/>
            </a:xfrm>
            <a:custGeom>
              <a:avLst/>
              <a:gdLst/>
              <a:ahLst/>
              <a:cxnLst/>
              <a:rect l="l" t="t" r="r" b="b"/>
              <a:pathLst>
                <a:path w="782828" h="900907">
                  <a:moveTo>
                    <a:pt x="0" y="0"/>
                  </a:moveTo>
                  <a:lnTo>
                    <a:pt x="782828" y="0"/>
                  </a:lnTo>
                  <a:lnTo>
                    <a:pt x="782828" y="900907"/>
                  </a:lnTo>
                  <a:lnTo>
                    <a:pt x="0" y="90090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4957" r="-64795" b="5268"/>
              </a:stretch>
            </a:blipFill>
          </p:spPr>
        </p:sp>
        <p:sp>
          <p:nvSpPr>
            <p:cNvPr id="66" name="TextBox 66"/>
            <p:cNvSpPr txBox="1"/>
            <p:nvPr/>
          </p:nvSpPr>
          <p:spPr>
            <a:xfrm>
              <a:off x="0" y="0"/>
              <a:ext cx="782828" cy="90090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40"/>
                </a:lnSpc>
              </a:pPr>
              <a:r>
                <a:rPr lang="en-US" sz="3200" b="1">
                  <a:solidFill>
                    <a:srgbClr val="0D948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→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13410695" y="2656208"/>
            <a:ext cx="3957323" cy="5786123"/>
            <a:chOff x="0" y="0"/>
            <a:chExt cx="5276431" cy="7714831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5276469" cy="7714869"/>
            </a:xfrm>
            <a:custGeom>
              <a:avLst/>
              <a:gdLst/>
              <a:ahLst/>
              <a:cxnLst/>
              <a:rect l="l" t="t" r="r" b="b"/>
              <a:pathLst>
                <a:path w="5276469" h="7714869">
                  <a:moveTo>
                    <a:pt x="0" y="196342"/>
                  </a:moveTo>
                  <a:cubicBezTo>
                    <a:pt x="0" y="87884"/>
                    <a:pt x="87884" y="0"/>
                    <a:pt x="196342" y="0"/>
                  </a:cubicBezTo>
                  <a:lnTo>
                    <a:pt x="5080127" y="0"/>
                  </a:lnTo>
                  <a:cubicBezTo>
                    <a:pt x="5188585" y="0"/>
                    <a:pt x="5276469" y="87884"/>
                    <a:pt x="5276469" y="196342"/>
                  </a:cubicBezTo>
                  <a:lnTo>
                    <a:pt x="5276469" y="7518527"/>
                  </a:lnTo>
                  <a:cubicBezTo>
                    <a:pt x="5276469" y="7626985"/>
                    <a:pt x="5188585" y="7714869"/>
                    <a:pt x="5080127" y="7714869"/>
                  </a:cubicBezTo>
                  <a:lnTo>
                    <a:pt x="196342" y="7714869"/>
                  </a:lnTo>
                  <a:cubicBezTo>
                    <a:pt x="87884" y="7714869"/>
                    <a:pt x="0" y="7626985"/>
                    <a:pt x="0" y="7518527"/>
                  </a:cubicBezTo>
                  <a:close/>
                </a:path>
              </a:pathLst>
            </a:custGeom>
            <a:solidFill>
              <a:srgbClr val="F8FAFC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id="69" name="Group 69"/>
          <p:cNvGrpSpPr/>
          <p:nvPr/>
        </p:nvGrpSpPr>
        <p:grpSpPr>
          <a:xfrm>
            <a:off x="13423392" y="2668905"/>
            <a:ext cx="3931920" cy="694944"/>
            <a:chOff x="0" y="0"/>
            <a:chExt cx="5242560" cy="926592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5242560" cy="926592"/>
            </a:xfrm>
            <a:custGeom>
              <a:avLst/>
              <a:gdLst/>
              <a:ahLst/>
              <a:cxnLst/>
              <a:rect l="l" t="t" r="r" b="b"/>
              <a:pathLst>
                <a:path w="5242560" h="926592">
                  <a:moveTo>
                    <a:pt x="0" y="0"/>
                  </a:moveTo>
                  <a:lnTo>
                    <a:pt x="5242560" y="0"/>
                  </a:lnTo>
                  <a:lnTo>
                    <a:pt x="524256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id="71" name="Group 71"/>
          <p:cNvGrpSpPr/>
          <p:nvPr/>
        </p:nvGrpSpPr>
        <p:grpSpPr>
          <a:xfrm>
            <a:off x="13423392" y="2668905"/>
            <a:ext cx="3931920" cy="822960"/>
            <a:chOff x="0" y="0"/>
            <a:chExt cx="5242560" cy="1097280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5242560" cy="1097280"/>
            </a:xfrm>
            <a:custGeom>
              <a:avLst/>
              <a:gdLst/>
              <a:ahLst/>
              <a:cxnLst/>
              <a:rect l="l" t="t" r="r" b="b"/>
              <a:pathLst>
                <a:path w="5242560" h="109728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5047488" y="0"/>
                  </a:lnTo>
                  <a:cubicBezTo>
                    <a:pt x="5155184" y="0"/>
                    <a:pt x="5242560" y="87376"/>
                    <a:pt x="5242560" y="195072"/>
                  </a:cubicBezTo>
                  <a:lnTo>
                    <a:pt x="5242560" y="902208"/>
                  </a:lnTo>
                  <a:cubicBezTo>
                    <a:pt x="5242560" y="1009904"/>
                    <a:pt x="5155184" y="1097280"/>
                    <a:pt x="5047488" y="1097280"/>
                  </a:cubicBezTo>
                  <a:lnTo>
                    <a:pt x="195072" y="1097280"/>
                  </a:lnTo>
                  <a:cubicBezTo>
                    <a:pt x="87376" y="1097280"/>
                    <a:pt x="0" y="1009904"/>
                    <a:pt x="0" y="902208"/>
                  </a:cubicBez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id="73" name="Group 73"/>
          <p:cNvGrpSpPr/>
          <p:nvPr/>
        </p:nvGrpSpPr>
        <p:grpSpPr>
          <a:xfrm>
            <a:off x="13423392" y="3217545"/>
            <a:ext cx="3931920" cy="274320"/>
            <a:chOff x="0" y="0"/>
            <a:chExt cx="5242560" cy="365760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5242560" cy="365760"/>
            </a:xfrm>
            <a:custGeom>
              <a:avLst/>
              <a:gdLst/>
              <a:ahLst/>
              <a:cxnLst/>
              <a:rect l="l" t="t" r="r" b="b"/>
              <a:pathLst>
                <a:path w="5242560" h="365760">
                  <a:moveTo>
                    <a:pt x="0" y="0"/>
                  </a:moveTo>
                  <a:lnTo>
                    <a:pt x="5242560" y="0"/>
                  </a:lnTo>
                  <a:lnTo>
                    <a:pt x="5242560" y="365760"/>
                  </a:lnTo>
                  <a:lnTo>
                    <a:pt x="0" y="365760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id="75" name="Group 75"/>
          <p:cNvGrpSpPr/>
          <p:nvPr/>
        </p:nvGrpSpPr>
        <p:grpSpPr>
          <a:xfrm>
            <a:off x="13423392" y="2668905"/>
            <a:ext cx="3931920" cy="694944"/>
            <a:chOff x="0" y="0"/>
            <a:chExt cx="5242560" cy="926592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5242560" cy="926592"/>
            </a:xfrm>
            <a:custGeom>
              <a:avLst/>
              <a:gdLst/>
              <a:ahLst/>
              <a:cxnLst/>
              <a:rect l="l" t="t" r="r" b="b"/>
              <a:pathLst>
                <a:path w="5242560" h="926592">
                  <a:moveTo>
                    <a:pt x="0" y="0"/>
                  </a:moveTo>
                  <a:lnTo>
                    <a:pt x="5242560" y="0"/>
                  </a:lnTo>
                  <a:lnTo>
                    <a:pt x="52425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0244" b="-60244"/>
              </a:stretch>
            </a:blipFill>
          </p:spPr>
        </p:sp>
        <p:sp>
          <p:nvSpPr>
            <p:cNvPr id="77" name="TextBox 77"/>
            <p:cNvSpPr txBox="1"/>
            <p:nvPr/>
          </p:nvSpPr>
          <p:spPr>
            <a:xfrm>
              <a:off x="0" y="0"/>
              <a:ext cx="5242560" cy="9265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39"/>
                </a:lnSpc>
              </a:pPr>
              <a:r>
                <a:rPr lang="en-US" sz="2199" b="1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LAYER 04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13661136" y="3674745"/>
            <a:ext cx="3493008" cy="914400"/>
            <a:chOff x="0" y="0"/>
            <a:chExt cx="4657344" cy="1219200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4657344" cy="1219200"/>
            </a:xfrm>
            <a:custGeom>
              <a:avLst/>
              <a:gdLst/>
              <a:ahLst/>
              <a:cxnLst/>
              <a:rect l="l" t="t" r="r" b="b"/>
              <a:pathLst>
                <a:path w="4657344" h="1219200">
                  <a:moveTo>
                    <a:pt x="0" y="0"/>
                  </a:moveTo>
                  <a:lnTo>
                    <a:pt x="4657344" y="0"/>
                  </a:lnTo>
                  <a:lnTo>
                    <a:pt x="4657344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4432" b="-24432"/>
              </a:stretch>
            </a:blipFill>
          </p:spPr>
        </p:sp>
        <p:sp>
          <p:nvSpPr>
            <p:cNvPr id="80" name="TextBox 80"/>
            <p:cNvSpPr txBox="1"/>
            <p:nvPr/>
          </p:nvSpPr>
          <p:spPr>
            <a:xfrm>
              <a:off x="0" y="0"/>
              <a:ext cx="4657344" cy="1219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 b="1">
                  <a:solidFill>
                    <a:srgbClr val="1E293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Transparency &amp; Audit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13628560" y="4501515"/>
            <a:ext cx="3493008" cy="2560320"/>
            <a:chOff x="0" y="0"/>
            <a:chExt cx="4657344" cy="3413760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4657344" cy="3413760"/>
            </a:xfrm>
            <a:custGeom>
              <a:avLst/>
              <a:gdLst/>
              <a:ahLst/>
              <a:cxnLst/>
              <a:rect l="l" t="t" r="r" b="b"/>
              <a:pathLst>
                <a:path w="4657344" h="3413760">
                  <a:moveTo>
                    <a:pt x="0" y="0"/>
                  </a:moveTo>
                  <a:lnTo>
                    <a:pt x="4657344" y="0"/>
                  </a:lnTo>
                  <a:lnTo>
                    <a:pt x="4657344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4044" r="-44044"/>
              </a:stretch>
            </a:blipFill>
          </p:spPr>
        </p:sp>
        <p:sp>
          <p:nvSpPr>
            <p:cNvPr id="83" name="TextBox 83"/>
            <p:cNvSpPr txBox="1"/>
            <p:nvPr/>
          </p:nvSpPr>
          <p:spPr>
            <a:xfrm>
              <a:off x="0" y="0"/>
              <a:ext cx="4657344" cy="34137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39"/>
                </a:lnSpc>
              </a:pPr>
              <a:r>
                <a:rPr lang="en-US" sz="2199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Every decision is recorded, auditable, and visible through a citizen-facing transparency page.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722858" y="8730996"/>
            <a:ext cx="8229600" cy="867537"/>
            <a:chOff x="0" y="0"/>
            <a:chExt cx="10972800" cy="1156716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10972800" cy="1156716"/>
            </a:xfrm>
            <a:custGeom>
              <a:avLst/>
              <a:gdLst/>
              <a:ahLst/>
              <a:cxnLst/>
              <a:rect l="l" t="t" r="r" b="b"/>
              <a:pathLst>
                <a:path w="10972800" h="1156716">
                  <a:moveTo>
                    <a:pt x="0" y="0"/>
                  </a:moveTo>
                  <a:lnTo>
                    <a:pt x="10972800" y="0"/>
                  </a:lnTo>
                  <a:lnTo>
                    <a:pt x="10972800" y="1156716"/>
                  </a:lnTo>
                  <a:lnTo>
                    <a:pt x="0" y="11567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47947" b="-121728"/>
              </a:stretch>
            </a:blipFill>
          </p:spPr>
        </p:sp>
        <p:sp>
          <p:nvSpPr>
            <p:cNvPr id="86" name="TextBox 86"/>
            <p:cNvSpPr txBox="1"/>
            <p:nvPr/>
          </p:nvSpPr>
          <p:spPr>
            <a:xfrm>
              <a:off x="0" y="0"/>
              <a:ext cx="10972800" cy="11567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i="1">
                  <a:solidFill>
                    <a:srgbClr val="1E293B"/>
                  </a:solidFill>
                  <a:latin typeface="Inter Italics"/>
                  <a:ea typeface="Inter Italics"/>
                  <a:cs typeface="Inter Italics"/>
                  <a:sym typeface="Inter Italics"/>
                </a:rPr>
                <a:t>AI gives risk-based decision support; humans take the final call.</a:t>
              </a:r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10405872" y="8684133"/>
            <a:ext cx="6949440" cy="914400"/>
            <a:chOff x="0" y="0"/>
            <a:chExt cx="9265920" cy="1219200"/>
          </a:xfrm>
        </p:grpSpPr>
        <p:sp>
          <p:nvSpPr>
            <p:cNvPr id="88" name="Freeform 88"/>
            <p:cNvSpPr/>
            <p:nvPr/>
          </p:nvSpPr>
          <p:spPr>
            <a:xfrm>
              <a:off x="0" y="0"/>
              <a:ext cx="9265920" cy="1219200"/>
            </a:xfrm>
            <a:custGeom>
              <a:avLst/>
              <a:gdLst/>
              <a:ahLst/>
              <a:cxnLst/>
              <a:rect l="l" t="t" r="r" b="b"/>
              <a:pathLst>
                <a:path w="9265920" h="1219200">
                  <a:moveTo>
                    <a:pt x="0" y="0"/>
                  </a:moveTo>
                  <a:lnTo>
                    <a:pt x="9265920" y="0"/>
                  </a:lnTo>
                  <a:lnTo>
                    <a:pt x="92659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98086" b="-98086"/>
              </a:stretch>
            </a:blipFill>
          </p:spPr>
        </p:sp>
        <p:sp>
          <p:nvSpPr>
            <p:cNvPr id="89" name="TextBox 89"/>
            <p:cNvSpPr txBox="1"/>
            <p:nvPr/>
          </p:nvSpPr>
          <p:spPr>
            <a:xfrm>
              <a:off x="0" y="0"/>
              <a:ext cx="9265920" cy="1219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639"/>
                </a:lnSpc>
              </a:pPr>
              <a:r>
                <a:rPr lang="en-US" sz="2199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No automated punitive action.</a:t>
              </a:r>
            </a:p>
            <a:p>
              <a:pPr algn="r">
                <a:lnSpc>
                  <a:spcPts val="2639"/>
                </a:lnSpc>
              </a:pPr>
              <a:r>
                <a:rPr lang="en-US" sz="2199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Every gate decision is officer-approved</a:t>
              </a:r>
            </a:p>
          </p:txBody>
        </p:sp>
      </p:grpSp>
      <p:sp>
        <p:nvSpPr>
          <p:cNvPr id="90" name="Freeform 90"/>
          <p:cNvSpPr/>
          <p:nvPr/>
        </p:nvSpPr>
        <p:spPr>
          <a:xfrm>
            <a:off x="5366327" y="686760"/>
            <a:ext cx="7508425" cy="830259"/>
          </a:xfrm>
          <a:custGeom>
            <a:avLst/>
            <a:gdLst/>
            <a:ahLst/>
            <a:cxnLst/>
            <a:rect l="l" t="t" r="r" b="b"/>
            <a:pathLst>
              <a:path w="7508425" h="830259">
                <a:moveTo>
                  <a:pt x="0" y="0"/>
                </a:moveTo>
                <a:lnTo>
                  <a:pt x="7508425" y="0"/>
                </a:lnTo>
                <a:lnTo>
                  <a:pt x="7508425" y="830258"/>
                </a:lnTo>
                <a:lnTo>
                  <a:pt x="0" y="830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91" name="Freeform 91"/>
          <p:cNvSpPr/>
          <p:nvPr/>
        </p:nvSpPr>
        <p:spPr>
          <a:xfrm>
            <a:off x="14969490" y="166878"/>
            <a:ext cx="3203463" cy="1464440"/>
          </a:xfrm>
          <a:custGeom>
            <a:avLst/>
            <a:gdLst/>
            <a:ahLst/>
            <a:cxnLst/>
            <a:rect l="l" t="t" r="r" b="b"/>
            <a:pathLst>
              <a:path w="3203463" h="1464440">
                <a:moveTo>
                  <a:pt x="0" y="0"/>
                </a:moveTo>
                <a:lnTo>
                  <a:pt x="3203463" y="0"/>
                </a:lnTo>
                <a:lnTo>
                  <a:pt x="3203463" y="1464440"/>
                </a:lnTo>
                <a:lnTo>
                  <a:pt x="0" y="14644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92" name="Group 92"/>
          <p:cNvGrpSpPr/>
          <p:nvPr/>
        </p:nvGrpSpPr>
        <p:grpSpPr>
          <a:xfrm>
            <a:off x="722858" y="226337"/>
            <a:ext cx="2331190" cy="1296754"/>
            <a:chOff x="0" y="0"/>
            <a:chExt cx="1168702" cy="650105"/>
          </a:xfrm>
        </p:grpSpPr>
        <p:sp>
          <p:nvSpPr>
            <p:cNvPr id="93" name="Freeform 93"/>
            <p:cNvSpPr/>
            <p:nvPr/>
          </p:nvSpPr>
          <p:spPr>
            <a:xfrm>
              <a:off x="0" y="0"/>
              <a:ext cx="1168702" cy="650105"/>
            </a:xfrm>
            <a:custGeom>
              <a:avLst/>
              <a:gdLst/>
              <a:ahLst/>
              <a:cxnLst/>
              <a:rect l="l" t="t" r="r" b="b"/>
              <a:pathLst>
                <a:path w="1168702" h="650105">
                  <a:moveTo>
                    <a:pt x="584351" y="0"/>
                  </a:moveTo>
                  <a:cubicBezTo>
                    <a:pt x="261623" y="0"/>
                    <a:pt x="0" y="145531"/>
                    <a:pt x="0" y="325053"/>
                  </a:cubicBezTo>
                  <a:cubicBezTo>
                    <a:pt x="0" y="504574"/>
                    <a:pt x="261623" y="650105"/>
                    <a:pt x="584351" y="650105"/>
                  </a:cubicBezTo>
                  <a:cubicBezTo>
                    <a:pt x="907079" y="650105"/>
                    <a:pt x="1168702" y="504574"/>
                    <a:pt x="1168702" y="325053"/>
                  </a:cubicBezTo>
                  <a:cubicBezTo>
                    <a:pt x="1168702" y="145531"/>
                    <a:pt x="907079" y="0"/>
                    <a:pt x="584351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109566" y="-43828"/>
              <a:ext cx="949570" cy="6329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530"/>
                </a:lnSpc>
              </a:pPr>
              <a:r>
                <a:rPr lang="en-US" sz="4664">
                  <a:solidFill>
                    <a:srgbClr val="0A2F5C"/>
                  </a:solidFill>
                  <a:latin typeface="Bebas Neue Cyrillic"/>
                  <a:ea typeface="Bebas Neue Cyrillic"/>
                  <a:cs typeface="Bebas Neue Cyrillic"/>
                  <a:sym typeface="Bebas Neue Cyrillic"/>
                </a:rPr>
                <a:t>DietCode</a:t>
              </a:r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0" y="9688830"/>
            <a:ext cx="18288000" cy="768096"/>
            <a:chOff x="0" y="0"/>
            <a:chExt cx="24384000" cy="1024128"/>
          </a:xfrm>
        </p:grpSpPr>
        <p:sp>
          <p:nvSpPr>
            <p:cNvPr id="96" name="Freeform 96"/>
            <p:cNvSpPr/>
            <p:nvPr/>
          </p:nvSpPr>
          <p:spPr>
            <a:xfrm>
              <a:off x="0" y="0"/>
              <a:ext cx="24384000" cy="1024128"/>
            </a:xfrm>
            <a:custGeom>
              <a:avLst/>
              <a:gdLst/>
              <a:ahLst/>
              <a:cxnLst/>
              <a:rect l="l" t="t" r="r" b="b"/>
              <a:pathLst>
                <a:path w="24384000" h="1024128">
                  <a:moveTo>
                    <a:pt x="0" y="0"/>
                  </a:moveTo>
                  <a:lnTo>
                    <a:pt x="24384000" y="0"/>
                  </a:lnTo>
                  <a:lnTo>
                    <a:pt x="2438400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1B3A5F"/>
            </a:solidFill>
          </p:spPr>
        </p:sp>
      </p:grpSp>
      <p:grpSp>
        <p:nvGrpSpPr>
          <p:cNvPr id="97" name="Group 97"/>
          <p:cNvGrpSpPr/>
          <p:nvPr/>
        </p:nvGrpSpPr>
        <p:grpSpPr>
          <a:xfrm>
            <a:off x="16459200" y="9728835"/>
            <a:ext cx="1280160" cy="866329"/>
            <a:chOff x="0" y="0"/>
            <a:chExt cx="1706880" cy="1155105"/>
          </a:xfrm>
        </p:grpSpPr>
        <p:sp>
          <p:nvSpPr>
            <p:cNvPr id="98" name="Freeform 98"/>
            <p:cNvSpPr/>
            <p:nvPr/>
          </p:nvSpPr>
          <p:spPr>
            <a:xfrm>
              <a:off x="0" y="0"/>
              <a:ext cx="1706880" cy="1155105"/>
            </a:xfrm>
            <a:custGeom>
              <a:avLst/>
              <a:gdLst/>
              <a:ahLst/>
              <a:cxnLst/>
              <a:rect l="l" t="t" r="r" b="b"/>
              <a:pathLst>
                <a:path w="1706880" h="1155105">
                  <a:moveTo>
                    <a:pt x="0" y="0"/>
                  </a:moveTo>
                  <a:lnTo>
                    <a:pt x="1706880" y="0"/>
                  </a:lnTo>
                  <a:lnTo>
                    <a:pt x="1706880" y="1155105"/>
                  </a:lnTo>
                  <a:lnTo>
                    <a:pt x="0" y="115510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r="-26982" b="11338"/>
              </a:stretch>
            </a:blipFill>
          </p:spPr>
        </p:sp>
        <p:sp>
          <p:nvSpPr>
            <p:cNvPr id="99" name="TextBox 99"/>
            <p:cNvSpPr txBox="1"/>
            <p:nvPr/>
          </p:nvSpPr>
          <p:spPr>
            <a:xfrm>
              <a:off x="0" y="0"/>
              <a:ext cx="1706880" cy="11551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03</a:t>
              </a:r>
            </a:p>
            <a:p>
              <a:pPr algn="r">
                <a:lnSpc>
                  <a:spcPts val="2879"/>
                </a:lnSpc>
              </a:pPr>
              <a:endParaRPr lang="en-US" sz="2400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endParaRPr>
            </a:p>
          </p:txBody>
        </p:sp>
      </p:grpSp>
      <p:grpSp>
        <p:nvGrpSpPr>
          <p:cNvPr id="100" name="Group 100"/>
          <p:cNvGrpSpPr/>
          <p:nvPr/>
        </p:nvGrpSpPr>
        <p:grpSpPr>
          <a:xfrm>
            <a:off x="466725" y="9688830"/>
            <a:ext cx="12801600" cy="545973"/>
            <a:chOff x="0" y="0"/>
            <a:chExt cx="17068800" cy="727964"/>
          </a:xfrm>
        </p:grpSpPr>
        <p:sp>
          <p:nvSpPr>
            <p:cNvPr id="101" name="Freeform 101"/>
            <p:cNvSpPr/>
            <p:nvPr/>
          </p:nvSpPr>
          <p:spPr>
            <a:xfrm>
              <a:off x="0" y="0"/>
              <a:ext cx="17068800" cy="727964"/>
            </a:xfrm>
            <a:custGeom>
              <a:avLst/>
              <a:gdLst/>
              <a:ahLst/>
              <a:cxnLst/>
              <a:rect l="l" t="t" r="r" b="b"/>
              <a:pathLst>
                <a:path w="17068800" h="727964">
                  <a:moveTo>
                    <a:pt x="0" y="0"/>
                  </a:moveTo>
                  <a:lnTo>
                    <a:pt x="17068800" y="0"/>
                  </a:lnTo>
                  <a:lnTo>
                    <a:pt x="17068800" y="727964"/>
                  </a:lnTo>
                  <a:lnTo>
                    <a:pt x="0" y="7279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86529" b="-427213"/>
              </a:stretch>
            </a:blipFill>
          </p:spPr>
        </p:sp>
        <p:sp>
          <p:nvSpPr>
            <p:cNvPr id="102" name="TextBox 102"/>
            <p:cNvSpPr txBox="1"/>
            <p:nvPr/>
          </p:nvSpPr>
          <p:spPr>
            <a:xfrm>
              <a:off x="0" y="-9525"/>
              <a:ext cx="17068800" cy="7374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MPLADS ArthSetu  ·  SIH 26102  ·  Idea Submission</a:t>
              </a:r>
            </a:p>
          </p:txBody>
        </p:sp>
      </p:grpSp>
      <p:grpSp>
        <p:nvGrpSpPr>
          <p:cNvPr id="103" name="Group 103"/>
          <p:cNvGrpSpPr/>
          <p:nvPr/>
        </p:nvGrpSpPr>
        <p:grpSpPr>
          <a:xfrm>
            <a:off x="0" y="9705346"/>
            <a:ext cx="18288000" cy="665855"/>
            <a:chOff x="0" y="0"/>
            <a:chExt cx="24384000" cy="887806"/>
          </a:xfrm>
        </p:grpSpPr>
        <p:sp>
          <p:nvSpPr>
            <p:cNvPr id="104" name="Freeform 104"/>
            <p:cNvSpPr/>
            <p:nvPr/>
          </p:nvSpPr>
          <p:spPr>
            <a:xfrm>
              <a:off x="0" y="0"/>
              <a:ext cx="24384000" cy="887806"/>
            </a:xfrm>
            <a:custGeom>
              <a:avLst/>
              <a:gdLst/>
              <a:ahLst/>
              <a:cxnLst/>
              <a:rect l="l" t="t" r="r" b="b"/>
              <a:pathLst>
                <a:path w="24384000" h="887806">
                  <a:moveTo>
                    <a:pt x="0" y="0"/>
                  </a:moveTo>
                  <a:lnTo>
                    <a:pt x="24384000" y="0"/>
                  </a:lnTo>
                  <a:lnTo>
                    <a:pt x="24384000" y="887806"/>
                  </a:lnTo>
                  <a:lnTo>
                    <a:pt x="0" y="887806"/>
                  </a:lnTo>
                  <a:close/>
                </a:path>
              </a:pathLst>
            </a:custGeom>
            <a:solidFill>
              <a:srgbClr val="1B3A5F"/>
            </a:solidFill>
          </p:spPr>
        </p:sp>
      </p:grpSp>
      <p:grpSp>
        <p:nvGrpSpPr>
          <p:cNvPr id="105" name="Group 105"/>
          <p:cNvGrpSpPr/>
          <p:nvPr/>
        </p:nvGrpSpPr>
        <p:grpSpPr>
          <a:xfrm>
            <a:off x="16571221" y="9714871"/>
            <a:ext cx="1280160" cy="866329"/>
            <a:chOff x="0" y="0"/>
            <a:chExt cx="1706880" cy="1155105"/>
          </a:xfrm>
        </p:grpSpPr>
        <p:sp>
          <p:nvSpPr>
            <p:cNvPr id="106" name="Freeform 106"/>
            <p:cNvSpPr/>
            <p:nvPr/>
          </p:nvSpPr>
          <p:spPr>
            <a:xfrm>
              <a:off x="0" y="0"/>
              <a:ext cx="1706880" cy="1155105"/>
            </a:xfrm>
            <a:custGeom>
              <a:avLst/>
              <a:gdLst/>
              <a:ahLst/>
              <a:cxnLst/>
              <a:rect l="l" t="t" r="r" b="b"/>
              <a:pathLst>
                <a:path w="1706880" h="1155105">
                  <a:moveTo>
                    <a:pt x="0" y="0"/>
                  </a:moveTo>
                  <a:lnTo>
                    <a:pt x="1706880" y="0"/>
                  </a:lnTo>
                  <a:lnTo>
                    <a:pt x="1706880" y="1155105"/>
                  </a:lnTo>
                  <a:lnTo>
                    <a:pt x="0" y="115510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r="-26982" b="11338"/>
              </a:stretch>
            </a:blipFill>
          </p:spPr>
        </p:sp>
        <p:sp>
          <p:nvSpPr>
            <p:cNvPr id="107" name="TextBox 107"/>
            <p:cNvSpPr txBox="1"/>
            <p:nvPr/>
          </p:nvSpPr>
          <p:spPr>
            <a:xfrm>
              <a:off x="0" y="0"/>
              <a:ext cx="1706880" cy="11551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03</a:t>
              </a:r>
            </a:p>
            <a:p>
              <a:pPr algn="r">
                <a:lnSpc>
                  <a:spcPts val="2879"/>
                </a:lnSpc>
              </a:pPr>
              <a:endParaRPr lang="en-US" sz="2400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endParaRPr>
            </a:p>
          </p:txBody>
        </p:sp>
      </p:grpSp>
      <p:grpSp>
        <p:nvGrpSpPr>
          <p:cNvPr id="108" name="Group 108"/>
          <p:cNvGrpSpPr/>
          <p:nvPr/>
        </p:nvGrpSpPr>
        <p:grpSpPr>
          <a:xfrm>
            <a:off x="548640" y="9752971"/>
            <a:ext cx="12801600" cy="524885"/>
            <a:chOff x="0" y="0"/>
            <a:chExt cx="17068800" cy="699846"/>
          </a:xfrm>
        </p:grpSpPr>
        <p:sp>
          <p:nvSpPr>
            <p:cNvPr id="109" name="Freeform 109"/>
            <p:cNvSpPr/>
            <p:nvPr/>
          </p:nvSpPr>
          <p:spPr>
            <a:xfrm>
              <a:off x="0" y="0"/>
              <a:ext cx="17068800" cy="699846"/>
            </a:xfrm>
            <a:custGeom>
              <a:avLst/>
              <a:gdLst/>
              <a:ahLst/>
              <a:cxnLst/>
              <a:rect l="l" t="t" r="r" b="b"/>
              <a:pathLst>
                <a:path w="17068800" h="699846">
                  <a:moveTo>
                    <a:pt x="0" y="0"/>
                  </a:moveTo>
                  <a:lnTo>
                    <a:pt x="17068800" y="0"/>
                  </a:lnTo>
                  <a:lnTo>
                    <a:pt x="17068800" y="699846"/>
                  </a:lnTo>
                  <a:lnTo>
                    <a:pt x="0" y="69984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02059" b="-448395"/>
              </a:stretch>
            </a:blipFill>
          </p:spPr>
        </p:sp>
        <p:sp>
          <p:nvSpPr>
            <p:cNvPr id="110" name="TextBox 110"/>
            <p:cNvSpPr txBox="1"/>
            <p:nvPr/>
          </p:nvSpPr>
          <p:spPr>
            <a:xfrm>
              <a:off x="0" y="-9525"/>
              <a:ext cx="17068800" cy="70937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ArthSetu  ·  SIH 26102  ·  Idea Submission</a:t>
              </a:r>
            </a:p>
          </p:txBody>
        </p:sp>
      </p:grp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73152"/>
            <a:chOff x="0" y="0"/>
            <a:chExt cx="24384000" cy="9753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97536"/>
            </a:xfrm>
            <a:custGeom>
              <a:avLst/>
              <a:gdLst/>
              <a:ahLst/>
              <a:cxnLst/>
              <a:rect l="l" t="t" r="r" b="b"/>
              <a:pathLst>
                <a:path w="24384000" h="97536">
                  <a:moveTo>
                    <a:pt x="0" y="0"/>
                  </a:moveTo>
                  <a:lnTo>
                    <a:pt x="24384000" y="0"/>
                  </a:lnTo>
                  <a:lnTo>
                    <a:pt x="2438400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5B4B8A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4937762" y="1280294"/>
            <a:ext cx="8412485" cy="463934"/>
            <a:chOff x="0" y="0"/>
            <a:chExt cx="11216646" cy="61857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216646" cy="618579"/>
            </a:xfrm>
            <a:custGeom>
              <a:avLst/>
              <a:gdLst/>
              <a:ahLst/>
              <a:cxnLst/>
              <a:rect l="l" t="t" r="r" b="b"/>
              <a:pathLst>
                <a:path w="11216646" h="618579">
                  <a:moveTo>
                    <a:pt x="0" y="0"/>
                  </a:moveTo>
                  <a:lnTo>
                    <a:pt x="11216646" y="0"/>
                  </a:lnTo>
                  <a:lnTo>
                    <a:pt x="11216646" y="618579"/>
                  </a:lnTo>
                  <a:lnTo>
                    <a:pt x="0" y="61857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26791" r="-63043" b="-525340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11216646" cy="61857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From project sanction to the next payment in 9 controlled steps.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535943" y="1998726"/>
            <a:ext cx="5237483" cy="1762763"/>
            <a:chOff x="0" y="0"/>
            <a:chExt cx="6983311" cy="235035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983222" cy="2350262"/>
            </a:xfrm>
            <a:custGeom>
              <a:avLst/>
              <a:gdLst/>
              <a:ahLst/>
              <a:cxnLst/>
              <a:rect l="l" t="t" r="r" b="b"/>
              <a:pathLst>
                <a:path w="6983222" h="2350262">
                  <a:moveTo>
                    <a:pt x="0" y="197866"/>
                  </a:moveTo>
                  <a:cubicBezTo>
                    <a:pt x="0" y="88646"/>
                    <a:pt x="88646" y="0"/>
                    <a:pt x="197866" y="0"/>
                  </a:cubicBezTo>
                  <a:lnTo>
                    <a:pt x="6785356" y="0"/>
                  </a:lnTo>
                  <a:cubicBezTo>
                    <a:pt x="6894703" y="0"/>
                    <a:pt x="6983222" y="88646"/>
                    <a:pt x="6983222" y="197866"/>
                  </a:cubicBezTo>
                  <a:lnTo>
                    <a:pt x="6983222" y="2152396"/>
                  </a:lnTo>
                  <a:cubicBezTo>
                    <a:pt x="6983222" y="2261743"/>
                    <a:pt x="6894576" y="2350262"/>
                    <a:pt x="6785356" y="2350262"/>
                  </a:cubicBezTo>
                  <a:lnTo>
                    <a:pt x="197866" y="2350262"/>
                  </a:lnTo>
                  <a:cubicBezTo>
                    <a:pt x="88646" y="2350389"/>
                    <a:pt x="0" y="2261743"/>
                    <a:pt x="0" y="2152396"/>
                  </a:cubicBezTo>
                  <a:close/>
                </a:path>
              </a:pathLst>
            </a:custGeom>
            <a:solidFill>
              <a:srgbClr val="F5F7FB"/>
            </a:solidFill>
            <a:ln w="25400" cap="sq">
              <a:solidFill>
                <a:srgbClr val="BFDBFE"/>
              </a:solidFill>
              <a:prstDash val="solid"/>
              <a:miter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731520" y="2230879"/>
            <a:ext cx="512064" cy="512064"/>
            <a:chOff x="0" y="0"/>
            <a:chExt cx="682752" cy="68275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82752" cy="682752"/>
            </a:xfrm>
            <a:custGeom>
              <a:avLst/>
              <a:gdLst/>
              <a:ahLst/>
              <a:cxnLst/>
              <a:rect l="l" t="t" r="r" b="b"/>
              <a:pathLst>
                <a:path w="682752" h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0"/>
              <a:ext cx="682752" cy="6827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40"/>
                </a:lnSpc>
              </a:pPr>
              <a:r>
                <a:rPr lang="en-US" sz="3200" b="1">
                  <a:solidFill>
                    <a:srgbClr val="1B3A5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80160" y="3145279"/>
            <a:ext cx="4206240" cy="457200"/>
            <a:chOff x="0" y="0"/>
            <a:chExt cx="5608320" cy="6096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608320" cy="609600"/>
            </a:xfrm>
            <a:custGeom>
              <a:avLst/>
              <a:gdLst/>
              <a:ahLst/>
              <a:cxnLst/>
              <a:rect l="l" t="t" r="r" b="b"/>
              <a:pathLst>
                <a:path w="5608320" h="609600">
                  <a:moveTo>
                    <a:pt x="0" y="0"/>
                  </a:moveTo>
                  <a:lnTo>
                    <a:pt x="5608320" y="0"/>
                  </a:lnTo>
                  <a:lnTo>
                    <a:pt x="560832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9262" b="-129262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9525"/>
              <a:ext cx="5608320" cy="6191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Milestones defined upfront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739136" y="2560063"/>
            <a:ext cx="548640" cy="548640"/>
            <a:chOff x="0" y="0"/>
            <a:chExt cx="731520" cy="73152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0"/>
              <a:ext cx="73152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40"/>
                </a:lnSpc>
              </a:pPr>
              <a:r>
                <a:rPr lang="en-US" sz="3200">
                  <a:solidFill>
                    <a:srgbClr val="0A2F5C"/>
                  </a:solidFill>
                  <a:latin typeface="Inter"/>
                  <a:ea typeface="Inter"/>
                  <a:cs typeface="Inter"/>
                  <a:sym typeface="Inter"/>
                </a:rPr>
                <a:t>→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150359" y="1998726"/>
            <a:ext cx="5237483" cy="1762763"/>
            <a:chOff x="0" y="0"/>
            <a:chExt cx="6983311" cy="2350351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983222" cy="2350262"/>
            </a:xfrm>
            <a:custGeom>
              <a:avLst/>
              <a:gdLst/>
              <a:ahLst/>
              <a:cxnLst/>
              <a:rect l="l" t="t" r="r" b="b"/>
              <a:pathLst>
                <a:path w="6983222" h="2350262">
                  <a:moveTo>
                    <a:pt x="0" y="197866"/>
                  </a:moveTo>
                  <a:cubicBezTo>
                    <a:pt x="0" y="88646"/>
                    <a:pt x="88646" y="0"/>
                    <a:pt x="197866" y="0"/>
                  </a:cubicBezTo>
                  <a:lnTo>
                    <a:pt x="6785356" y="0"/>
                  </a:lnTo>
                  <a:cubicBezTo>
                    <a:pt x="6894703" y="0"/>
                    <a:pt x="6983222" y="88646"/>
                    <a:pt x="6983222" y="197866"/>
                  </a:cubicBezTo>
                  <a:lnTo>
                    <a:pt x="6983222" y="2152396"/>
                  </a:lnTo>
                  <a:cubicBezTo>
                    <a:pt x="6983222" y="2261743"/>
                    <a:pt x="6894576" y="2350262"/>
                    <a:pt x="6785356" y="2350262"/>
                  </a:cubicBezTo>
                  <a:lnTo>
                    <a:pt x="197866" y="2350262"/>
                  </a:lnTo>
                  <a:cubicBezTo>
                    <a:pt x="88646" y="2350389"/>
                    <a:pt x="0" y="2261743"/>
                    <a:pt x="0" y="2152396"/>
                  </a:cubicBezTo>
                  <a:close/>
                </a:path>
              </a:pathLst>
            </a:custGeom>
            <a:solidFill>
              <a:srgbClr val="F5F7FB"/>
            </a:solidFill>
            <a:ln w="25400" cap="sq">
              <a:solidFill>
                <a:srgbClr val="BFDBFE"/>
              </a:solidFill>
              <a:prstDash val="solid"/>
              <a:miter/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6345936" y="2230879"/>
            <a:ext cx="512064" cy="512064"/>
            <a:chOff x="0" y="0"/>
            <a:chExt cx="682752" cy="68275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82752" cy="682752"/>
            </a:xfrm>
            <a:custGeom>
              <a:avLst/>
              <a:gdLst/>
              <a:ahLst/>
              <a:cxnLst/>
              <a:rect l="l" t="t" r="r" b="b"/>
              <a:pathLst>
                <a:path w="682752" h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0"/>
              <a:ext cx="682752" cy="6827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40"/>
                </a:lnSpc>
              </a:pPr>
              <a:r>
                <a:rPr lang="en-US" sz="3200" b="1">
                  <a:solidFill>
                    <a:srgbClr val="1B3A5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2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894576" y="3145279"/>
            <a:ext cx="4206240" cy="457200"/>
            <a:chOff x="0" y="0"/>
            <a:chExt cx="5608320" cy="6096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5608320" cy="609600"/>
            </a:xfrm>
            <a:custGeom>
              <a:avLst/>
              <a:gdLst/>
              <a:ahLst/>
              <a:cxnLst/>
              <a:rect l="l" t="t" r="r" b="b"/>
              <a:pathLst>
                <a:path w="5608320" h="609600">
                  <a:moveTo>
                    <a:pt x="0" y="0"/>
                  </a:moveTo>
                  <a:lnTo>
                    <a:pt x="5608320" y="0"/>
                  </a:lnTo>
                  <a:lnTo>
                    <a:pt x="560832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9262" b="-129262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-9525"/>
              <a:ext cx="5608320" cy="6191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Stage-wise, not lump-sum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1359896" y="2560063"/>
            <a:ext cx="548640" cy="548640"/>
            <a:chOff x="0" y="0"/>
            <a:chExt cx="731520" cy="73152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0"/>
              <a:ext cx="73152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40"/>
                </a:lnSpc>
              </a:pPr>
              <a:r>
                <a:rPr lang="en-US" sz="3200">
                  <a:solidFill>
                    <a:srgbClr val="0A2F5C"/>
                  </a:solidFill>
                  <a:latin typeface="Inter"/>
                  <a:ea typeface="Inter"/>
                  <a:cs typeface="Inter"/>
                  <a:sym typeface="Inter"/>
                </a:rPr>
                <a:t>→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1764775" y="1998726"/>
            <a:ext cx="5237483" cy="1762763"/>
            <a:chOff x="0" y="0"/>
            <a:chExt cx="6983311" cy="2350351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6983222" cy="2350262"/>
            </a:xfrm>
            <a:custGeom>
              <a:avLst/>
              <a:gdLst/>
              <a:ahLst/>
              <a:cxnLst/>
              <a:rect l="l" t="t" r="r" b="b"/>
              <a:pathLst>
                <a:path w="6983222" h="2350262">
                  <a:moveTo>
                    <a:pt x="0" y="197866"/>
                  </a:moveTo>
                  <a:cubicBezTo>
                    <a:pt x="0" y="88646"/>
                    <a:pt x="88646" y="0"/>
                    <a:pt x="197866" y="0"/>
                  </a:cubicBezTo>
                  <a:lnTo>
                    <a:pt x="6785356" y="0"/>
                  </a:lnTo>
                  <a:cubicBezTo>
                    <a:pt x="6894703" y="0"/>
                    <a:pt x="6983222" y="88646"/>
                    <a:pt x="6983222" y="197866"/>
                  </a:cubicBezTo>
                  <a:lnTo>
                    <a:pt x="6983222" y="2152396"/>
                  </a:lnTo>
                  <a:cubicBezTo>
                    <a:pt x="6983222" y="2261743"/>
                    <a:pt x="6894576" y="2350262"/>
                    <a:pt x="6785356" y="2350262"/>
                  </a:cubicBezTo>
                  <a:lnTo>
                    <a:pt x="197866" y="2350262"/>
                  </a:lnTo>
                  <a:cubicBezTo>
                    <a:pt x="88646" y="2350389"/>
                    <a:pt x="0" y="2261743"/>
                    <a:pt x="0" y="2152396"/>
                  </a:cubicBezTo>
                  <a:close/>
                </a:path>
              </a:pathLst>
            </a:custGeom>
            <a:solidFill>
              <a:srgbClr val="F5F7FB"/>
            </a:solidFill>
            <a:ln w="25400" cap="sq">
              <a:solidFill>
                <a:srgbClr val="BFDBFE"/>
              </a:solidFill>
              <a:prstDash val="solid"/>
              <a:miter/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11960352" y="2230879"/>
            <a:ext cx="512064" cy="512064"/>
            <a:chOff x="0" y="0"/>
            <a:chExt cx="682752" cy="682752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682752" cy="682752"/>
            </a:xfrm>
            <a:custGeom>
              <a:avLst/>
              <a:gdLst/>
              <a:ahLst/>
              <a:cxnLst/>
              <a:rect l="l" t="t" r="r" b="b"/>
              <a:pathLst>
                <a:path w="682752" h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33" name="TextBox 33"/>
            <p:cNvSpPr txBox="1"/>
            <p:nvPr/>
          </p:nvSpPr>
          <p:spPr>
            <a:xfrm>
              <a:off x="0" y="0"/>
              <a:ext cx="682752" cy="6827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40"/>
                </a:lnSpc>
              </a:pPr>
              <a:r>
                <a:rPr lang="en-US" sz="3200" b="1">
                  <a:solidFill>
                    <a:srgbClr val="1B3A5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3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2489942" y="2932862"/>
            <a:ext cx="4206240" cy="728291"/>
            <a:chOff x="0" y="0"/>
            <a:chExt cx="5608320" cy="971054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5608320" cy="971054"/>
            </a:xfrm>
            <a:custGeom>
              <a:avLst/>
              <a:gdLst/>
              <a:ahLst/>
              <a:cxnLst/>
              <a:rect l="l" t="t" r="r" b="b"/>
              <a:pathLst>
                <a:path w="5608320" h="971054">
                  <a:moveTo>
                    <a:pt x="0" y="0"/>
                  </a:moveTo>
                  <a:lnTo>
                    <a:pt x="5608320" y="0"/>
                  </a:lnTo>
                  <a:lnTo>
                    <a:pt x="5608320" y="971054"/>
                  </a:lnTo>
                  <a:lnTo>
                    <a:pt x="0" y="97105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1147" b="-43924"/>
              </a:stretch>
            </a:blipFill>
          </p:spPr>
        </p:sp>
        <p:sp>
          <p:nvSpPr>
            <p:cNvPr id="36" name="TextBox 36"/>
            <p:cNvSpPr txBox="1"/>
            <p:nvPr/>
          </p:nvSpPr>
          <p:spPr>
            <a:xfrm>
              <a:off x="0" y="-9525"/>
              <a:ext cx="5608320" cy="98057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Bills, geotagged photos, measurements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535943" y="4101846"/>
            <a:ext cx="5237483" cy="1945643"/>
            <a:chOff x="0" y="0"/>
            <a:chExt cx="6983311" cy="2594191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6983222" cy="2594102"/>
            </a:xfrm>
            <a:custGeom>
              <a:avLst/>
              <a:gdLst/>
              <a:ahLst/>
              <a:cxnLst/>
              <a:rect l="l" t="t" r="r" b="b"/>
              <a:pathLst>
                <a:path w="6983222" h="2594102">
                  <a:moveTo>
                    <a:pt x="0" y="197612"/>
                  </a:moveTo>
                  <a:cubicBezTo>
                    <a:pt x="0" y="88519"/>
                    <a:pt x="88519" y="0"/>
                    <a:pt x="197612" y="0"/>
                  </a:cubicBezTo>
                  <a:lnTo>
                    <a:pt x="6785610" y="0"/>
                  </a:lnTo>
                  <a:cubicBezTo>
                    <a:pt x="6894830" y="0"/>
                    <a:pt x="6983222" y="88519"/>
                    <a:pt x="6983222" y="197612"/>
                  </a:cubicBezTo>
                  <a:lnTo>
                    <a:pt x="6983222" y="2396490"/>
                  </a:lnTo>
                  <a:cubicBezTo>
                    <a:pt x="6983222" y="2505710"/>
                    <a:pt x="6894703" y="2594102"/>
                    <a:pt x="6785610" y="2594102"/>
                  </a:cubicBezTo>
                  <a:lnTo>
                    <a:pt x="197612" y="2594102"/>
                  </a:lnTo>
                  <a:cubicBezTo>
                    <a:pt x="88519" y="2594229"/>
                    <a:pt x="0" y="2505710"/>
                    <a:pt x="0" y="2396490"/>
                  </a:cubicBezTo>
                  <a:close/>
                </a:path>
              </a:pathLst>
            </a:custGeom>
            <a:solidFill>
              <a:srgbClr val="F5F7FB"/>
            </a:solidFill>
            <a:ln w="25400" cap="sq">
              <a:solidFill>
                <a:srgbClr val="BFDBFE"/>
              </a:solidFill>
              <a:prstDash val="solid"/>
              <a:miter/>
            </a:ln>
          </p:spPr>
        </p:sp>
      </p:grpSp>
      <p:grpSp>
        <p:nvGrpSpPr>
          <p:cNvPr id="39" name="Group 39"/>
          <p:cNvGrpSpPr/>
          <p:nvPr/>
        </p:nvGrpSpPr>
        <p:grpSpPr>
          <a:xfrm>
            <a:off x="731520" y="4333999"/>
            <a:ext cx="512064" cy="512064"/>
            <a:chOff x="0" y="0"/>
            <a:chExt cx="682752" cy="682752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682752" cy="682752"/>
            </a:xfrm>
            <a:custGeom>
              <a:avLst/>
              <a:gdLst/>
              <a:ahLst/>
              <a:cxnLst/>
              <a:rect l="l" t="t" r="r" b="b"/>
              <a:pathLst>
                <a:path w="682752" h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41" name="TextBox 41"/>
            <p:cNvSpPr txBox="1"/>
            <p:nvPr/>
          </p:nvSpPr>
          <p:spPr>
            <a:xfrm>
              <a:off x="0" y="0"/>
              <a:ext cx="682752" cy="6827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40"/>
                </a:lnSpc>
              </a:pPr>
              <a:r>
                <a:rPr lang="en-US" sz="3200" b="1">
                  <a:solidFill>
                    <a:srgbClr val="0A2F5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4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280160" y="4297423"/>
            <a:ext cx="4206240" cy="914400"/>
            <a:chOff x="0" y="0"/>
            <a:chExt cx="5608320" cy="121920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5608320" cy="1219200"/>
            </a:xfrm>
            <a:custGeom>
              <a:avLst/>
              <a:gdLst/>
              <a:ahLst/>
              <a:cxnLst/>
              <a:rect l="l" t="t" r="r" b="b"/>
              <a:pathLst>
                <a:path w="5608320" h="1219200">
                  <a:moveTo>
                    <a:pt x="0" y="0"/>
                  </a:moveTo>
                  <a:lnTo>
                    <a:pt x="5608320" y="0"/>
                  </a:lnTo>
                  <a:lnTo>
                    <a:pt x="56083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9631" b="-39631"/>
              </a:stretch>
            </a:blipFill>
          </p:spPr>
        </p:sp>
        <p:sp>
          <p:nvSpPr>
            <p:cNvPr id="44" name="TextBox 44"/>
            <p:cNvSpPr txBox="1"/>
            <p:nvPr/>
          </p:nvSpPr>
          <p:spPr>
            <a:xfrm>
              <a:off x="0" y="0"/>
              <a:ext cx="5608320" cy="1219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39"/>
                </a:lnSpc>
              </a:pPr>
              <a:r>
                <a:rPr lang="en-US" sz="2199" b="1">
                  <a:solidFill>
                    <a:srgbClr val="1E293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AI CHECKS SPENDING,</a:t>
              </a:r>
            </a:p>
            <a:p>
              <a:pPr algn="l">
                <a:lnSpc>
                  <a:spcPts val="2639"/>
                </a:lnSpc>
              </a:pPr>
              <a:r>
                <a:rPr lang="en-US" sz="2199" b="1">
                  <a:solidFill>
                    <a:srgbClr val="1E293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PROGRESS &amp; EVIDENCE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224534" y="5148320"/>
            <a:ext cx="4206240" cy="744226"/>
            <a:chOff x="0" y="0"/>
            <a:chExt cx="5608320" cy="992302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5608320" cy="992302"/>
            </a:xfrm>
            <a:custGeom>
              <a:avLst/>
              <a:gdLst/>
              <a:ahLst/>
              <a:cxnLst/>
              <a:rect l="l" t="t" r="r" b="b"/>
              <a:pathLst>
                <a:path w="5608320" h="992302">
                  <a:moveTo>
                    <a:pt x="0" y="0"/>
                  </a:moveTo>
                  <a:lnTo>
                    <a:pt x="5608320" y="0"/>
                  </a:lnTo>
                  <a:lnTo>
                    <a:pt x="5608320" y="992302"/>
                  </a:lnTo>
                  <a:lnTo>
                    <a:pt x="0" y="99230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73266" b="-46985"/>
              </a:stretch>
            </a:blipFill>
          </p:spPr>
        </p:sp>
        <p:sp>
          <p:nvSpPr>
            <p:cNvPr id="47" name="TextBox 47"/>
            <p:cNvSpPr txBox="1"/>
            <p:nvPr/>
          </p:nvSpPr>
          <p:spPr>
            <a:xfrm>
              <a:off x="0" y="-9525"/>
              <a:ext cx="5608320" cy="100182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Spending pace vs physical progress vs submitted evidence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5785361" y="4754623"/>
            <a:ext cx="548640" cy="548640"/>
            <a:chOff x="0" y="0"/>
            <a:chExt cx="731520" cy="73152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50" name="TextBox 50"/>
            <p:cNvSpPr txBox="1"/>
            <p:nvPr/>
          </p:nvSpPr>
          <p:spPr>
            <a:xfrm>
              <a:off x="0" y="0"/>
              <a:ext cx="73152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40"/>
                </a:lnSpc>
              </a:pPr>
              <a:r>
                <a:rPr lang="en-US" sz="3200">
                  <a:solidFill>
                    <a:srgbClr val="0A2F5C"/>
                  </a:solidFill>
                  <a:latin typeface="Inter"/>
                  <a:ea typeface="Inter"/>
                  <a:cs typeface="Inter"/>
                  <a:sym typeface="Inter"/>
                </a:rPr>
                <a:t>→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6150359" y="4101846"/>
            <a:ext cx="5237483" cy="1945643"/>
            <a:chOff x="0" y="0"/>
            <a:chExt cx="6983311" cy="2594191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6983222" cy="2594102"/>
            </a:xfrm>
            <a:custGeom>
              <a:avLst/>
              <a:gdLst/>
              <a:ahLst/>
              <a:cxnLst/>
              <a:rect l="l" t="t" r="r" b="b"/>
              <a:pathLst>
                <a:path w="6983222" h="2594102">
                  <a:moveTo>
                    <a:pt x="0" y="197612"/>
                  </a:moveTo>
                  <a:cubicBezTo>
                    <a:pt x="0" y="88519"/>
                    <a:pt x="88519" y="0"/>
                    <a:pt x="197612" y="0"/>
                  </a:cubicBezTo>
                  <a:lnTo>
                    <a:pt x="6785610" y="0"/>
                  </a:lnTo>
                  <a:cubicBezTo>
                    <a:pt x="6894830" y="0"/>
                    <a:pt x="6983222" y="88519"/>
                    <a:pt x="6983222" y="197612"/>
                  </a:cubicBezTo>
                  <a:lnTo>
                    <a:pt x="6983222" y="2396490"/>
                  </a:lnTo>
                  <a:cubicBezTo>
                    <a:pt x="6983222" y="2505710"/>
                    <a:pt x="6894703" y="2594102"/>
                    <a:pt x="6785610" y="2594102"/>
                  </a:cubicBezTo>
                  <a:lnTo>
                    <a:pt x="197612" y="2594102"/>
                  </a:lnTo>
                  <a:cubicBezTo>
                    <a:pt x="88519" y="2594229"/>
                    <a:pt x="0" y="2505710"/>
                    <a:pt x="0" y="2396490"/>
                  </a:cubicBezTo>
                  <a:close/>
                </a:path>
              </a:pathLst>
            </a:custGeom>
            <a:solidFill>
              <a:srgbClr val="F5F7FB"/>
            </a:solidFill>
            <a:ln w="25400" cap="sq">
              <a:solidFill>
                <a:srgbClr val="BFDBFE"/>
              </a:solidFill>
              <a:prstDash val="solid"/>
              <a:miter/>
            </a:ln>
          </p:spPr>
        </p:sp>
      </p:grpSp>
      <p:grpSp>
        <p:nvGrpSpPr>
          <p:cNvPr id="53" name="Group 53"/>
          <p:cNvGrpSpPr/>
          <p:nvPr/>
        </p:nvGrpSpPr>
        <p:grpSpPr>
          <a:xfrm>
            <a:off x="6345936" y="4333999"/>
            <a:ext cx="512064" cy="512064"/>
            <a:chOff x="0" y="0"/>
            <a:chExt cx="682752" cy="682752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682752" cy="682752"/>
            </a:xfrm>
            <a:custGeom>
              <a:avLst/>
              <a:gdLst/>
              <a:ahLst/>
              <a:cxnLst/>
              <a:rect l="l" t="t" r="r" b="b"/>
              <a:pathLst>
                <a:path w="682752" h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55" name="TextBox 55"/>
            <p:cNvSpPr txBox="1"/>
            <p:nvPr/>
          </p:nvSpPr>
          <p:spPr>
            <a:xfrm>
              <a:off x="0" y="0"/>
              <a:ext cx="682752" cy="6827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40"/>
                </a:lnSpc>
              </a:pPr>
              <a:r>
                <a:rPr lang="en-US" sz="3200" b="1">
                  <a:solidFill>
                    <a:srgbClr val="0A2F5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5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6894576" y="4333999"/>
            <a:ext cx="4206240" cy="914400"/>
            <a:chOff x="0" y="0"/>
            <a:chExt cx="5608320" cy="121920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5608320" cy="1219200"/>
            </a:xfrm>
            <a:custGeom>
              <a:avLst/>
              <a:gdLst/>
              <a:ahLst/>
              <a:cxnLst/>
              <a:rect l="l" t="t" r="r" b="b"/>
              <a:pathLst>
                <a:path w="5608320" h="1219200">
                  <a:moveTo>
                    <a:pt x="0" y="0"/>
                  </a:moveTo>
                  <a:lnTo>
                    <a:pt x="5608320" y="0"/>
                  </a:lnTo>
                  <a:lnTo>
                    <a:pt x="56083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9631" b="-39631"/>
              </a:stretch>
            </a:blipFill>
          </p:spPr>
        </p:sp>
        <p:sp>
          <p:nvSpPr>
            <p:cNvPr id="58" name="TextBox 58"/>
            <p:cNvSpPr txBox="1"/>
            <p:nvPr/>
          </p:nvSpPr>
          <p:spPr>
            <a:xfrm>
              <a:off x="0" y="0"/>
              <a:ext cx="5608320" cy="1219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39"/>
                </a:lnSpc>
              </a:pPr>
              <a:r>
                <a:rPr lang="en-US" sz="2199" b="1">
                  <a:solidFill>
                    <a:srgbClr val="1E293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RISK SCORE +</a:t>
              </a:r>
            </a:p>
            <a:p>
              <a:pPr algn="l">
                <a:lnSpc>
                  <a:spcPts val="2639"/>
                </a:lnSpc>
              </a:pPr>
              <a:r>
                <a:rPr lang="en-US" sz="2199" b="1">
                  <a:solidFill>
                    <a:srgbClr val="1E293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REASONS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6894576" y="5303263"/>
            <a:ext cx="4206240" cy="548640"/>
            <a:chOff x="0" y="0"/>
            <a:chExt cx="5608320" cy="731520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5608320" cy="731520"/>
            </a:xfrm>
            <a:custGeom>
              <a:avLst/>
              <a:gdLst/>
              <a:ahLst/>
              <a:cxnLst/>
              <a:rect l="l" t="t" r="r" b="b"/>
              <a:pathLst>
                <a:path w="5608320" h="731520">
                  <a:moveTo>
                    <a:pt x="0" y="0"/>
                  </a:moveTo>
                  <a:lnTo>
                    <a:pt x="5608320" y="0"/>
                  </a:lnTo>
                  <a:lnTo>
                    <a:pt x="56083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99385" b="-99385"/>
              </a:stretch>
            </a:blipFill>
          </p:spPr>
        </p:sp>
        <p:sp>
          <p:nvSpPr>
            <p:cNvPr id="61" name="TextBox 61"/>
            <p:cNvSpPr txBox="1"/>
            <p:nvPr/>
          </p:nvSpPr>
          <p:spPr>
            <a:xfrm>
              <a:off x="0" y="-9525"/>
              <a:ext cx="5608320" cy="7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Explains why the project is flagged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11686032" y="4754623"/>
            <a:ext cx="548640" cy="548640"/>
            <a:chOff x="0" y="0"/>
            <a:chExt cx="731520" cy="731520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64" name="TextBox 64"/>
            <p:cNvSpPr txBox="1"/>
            <p:nvPr/>
          </p:nvSpPr>
          <p:spPr>
            <a:xfrm>
              <a:off x="0" y="0"/>
              <a:ext cx="73152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40"/>
                </a:lnSpc>
              </a:pPr>
              <a:r>
                <a:rPr lang="en-US" sz="3200">
                  <a:solidFill>
                    <a:srgbClr val="0A2F5C"/>
                  </a:solidFill>
                  <a:latin typeface="Inter"/>
                  <a:ea typeface="Inter"/>
                  <a:cs typeface="Inter"/>
                  <a:sym typeface="Inter"/>
                </a:rPr>
                <a:t>→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11762232" y="4099303"/>
            <a:ext cx="5242560" cy="1950720"/>
            <a:chOff x="0" y="0"/>
            <a:chExt cx="6990080" cy="2600960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6990080" cy="2600960"/>
            </a:xfrm>
            <a:custGeom>
              <a:avLst/>
              <a:gdLst/>
              <a:ahLst/>
              <a:cxnLst/>
              <a:rect l="l" t="t" r="r" b="b"/>
              <a:pathLst>
                <a:path w="6990080" h="2600960">
                  <a:moveTo>
                    <a:pt x="0" y="198120"/>
                  </a:moveTo>
                  <a:cubicBezTo>
                    <a:pt x="0" y="88773"/>
                    <a:pt x="88773" y="0"/>
                    <a:pt x="198120" y="0"/>
                  </a:cubicBezTo>
                  <a:lnTo>
                    <a:pt x="6791960" y="0"/>
                  </a:lnTo>
                  <a:cubicBezTo>
                    <a:pt x="6901434" y="0"/>
                    <a:pt x="6990080" y="88773"/>
                    <a:pt x="6990080" y="198120"/>
                  </a:cubicBezTo>
                  <a:lnTo>
                    <a:pt x="6990080" y="2402840"/>
                  </a:lnTo>
                  <a:cubicBezTo>
                    <a:pt x="6990080" y="2512314"/>
                    <a:pt x="6901307" y="2600960"/>
                    <a:pt x="6791960" y="2600960"/>
                  </a:cubicBezTo>
                  <a:lnTo>
                    <a:pt x="198120" y="2600960"/>
                  </a:lnTo>
                  <a:cubicBezTo>
                    <a:pt x="88773" y="2600960"/>
                    <a:pt x="0" y="2512187"/>
                    <a:pt x="0" y="2402840"/>
                  </a:cubicBezTo>
                  <a:close/>
                </a:path>
              </a:pathLst>
            </a:custGeom>
            <a:solidFill>
              <a:srgbClr val="F5F7FB"/>
            </a:solidFill>
            <a:ln w="30480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id="67" name="Group 67"/>
          <p:cNvGrpSpPr/>
          <p:nvPr/>
        </p:nvGrpSpPr>
        <p:grpSpPr>
          <a:xfrm>
            <a:off x="11960352" y="4260847"/>
            <a:ext cx="457200" cy="402336"/>
            <a:chOff x="0" y="0"/>
            <a:chExt cx="609600" cy="536448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609600" cy="536448"/>
            </a:xfrm>
            <a:custGeom>
              <a:avLst/>
              <a:gdLst/>
              <a:ahLst/>
              <a:cxnLst/>
              <a:rect l="l" t="t" r="r" b="b"/>
              <a:pathLst>
                <a:path w="609600" h="536448">
                  <a:moveTo>
                    <a:pt x="0" y="0"/>
                  </a:moveTo>
                  <a:lnTo>
                    <a:pt x="609600" y="0"/>
                  </a:lnTo>
                  <a:lnTo>
                    <a:pt x="6096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2907" r="-62907"/>
              </a:stretch>
            </a:blipFill>
          </p:spPr>
        </p:sp>
        <p:sp>
          <p:nvSpPr>
            <p:cNvPr id="69" name="TextBox 69"/>
            <p:cNvSpPr txBox="1"/>
            <p:nvPr/>
          </p:nvSpPr>
          <p:spPr>
            <a:xfrm>
              <a:off x="0" y="0"/>
              <a:ext cx="609600" cy="5364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 b="1">
                  <a:solidFill>
                    <a:srgbClr val="64748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6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12051792" y="4699759"/>
            <a:ext cx="4663440" cy="512064"/>
            <a:chOff x="0" y="0"/>
            <a:chExt cx="6217920" cy="682752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6217920" cy="682752"/>
            </a:xfrm>
            <a:custGeom>
              <a:avLst/>
              <a:gdLst/>
              <a:ahLst/>
              <a:cxnLst/>
              <a:rect l="l" t="t" r="r" b="b"/>
              <a:pathLst>
                <a:path w="6217920" h="682752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lnTo>
                    <a:pt x="6096000" y="0"/>
                  </a:lnTo>
                  <a:cubicBezTo>
                    <a:pt x="6163310" y="0"/>
                    <a:pt x="6217920" y="54610"/>
                    <a:pt x="6217920" y="121920"/>
                  </a:cubicBezTo>
                  <a:lnTo>
                    <a:pt x="6217920" y="560832"/>
                  </a:lnTo>
                  <a:cubicBezTo>
                    <a:pt x="6217920" y="628142"/>
                    <a:pt x="6163310" y="682752"/>
                    <a:pt x="6096000" y="682752"/>
                  </a:cubicBezTo>
                  <a:lnTo>
                    <a:pt x="121920" y="682752"/>
                  </a:lnTo>
                  <a:cubicBezTo>
                    <a:pt x="54610" y="682752"/>
                    <a:pt x="0" y="628142"/>
                    <a:pt x="0" y="560832"/>
                  </a:cubicBezTo>
                  <a:close/>
                </a:path>
              </a:pathLst>
            </a:custGeom>
            <a:solidFill>
              <a:srgbClr val="E6F7ED"/>
            </a:solidFill>
          </p:spPr>
        </p:sp>
      </p:grpSp>
      <p:grpSp>
        <p:nvGrpSpPr>
          <p:cNvPr id="72" name="Group 72"/>
          <p:cNvGrpSpPr/>
          <p:nvPr/>
        </p:nvGrpSpPr>
        <p:grpSpPr>
          <a:xfrm>
            <a:off x="12051792" y="4699759"/>
            <a:ext cx="4663440" cy="512064"/>
            <a:chOff x="0" y="0"/>
            <a:chExt cx="6217920" cy="682752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6217920" cy="682752"/>
            </a:xfrm>
            <a:custGeom>
              <a:avLst/>
              <a:gdLst/>
              <a:ahLst/>
              <a:cxnLst/>
              <a:rect l="l" t="t" r="r" b="b"/>
              <a:pathLst>
                <a:path w="6217920" h="682752">
                  <a:moveTo>
                    <a:pt x="0" y="0"/>
                  </a:moveTo>
                  <a:lnTo>
                    <a:pt x="6217920" y="0"/>
                  </a:lnTo>
                  <a:lnTo>
                    <a:pt x="62179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7453" b="-127453"/>
              </a:stretch>
            </a:blipFill>
          </p:spPr>
        </p:sp>
        <p:sp>
          <p:nvSpPr>
            <p:cNvPr id="74" name="TextBox 74"/>
            <p:cNvSpPr txBox="1"/>
            <p:nvPr/>
          </p:nvSpPr>
          <p:spPr>
            <a:xfrm>
              <a:off x="0" y="-9525"/>
              <a:ext cx="6217920" cy="6922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 b="1">
                  <a:solidFill>
                    <a:srgbClr val="16A34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LOW RISK  →  NORMAL PROCESS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12051792" y="5321551"/>
            <a:ext cx="4663440" cy="512064"/>
            <a:chOff x="0" y="0"/>
            <a:chExt cx="6217920" cy="682752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6217920" cy="682752"/>
            </a:xfrm>
            <a:custGeom>
              <a:avLst/>
              <a:gdLst/>
              <a:ahLst/>
              <a:cxnLst/>
              <a:rect l="l" t="t" r="r" b="b"/>
              <a:pathLst>
                <a:path w="6217920" h="682752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lnTo>
                    <a:pt x="6096000" y="0"/>
                  </a:lnTo>
                  <a:cubicBezTo>
                    <a:pt x="6163310" y="0"/>
                    <a:pt x="6217920" y="54610"/>
                    <a:pt x="6217920" y="121920"/>
                  </a:cubicBezTo>
                  <a:lnTo>
                    <a:pt x="6217920" y="560832"/>
                  </a:lnTo>
                  <a:cubicBezTo>
                    <a:pt x="6217920" y="628142"/>
                    <a:pt x="6163310" y="682752"/>
                    <a:pt x="6096000" y="682752"/>
                  </a:cubicBezTo>
                  <a:lnTo>
                    <a:pt x="121920" y="682752"/>
                  </a:lnTo>
                  <a:cubicBezTo>
                    <a:pt x="54610" y="682752"/>
                    <a:pt x="0" y="628142"/>
                    <a:pt x="0" y="560832"/>
                  </a:cubicBezTo>
                  <a:close/>
                </a:path>
              </a:pathLst>
            </a:custGeom>
            <a:solidFill>
              <a:srgbClr val="FDECEC"/>
            </a:solidFill>
          </p:spPr>
        </p:sp>
      </p:grpSp>
      <p:grpSp>
        <p:nvGrpSpPr>
          <p:cNvPr id="77" name="Group 77"/>
          <p:cNvGrpSpPr/>
          <p:nvPr/>
        </p:nvGrpSpPr>
        <p:grpSpPr>
          <a:xfrm>
            <a:off x="12051797" y="5303263"/>
            <a:ext cx="4663440" cy="512064"/>
            <a:chOff x="0" y="0"/>
            <a:chExt cx="6217920" cy="682752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6217920" cy="682752"/>
            </a:xfrm>
            <a:custGeom>
              <a:avLst/>
              <a:gdLst/>
              <a:ahLst/>
              <a:cxnLst/>
              <a:rect l="l" t="t" r="r" b="b"/>
              <a:pathLst>
                <a:path w="6217920" h="682752">
                  <a:moveTo>
                    <a:pt x="0" y="0"/>
                  </a:moveTo>
                  <a:lnTo>
                    <a:pt x="6217920" y="0"/>
                  </a:lnTo>
                  <a:lnTo>
                    <a:pt x="62179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7453" b="-127453"/>
              </a:stretch>
            </a:blipFill>
          </p:spPr>
        </p:sp>
        <p:sp>
          <p:nvSpPr>
            <p:cNvPr id="79" name="TextBox 79"/>
            <p:cNvSpPr txBox="1"/>
            <p:nvPr/>
          </p:nvSpPr>
          <p:spPr>
            <a:xfrm>
              <a:off x="0" y="-9525"/>
              <a:ext cx="6217920" cy="6922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 b="1">
                  <a:solidFill>
                    <a:srgbClr val="1B3A5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HIGH RISK  →  HUMAN VERIFICATION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535943" y="6387846"/>
            <a:ext cx="5694683" cy="1762763"/>
            <a:chOff x="0" y="0"/>
            <a:chExt cx="7592911" cy="2350351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7592822" cy="2350262"/>
            </a:xfrm>
            <a:custGeom>
              <a:avLst/>
              <a:gdLst/>
              <a:ahLst/>
              <a:cxnLst/>
              <a:rect l="l" t="t" r="r" b="b"/>
              <a:pathLst>
                <a:path w="7592822" h="2350262">
                  <a:moveTo>
                    <a:pt x="0" y="197866"/>
                  </a:moveTo>
                  <a:cubicBezTo>
                    <a:pt x="0" y="88646"/>
                    <a:pt x="88646" y="0"/>
                    <a:pt x="197866" y="0"/>
                  </a:cubicBezTo>
                  <a:lnTo>
                    <a:pt x="7394956" y="0"/>
                  </a:lnTo>
                  <a:cubicBezTo>
                    <a:pt x="7504303" y="0"/>
                    <a:pt x="7592822" y="88646"/>
                    <a:pt x="7592822" y="197866"/>
                  </a:cubicBezTo>
                  <a:lnTo>
                    <a:pt x="7592822" y="2152396"/>
                  </a:lnTo>
                  <a:cubicBezTo>
                    <a:pt x="7592822" y="2261743"/>
                    <a:pt x="7504176" y="2350262"/>
                    <a:pt x="7394956" y="2350262"/>
                  </a:cubicBezTo>
                  <a:lnTo>
                    <a:pt x="197866" y="2350262"/>
                  </a:lnTo>
                  <a:cubicBezTo>
                    <a:pt x="88646" y="2350389"/>
                    <a:pt x="0" y="2261743"/>
                    <a:pt x="0" y="2152396"/>
                  </a:cubicBezTo>
                  <a:close/>
                </a:path>
              </a:pathLst>
            </a:custGeom>
            <a:solidFill>
              <a:srgbClr val="F5F7FB"/>
            </a:solidFill>
            <a:ln w="25400" cap="sq">
              <a:solidFill>
                <a:srgbClr val="BFDBFE"/>
              </a:solidFill>
              <a:prstDash val="solid"/>
              <a:miter/>
            </a:ln>
          </p:spPr>
        </p:sp>
      </p:grpSp>
      <p:grpSp>
        <p:nvGrpSpPr>
          <p:cNvPr id="82" name="Group 82"/>
          <p:cNvGrpSpPr/>
          <p:nvPr/>
        </p:nvGrpSpPr>
        <p:grpSpPr>
          <a:xfrm>
            <a:off x="731520" y="6619999"/>
            <a:ext cx="512064" cy="512064"/>
            <a:chOff x="0" y="0"/>
            <a:chExt cx="682752" cy="682752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682752" cy="682752"/>
            </a:xfrm>
            <a:custGeom>
              <a:avLst/>
              <a:gdLst/>
              <a:ahLst/>
              <a:cxnLst/>
              <a:rect l="l" t="t" r="r" b="b"/>
              <a:pathLst>
                <a:path w="682752" h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84" name="TextBox 84"/>
            <p:cNvSpPr txBox="1"/>
            <p:nvPr/>
          </p:nvSpPr>
          <p:spPr>
            <a:xfrm>
              <a:off x="0" y="0"/>
              <a:ext cx="682752" cy="6827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40"/>
                </a:lnSpc>
              </a:pPr>
              <a:r>
                <a:rPr lang="en-US" sz="3200" b="1">
                  <a:solidFill>
                    <a:srgbClr val="1B3A5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7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1371600" y="6583423"/>
            <a:ext cx="4389120" cy="914400"/>
            <a:chOff x="0" y="0"/>
            <a:chExt cx="5852160" cy="1219200"/>
          </a:xfrm>
        </p:grpSpPr>
        <p:sp>
          <p:nvSpPr>
            <p:cNvPr id="86" name="Freeform 86"/>
            <p:cNvSpPr/>
            <p:nvPr/>
          </p:nvSpPr>
          <p:spPr>
            <a:xfrm>
              <a:off x="0" y="0"/>
              <a:ext cx="5852160" cy="1219200"/>
            </a:xfrm>
            <a:custGeom>
              <a:avLst/>
              <a:gdLst/>
              <a:ahLst/>
              <a:cxnLst/>
              <a:rect l="l" t="t" r="r" b="b"/>
              <a:pathLst>
                <a:path w="5852160" h="1219200">
                  <a:moveTo>
                    <a:pt x="0" y="0"/>
                  </a:moveTo>
                  <a:lnTo>
                    <a:pt x="5852160" y="0"/>
                  </a:lnTo>
                  <a:lnTo>
                    <a:pt x="585216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3528" b="-43528"/>
              </a:stretch>
            </a:blipFill>
          </p:spPr>
        </p:sp>
        <p:sp>
          <p:nvSpPr>
            <p:cNvPr id="87" name="TextBox 87"/>
            <p:cNvSpPr txBox="1"/>
            <p:nvPr/>
          </p:nvSpPr>
          <p:spPr>
            <a:xfrm>
              <a:off x="0" y="0"/>
              <a:ext cx="5852160" cy="1219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1E293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EVIDENCE + FIELD</a:t>
              </a:r>
            </a:p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1E293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VERIFICATION</a:t>
              </a:r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1330966" y="7387971"/>
            <a:ext cx="4389120" cy="734063"/>
            <a:chOff x="0" y="0"/>
            <a:chExt cx="5852160" cy="978751"/>
          </a:xfrm>
        </p:grpSpPr>
        <p:sp>
          <p:nvSpPr>
            <p:cNvPr id="89" name="Freeform 89"/>
            <p:cNvSpPr/>
            <p:nvPr/>
          </p:nvSpPr>
          <p:spPr>
            <a:xfrm>
              <a:off x="0" y="0"/>
              <a:ext cx="5852160" cy="978751"/>
            </a:xfrm>
            <a:custGeom>
              <a:avLst/>
              <a:gdLst/>
              <a:ahLst/>
              <a:cxnLst/>
              <a:rect l="l" t="t" r="r" b="b"/>
              <a:pathLst>
                <a:path w="5852160" h="978751">
                  <a:moveTo>
                    <a:pt x="0" y="0"/>
                  </a:moveTo>
                  <a:lnTo>
                    <a:pt x="5852160" y="0"/>
                  </a:lnTo>
                  <a:lnTo>
                    <a:pt x="5852160" y="978751"/>
                  </a:lnTo>
                  <a:lnTo>
                    <a:pt x="0" y="97875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5363" b="-47646"/>
              </a:stretch>
            </a:blipFill>
          </p:spPr>
        </p:sp>
        <p:sp>
          <p:nvSpPr>
            <p:cNvPr id="90" name="TextBox 90"/>
            <p:cNvSpPr txBox="1"/>
            <p:nvPr/>
          </p:nvSpPr>
          <p:spPr>
            <a:xfrm>
              <a:off x="0" y="-9525"/>
              <a:ext cx="5852160" cy="98827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Officer confirms the milestone on record</a:t>
              </a:r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6741919" y="6345298"/>
            <a:ext cx="11029198" cy="1805311"/>
            <a:chOff x="0" y="0"/>
            <a:chExt cx="14705597" cy="2407082"/>
          </a:xfrm>
        </p:grpSpPr>
        <p:sp>
          <p:nvSpPr>
            <p:cNvPr id="92" name="Freeform 92"/>
            <p:cNvSpPr/>
            <p:nvPr/>
          </p:nvSpPr>
          <p:spPr>
            <a:xfrm>
              <a:off x="0" y="0"/>
              <a:ext cx="14705409" cy="2406999"/>
            </a:xfrm>
            <a:custGeom>
              <a:avLst/>
              <a:gdLst/>
              <a:ahLst/>
              <a:cxnLst/>
              <a:rect l="l" t="t" r="r" b="b"/>
              <a:pathLst>
                <a:path w="14705409" h="2406999">
                  <a:moveTo>
                    <a:pt x="0" y="183359"/>
                  </a:moveTo>
                  <a:cubicBezTo>
                    <a:pt x="0" y="82134"/>
                    <a:pt x="186405" y="0"/>
                    <a:pt x="416135" y="0"/>
                  </a:cubicBezTo>
                  <a:lnTo>
                    <a:pt x="14289274" y="0"/>
                  </a:lnTo>
                  <a:cubicBezTo>
                    <a:pt x="14519270" y="0"/>
                    <a:pt x="14705409" y="82134"/>
                    <a:pt x="14705409" y="183359"/>
                  </a:cubicBezTo>
                  <a:lnTo>
                    <a:pt x="14705409" y="2223640"/>
                  </a:lnTo>
                  <a:cubicBezTo>
                    <a:pt x="14705409" y="2324983"/>
                    <a:pt x="14519005" y="2406999"/>
                    <a:pt x="14289274" y="2406999"/>
                  </a:cubicBezTo>
                  <a:lnTo>
                    <a:pt x="416135" y="2406999"/>
                  </a:lnTo>
                  <a:cubicBezTo>
                    <a:pt x="186405" y="2407120"/>
                    <a:pt x="0" y="2324983"/>
                    <a:pt x="0" y="2223640"/>
                  </a:cubicBezTo>
                  <a:close/>
                </a:path>
              </a:pathLst>
            </a:custGeom>
            <a:solidFill>
              <a:srgbClr val="F5F7FB"/>
            </a:solidFill>
            <a:ln w="25400" cap="sq">
              <a:solidFill>
                <a:srgbClr val="BFDBFE"/>
              </a:solidFill>
              <a:prstDash val="solid"/>
              <a:miter/>
            </a:ln>
          </p:spPr>
        </p:sp>
      </p:grpSp>
      <p:grpSp>
        <p:nvGrpSpPr>
          <p:cNvPr id="93" name="Group 93"/>
          <p:cNvGrpSpPr/>
          <p:nvPr/>
        </p:nvGrpSpPr>
        <p:grpSpPr>
          <a:xfrm>
            <a:off x="6217920" y="6949183"/>
            <a:ext cx="548640" cy="548640"/>
            <a:chOff x="0" y="0"/>
            <a:chExt cx="731520" cy="731520"/>
          </a:xfrm>
        </p:grpSpPr>
        <p:sp>
          <p:nvSpPr>
            <p:cNvPr id="94" name="Freeform 94"/>
            <p:cNvSpPr/>
            <p:nvPr/>
          </p:nvSpPr>
          <p:spPr>
            <a:xfrm>
              <a:off x="0" y="0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95" name="TextBox 95"/>
            <p:cNvSpPr txBox="1"/>
            <p:nvPr/>
          </p:nvSpPr>
          <p:spPr>
            <a:xfrm>
              <a:off x="0" y="0"/>
              <a:ext cx="73152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40"/>
                </a:lnSpc>
              </a:pPr>
              <a:r>
                <a:rPr lang="en-US" sz="3200">
                  <a:solidFill>
                    <a:srgbClr val="0A2F5C"/>
                  </a:solidFill>
                  <a:latin typeface="Inter"/>
                  <a:ea typeface="Inter"/>
                  <a:cs typeface="Inter"/>
                  <a:sym typeface="Inter"/>
                </a:rPr>
                <a:t>→</a:t>
              </a:r>
            </a:p>
          </p:txBody>
        </p:sp>
      </p:grpSp>
      <p:grpSp>
        <p:nvGrpSpPr>
          <p:cNvPr id="96" name="Group 96"/>
          <p:cNvGrpSpPr/>
          <p:nvPr/>
        </p:nvGrpSpPr>
        <p:grpSpPr>
          <a:xfrm>
            <a:off x="6858000" y="6583423"/>
            <a:ext cx="457200" cy="457200"/>
            <a:chOff x="0" y="0"/>
            <a:chExt cx="609600" cy="609600"/>
          </a:xfrm>
        </p:grpSpPr>
        <p:sp>
          <p:nvSpPr>
            <p:cNvPr id="97" name="Freeform 97"/>
            <p:cNvSpPr/>
            <p:nvPr/>
          </p:nvSpPr>
          <p:spPr>
            <a:xfrm>
              <a:off x="0" y="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98" name="TextBox 98"/>
            <p:cNvSpPr txBox="1"/>
            <p:nvPr/>
          </p:nvSpPr>
          <p:spPr>
            <a:xfrm>
              <a:off x="0" y="0"/>
              <a:ext cx="609600" cy="6096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 b="1">
                  <a:solidFill>
                    <a:srgbClr val="64748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8</a:t>
              </a:r>
            </a:p>
          </p:txBody>
        </p:sp>
      </p:grpSp>
      <p:grpSp>
        <p:nvGrpSpPr>
          <p:cNvPr id="99" name="Group 99"/>
          <p:cNvGrpSpPr/>
          <p:nvPr/>
        </p:nvGrpSpPr>
        <p:grpSpPr>
          <a:xfrm>
            <a:off x="7406640" y="6619999"/>
            <a:ext cx="2377440" cy="914400"/>
            <a:chOff x="0" y="0"/>
            <a:chExt cx="3169920" cy="1219200"/>
          </a:xfrm>
        </p:grpSpPr>
        <p:sp>
          <p:nvSpPr>
            <p:cNvPr id="100" name="Freeform 100"/>
            <p:cNvSpPr/>
            <p:nvPr/>
          </p:nvSpPr>
          <p:spPr>
            <a:xfrm>
              <a:off x="0" y="0"/>
              <a:ext cx="3169920" cy="1219200"/>
            </a:xfrm>
            <a:custGeom>
              <a:avLst/>
              <a:gdLst/>
              <a:ahLst/>
              <a:cxnLst/>
              <a:rect l="l" t="t" r="r" b="b"/>
              <a:pathLst>
                <a:path w="3169920" h="1219200">
                  <a:moveTo>
                    <a:pt x="0" y="0"/>
                  </a:moveTo>
                  <a:lnTo>
                    <a:pt x="3169920" y="0"/>
                  </a:lnTo>
                  <a:lnTo>
                    <a:pt x="31699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61" b="-661"/>
              </a:stretch>
            </a:blipFill>
          </p:spPr>
        </p:sp>
        <p:sp>
          <p:nvSpPr>
            <p:cNvPr id="101" name="TextBox 101"/>
            <p:cNvSpPr txBox="1"/>
            <p:nvPr/>
          </p:nvSpPr>
          <p:spPr>
            <a:xfrm>
              <a:off x="0" y="0"/>
              <a:ext cx="3169920" cy="1219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1E293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MILESTONE</a:t>
              </a:r>
            </a:p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1E293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VERIFIED?</a:t>
              </a:r>
            </a:p>
          </p:txBody>
        </p:sp>
      </p:grpSp>
      <p:grpSp>
        <p:nvGrpSpPr>
          <p:cNvPr id="102" name="Group 102"/>
          <p:cNvGrpSpPr/>
          <p:nvPr/>
        </p:nvGrpSpPr>
        <p:grpSpPr>
          <a:xfrm>
            <a:off x="9673590" y="6573264"/>
            <a:ext cx="3500123" cy="1397003"/>
            <a:chOff x="0" y="0"/>
            <a:chExt cx="4666831" cy="1862671"/>
          </a:xfrm>
        </p:grpSpPr>
        <p:sp>
          <p:nvSpPr>
            <p:cNvPr id="103" name="Freeform 103"/>
            <p:cNvSpPr/>
            <p:nvPr/>
          </p:nvSpPr>
          <p:spPr>
            <a:xfrm>
              <a:off x="0" y="0"/>
              <a:ext cx="4666742" cy="1862582"/>
            </a:xfrm>
            <a:custGeom>
              <a:avLst/>
              <a:gdLst/>
              <a:ahLst/>
              <a:cxnLst/>
              <a:rect l="l" t="t" r="r" b="b"/>
              <a:pathLst>
                <a:path w="4666742" h="1862582">
                  <a:moveTo>
                    <a:pt x="0" y="198628"/>
                  </a:moveTo>
                  <a:cubicBezTo>
                    <a:pt x="0" y="88900"/>
                    <a:pt x="88900" y="0"/>
                    <a:pt x="198628" y="0"/>
                  </a:cubicBezTo>
                  <a:lnTo>
                    <a:pt x="4468114" y="0"/>
                  </a:lnTo>
                  <a:cubicBezTo>
                    <a:pt x="4577842" y="0"/>
                    <a:pt x="4666742" y="88900"/>
                    <a:pt x="4666742" y="198628"/>
                  </a:cubicBezTo>
                  <a:lnTo>
                    <a:pt x="4666742" y="1663954"/>
                  </a:lnTo>
                  <a:cubicBezTo>
                    <a:pt x="4666742" y="1773682"/>
                    <a:pt x="4577842" y="1862582"/>
                    <a:pt x="4468114" y="1862582"/>
                  </a:cubicBezTo>
                  <a:lnTo>
                    <a:pt x="198628" y="1862582"/>
                  </a:lnTo>
                  <a:cubicBezTo>
                    <a:pt x="88900" y="1862709"/>
                    <a:pt x="0" y="1773682"/>
                    <a:pt x="0" y="1663954"/>
                  </a:cubicBezTo>
                  <a:close/>
                </a:path>
              </a:pathLst>
            </a:custGeom>
            <a:solidFill>
              <a:srgbClr val="E6F7ED"/>
            </a:solidFill>
            <a:ln w="25400" cap="sq">
              <a:solidFill>
                <a:srgbClr val="86EFAC"/>
              </a:solidFill>
              <a:prstDash val="solid"/>
              <a:miter/>
            </a:ln>
          </p:spPr>
        </p:sp>
      </p:grpSp>
      <p:grpSp>
        <p:nvGrpSpPr>
          <p:cNvPr id="104" name="Group 104"/>
          <p:cNvGrpSpPr/>
          <p:nvPr/>
        </p:nvGrpSpPr>
        <p:grpSpPr>
          <a:xfrm>
            <a:off x="9960607" y="6652765"/>
            <a:ext cx="512064" cy="512064"/>
            <a:chOff x="0" y="0"/>
            <a:chExt cx="682752" cy="682752"/>
          </a:xfrm>
        </p:grpSpPr>
        <p:sp>
          <p:nvSpPr>
            <p:cNvPr id="105" name="Freeform 105" descr="preencoded.png"/>
            <p:cNvSpPr/>
            <p:nvPr/>
          </p:nvSpPr>
          <p:spPr>
            <a:xfrm>
              <a:off x="0" y="0"/>
              <a:ext cx="682752" cy="682752"/>
            </a:xfrm>
            <a:custGeom>
              <a:avLst/>
              <a:gdLst/>
              <a:ahLst/>
              <a:cxnLst/>
              <a:rect l="l" t="t" r="r" b="b"/>
              <a:pathLst>
                <a:path w="682752" h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106" name="Group 106"/>
          <p:cNvGrpSpPr/>
          <p:nvPr/>
        </p:nvGrpSpPr>
        <p:grpSpPr>
          <a:xfrm>
            <a:off x="10600687" y="6659113"/>
            <a:ext cx="2194560" cy="457200"/>
            <a:chOff x="0" y="0"/>
            <a:chExt cx="2926080" cy="609600"/>
          </a:xfrm>
        </p:grpSpPr>
        <p:sp>
          <p:nvSpPr>
            <p:cNvPr id="107" name="Freeform 107"/>
            <p:cNvSpPr/>
            <p:nvPr/>
          </p:nvSpPr>
          <p:spPr>
            <a:xfrm>
              <a:off x="0" y="0"/>
              <a:ext cx="2926080" cy="609600"/>
            </a:xfrm>
            <a:custGeom>
              <a:avLst/>
              <a:gdLst/>
              <a:ahLst/>
              <a:cxnLst/>
              <a:rect l="l" t="t" r="r" b="b"/>
              <a:pathLst>
                <a:path w="2926080" h="609600">
                  <a:moveTo>
                    <a:pt x="0" y="0"/>
                  </a:moveTo>
                  <a:lnTo>
                    <a:pt x="2926080" y="0"/>
                  </a:lnTo>
                  <a:lnTo>
                    <a:pt x="292608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3528" b="-43528"/>
              </a:stretch>
            </a:blipFill>
          </p:spPr>
        </p:sp>
        <p:sp>
          <p:nvSpPr>
            <p:cNvPr id="108" name="TextBox 108"/>
            <p:cNvSpPr txBox="1"/>
            <p:nvPr/>
          </p:nvSpPr>
          <p:spPr>
            <a:xfrm>
              <a:off x="0" y="0"/>
              <a:ext cx="2926080" cy="6096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16A34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YES</a:t>
              </a:r>
            </a:p>
          </p:txBody>
        </p:sp>
      </p:grpSp>
      <p:grpSp>
        <p:nvGrpSpPr>
          <p:cNvPr id="109" name="Group 109"/>
          <p:cNvGrpSpPr/>
          <p:nvPr/>
        </p:nvGrpSpPr>
        <p:grpSpPr>
          <a:xfrm>
            <a:off x="9960607" y="7262617"/>
            <a:ext cx="2926080" cy="457200"/>
            <a:chOff x="0" y="0"/>
            <a:chExt cx="3901440" cy="609600"/>
          </a:xfrm>
        </p:grpSpPr>
        <p:sp>
          <p:nvSpPr>
            <p:cNvPr id="110" name="Freeform 110"/>
            <p:cNvSpPr/>
            <p:nvPr/>
          </p:nvSpPr>
          <p:spPr>
            <a:xfrm>
              <a:off x="0" y="0"/>
              <a:ext cx="3901440" cy="609600"/>
            </a:xfrm>
            <a:custGeom>
              <a:avLst/>
              <a:gdLst/>
              <a:ahLst/>
              <a:cxnLst/>
              <a:rect l="l" t="t" r="r" b="b"/>
              <a:pathLst>
                <a:path w="3901440" h="609600">
                  <a:moveTo>
                    <a:pt x="0" y="0"/>
                  </a:moveTo>
                  <a:lnTo>
                    <a:pt x="3901440" y="0"/>
                  </a:lnTo>
                  <a:lnTo>
                    <a:pt x="390144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74704" b="-74704"/>
              </a:stretch>
            </a:blipFill>
          </p:spPr>
        </p:sp>
        <p:sp>
          <p:nvSpPr>
            <p:cNvPr id="111" name="TextBox 111"/>
            <p:cNvSpPr txBox="1"/>
            <p:nvPr/>
          </p:nvSpPr>
          <p:spPr>
            <a:xfrm>
              <a:off x="0" y="0"/>
              <a:ext cx="3901440" cy="6096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Next payment eligible</a:t>
              </a:r>
            </a:p>
          </p:txBody>
        </p:sp>
      </p:grpSp>
      <p:grpSp>
        <p:nvGrpSpPr>
          <p:cNvPr id="112" name="Group 112"/>
          <p:cNvGrpSpPr/>
          <p:nvPr/>
        </p:nvGrpSpPr>
        <p:grpSpPr>
          <a:xfrm>
            <a:off x="13422630" y="6573264"/>
            <a:ext cx="3865883" cy="1397003"/>
            <a:chOff x="0" y="0"/>
            <a:chExt cx="5154511" cy="1862671"/>
          </a:xfrm>
        </p:grpSpPr>
        <p:sp>
          <p:nvSpPr>
            <p:cNvPr id="113" name="Freeform 113"/>
            <p:cNvSpPr/>
            <p:nvPr/>
          </p:nvSpPr>
          <p:spPr>
            <a:xfrm>
              <a:off x="0" y="0"/>
              <a:ext cx="5154422" cy="1862582"/>
            </a:xfrm>
            <a:custGeom>
              <a:avLst/>
              <a:gdLst/>
              <a:ahLst/>
              <a:cxnLst/>
              <a:rect l="l" t="t" r="r" b="b"/>
              <a:pathLst>
                <a:path w="5154422" h="1862582">
                  <a:moveTo>
                    <a:pt x="0" y="198628"/>
                  </a:moveTo>
                  <a:cubicBezTo>
                    <a:pt x="0" y="88900"/>
                    <a:pt x="88900" y="0"/>
                    <a:pt x="198628" y="0"/>
                  </a:cubicBezTo>
                  <a:lnTo>
                    <a:pt x="4955794" y="0"/>
                  </a:lnTo>
                  <a:cubicBezTo>
                    <a:pt x="5065522" y="0"/>
                    <a:pt x="5154422" y="88900"/>
                    <a:pt x="5154422" y="198628"/>
                  </a:cubicBezTo>
                  <a:lnTo>
                    <a:pt x="5154422" y="1663954"/>
                  </a:lnTo>
                  <a:cubicBezTo>
                    <a:pt x="5154422" y="1773682"/>
                    <a:pt x="5065522" y="1862582"/>
                    <a:pt x="4955794" y="1862582"/>
                  </a:cubicBezTo>
                  <a:lnTo>
                    <a:pt x="198628" y="1862582"/>
                  </a:lnTo>
                  <a:cubicBezTo>
                    <a:pt x="88900" y="1862709"/>
                    <a:pt x="0" y="1773682"/>
                    <a:pt x="0" y="1663954"/>
                  </a:cubicBezTo>
                  <a:close/>
                </a:path>
              </a:pathLst>
            </a:custGeom>
            <a:solidFill>
              <a:srgbClr val="FDECEC"/>
            </a:solidFill>
            <a:ln w="25400" cap="sq">
              <a:solidFill>
                <a:srgbClr val="FCA5A5"/>
              </a:solidFill>
              <a:prstDash val="solid"/>
              <a:miter/>
            </a:ln>
          </p:spPr>
        </p:sp>
      </p:grpSp>
      <p:grpSp>
        <p:nvGrpSpPr>
          <p:cNvPr id="114" name="Group 114"/>
          <p:cNvGrpSpPr/>
          <p:nvPr/>
        </p:nvGrpSpPr>
        <p:grpSpPr>
          <a:xfrm>
            <a:off x="13709647" y="6640063"/>
            <a:ext cx="512064" cy="512064"/>
            <a:chOff x="0" y="0"/>
            <a:chExt cx="682752" cy="682752"/>
          </a:xfrm>
        </p:grpSpPr>
        <p:sp>
          <p:nvSpPr>
            <p:cNvPr id="115" name="Freeform 115" descr="preencoded.png"/>
            <p:cNvSpPr/>
            <p:nvPr/>
          </p:nvSpPr>
          <p:spPr>
            <a:xfrm>
              <a:off x="0" y="0"/>
              <a:ext cx="682752" cy="682752"/>
            </a:xfrm>
            <a:custGeom>
              <a:avLst/>
              <a:gdLst/>
              <a:ahLst/>
              <a:cxnLst/>
              <a:rect l="l" t="t" r="r" b="b"/>
              <a:pathLst>
                <a:path w="682752" h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116" name="Group 116"/>
          <p:cNvGrpSpPr/>
          <p:nvPr/>
        </p:nvGrpSpPr>
        <p:grpSpPr>
          <a:xfrm>
            <a:off x="14425927" y="6640063"/>
            <a:ext cx="2560320" cy="457200"/>
            <a:chOff x="0" y="0"/>
            <a:chExt cx="3413760" cy="609600"/>
          </a:xfrm>
        </p:grpSpPr>
        <p:sp>
          <p:nvSpPr>
            <p:cNvPr id="117" name="Freeform 117"/>
            <p:cNvSpPr/>
            <p:nvPr/>
          </p:nvSpPr>
          <p:spPr>
            <a:xfrm>
              <a:off x="0" y="0"/>
              <a:ext cx="3413760" cy="609600"/>
            </a:xfrm>
            <a:custGeom>
              <a:avLst/>
              <a:gdLst/>
              <a:ahLst/>
              <a:cxnLst/>
              <a:rect l="l" t="t" r="r" b="b"/>
              <a:pathLst>
                <a:path w="3413760" h="609600">
                  <a:moveTo>
                    <a:pt x="0" y="0"/>
                  </a:moveTo>
                  <a:lnTo>
                    <a:pt x="3413760" y="0"/>
                  </a:lnTo>
                  <a:lnTo>
                    <a:pt x="34137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9116" b="-59116"/>
              </a:stretch>
            </a:blipFill>
          </p:spPr>
        </p:sp>
        <p:sp>
          <p:nvSpPr>
            <p:cNvPr id="118" name="TextBox 118"/>
            <p:cNvSpPr txBox="1"/>
            <p:nvPr/>
          </p:nvSpPr>
          <p:spPr>
            <a:xfrm>
              <a:off x="0" y="0"/>
              <a:ext cx="3413760" cy="6096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DC262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NO</a:t>
              </a:r>
            </a:p>
          </p:txBody>
        </p:sp>
      </p:grpSp>
      <p:grpSp>
        <p:nvGrpSpPr>
          <p:cNvPr id="119" name="Group 119"/>
          <p:cNvGrpSpPr/>
          <p:nvPr/>
        </p:nvGrpSpPr>
        <p:grpSpPr>
          <a:xfrm>
            <a:off x="13654783" y="7138283"/>
            <a:ext cx="3578866" cy="797309"/>
            <a:chOff x="0" y="0"/>
            <a:chExt cx="4771822" cy="1063079"/>
          </a:xfrm>
        </p:grpSpPr>
        <p:sp>
          <p:nvSpPr>
            <p:cNvPr id="120" name="Freeform 120"/>
            <p:cNvSpPr/>
            <p:nvPr/>
          </p:nvSpPr>
          <p:spPr>
            <a:xfrm>
              <a:off x="0" y="0"/>
              <a:ext cx="4771822" cy="1063079"/>
            </a:xfrm>
            <a:custGeom>
              <a:avLst/>
              <a:gdLst/>
              <a:ahLst/>
              <a:cxnLst/>
              <a:rect l="l" t="t" r="r" b="b"/>
              <a:pathLst>
                <a:path w="4771822" h="1063079">
                  <a:moveTo>
                    <a:pt x="0" y="0"/>
                  </a:moveTo>
                  <a:lnTo>
                    <a:pt x="4771822" y="0"/>
                  </a:lnTo>
                  <a:lnTo>
                    <a:pt x="4771822" y="1063079"/>
                  </a:lnTo>
                  <a:lnTo>
                    <a:pt x="0" y="106307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1776" r="8020" b="-9119"/>
              </a:stretch>
            </a:blipFill>
          </p:spPr>
        </p:sp>
        <p:sp>
          <p:nvSpPr>
            <p:cNvPr id="121" name="TextBox 121"/>
            <p:cNvSpPr txBox="1"/>
            <p:nvPr/>
          </p:nvSpPr>
          <p:spPr>
            <a:xfrm>
              <a:off x="0" y="0"/>
              <a:ext cx="4771822" cy="106307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Review / corrective action</a:t>
              </a:r>
            </a:p>
          </p:txBody>
        </p:sp>
      </p:grpSp>
      <p:grpSp>
        <p:nvGrpSpPr>
          <p:cNvPr id="122" name="Group 122"/>
          <p:cNvGrpSpPr/>
          <p:nvPr/>
        </p:nvGrpSpPr>
        <p:grpSpPr>
          <a:xfrm>
            <a:off x="535943" y="8245859"/>
            <a:ext cx="17216123" cy="1397003"/>
            <a:chOff x="0" y="0"/>
            <a:chExt cx="22954831" cy="1862671"/>
          </a:xfrm>
        </p:grpSpPr>
        <p:sp>
          <p:nvSpPr>
            <p:cNvPr id="123" name="Freeform 123"/>
            <p:cNvSpPr/>
            <p:nvPr/>
          </p:nvSpPr>
          <p:spPr>
            <a:xfrm>
              <a:off x="0" y="0"/>
              <a:ext cx="22954742" cy="1862582"/>
            </a:xfrm>
            <a:custGeom>
              <a:avLst/>
              <a:gdLst/>
              <a:ahLst/>
              <a:cxnLst/>
              <a:rect l="l" t="t" r="r" b="b"/>
              <a:pathLst>
                <a:path w="22954742" h="1862582">
                  <a:moveTo>
                    <a:pt x="0" y="198628"/>
                  </a:moveTo>
                  <a:cubicBezTo>
                    <a:pt x="0" y="88900"/>
                    <a:pt x="88900" y="0"/>
                    <a:pt x="198628" y="0"/>
                  </a:cubicBezTo>
                  <a:lnTo>
                    <a:pt x="22756113" y="0"/>
                  </a:lnTo>
                  <a:cubicBezTo>
                    <a:pt x="22865842" y="0"/>
                    <a:pt x="22954742" y="88900"/>
                    <a:pt x="22954742" y="198628"/>
                  </a:cubicBezTo>
                  <a:lnTo>
                    <a:pt x="22954742" y="1663954"/>
                  </a:lnTo>
                  <a:cubicBezTo>
                    <a:pt x="22954742" y="1773682"/>
                    <a:pt x="22865842" y="1862582"/>
                    <a:pt x="22756113" y="1862582"/>
                  </a:cubicBezTo>
                  <a:lnTo>
                    <a:pt x="198628" y="1862582"/>
                  </a:lnTo>
                  <a:cubicBezTo>
                    <a:pt x="88900" y="1862709"/>
                    <a:pt x="0" y="1773682"/>
                    <a:pt x="0" y="1663954"/>
                  </a:cubicBezTo>
                  <a:close/>
                </a:path>
              </a:pathLst>
            </a:custGeom>
            <a:solidFill>
              <a:srgbClr val="F8FAFC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id="124" name="Group 124"/>
          <p:cNvGrpSpPr/>
          <p:nvPr/>
        </p:nvGrpSpPr>
        <p:grpSpPr>
          <a:xfrm>
            <a:off x="822960" y="8624321"/>
            <a:ext cx="548640" cy="640080"/>
            <a:chOff x="0" y="0"/>
            <a:chExt cx="731520" cy="853440"/>
          </a:xfrm>
        </p:grpSpPr>
        <p:sp>
          <p:nvSpPr>
            <p:cNvPr id="125" name="Freeform 125"/>
            <p:cNvSpPr/>
            <p:nvPr/>
          </p:nvSpPr>
          <p:spPr>
            <a:xfrm>
              <a:off x="0" y="0"/>
              <a:ext cx="731520" cy="853440"/>
            </a:xfrm>
            <a:custGeom>
              <a:avLst/>
              <a:gdLst/>
              <a:ahLst/>
              <a:cxnLst/>
              <a:rect l="l" t="t" r="r" b="b"/>
              <a:pathLst>
                <a:path w="731520" h="853440">
                  <a:moveTo>
                    <a:pt x="0" y="0"/>
                  </a:moveTo>
                  <a:lnTo>
                    <a:pt x="731520" y="0"/>
                  </a:lnTo>
                  <a:lnTo>
                    <a:pt x="7315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9687" r="-99687"/>
              </a:stretch>
            </a:blipFill>
          </p:spPr>
        </p:sp>
        <p:sp>
          <p:nvSpPr>
            <p:cNvPr id="126" name="TextBox 126"/>
            <p:cNvSpPr txBox="1"/>
            <p:nvPr/>
          </p:nvSpPr>
          <p:spPr>
            <a:xfrm>
              <a:off x="0" y="-9525"/>
              <a:ext cx="731520" cy="8629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320"/>
                </a:lnSpc>
              </a:pPr>
              <a:r>
                <a:rPr lang="en-US" sz="3600" b="1">
                  <a:solidFill>
                    <a:srgbClr val="1B3A5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9</a:t>
              </a:r>
            </a:p>
          </p:txBody>
        </p:sp>
      </p:grpSp>
      <p:grpSp>
        <p:nvGrpSpPr>
          <p:cNvPr id="127" name="Group 127"/>
          <p:cNvGrpSpPr/>
          <p:nvPr/>
        </p:nvGrpSpPr>
        <p:grpSpPr>
          <a:xfrm>
            <a:off x="1453901" y="8493509"/>
            <a:ext cx="14630400" cy="512064"/>
            <a:chOff x="0" y="0"/>
            <a:chExt cx="19507200" cy="682752"/>
          </a:xfrm>
        </p:grpSpPr>
        <p:sp>
          <p:nvSpPr>
            <p:cNvPr id="128" name="Freeform 128"/>
            <p:cNvSpPr/>
            <p:nvPr/>
          </p:nvSpPr>
          <p:spPr>
            <a:xfrm>
              <a:off x="0" y="0"/>
              <a:ext cx="19507200" cy="682752"/>
            </a:xfrm>
            <a:custGeom>
              <a:avLst/>
              <a:gdLst/>
              <a:ahLst/>
              <a:cxnLst/>
              <a:rect l="l" t="t" r="r" b="b"/>
              <a:pathLst>
                <a:path w="19507200" h="682752">
                  <a:moveTo>
                    <a:pt x="0" y="0"/>
                  </a:moveTo>
                  <a:lnTo>
                    <a:pt x="19507200" y="0"/>
                  </a:lnTo>
                  <a:lnTo>
                    <a:pt x="195072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06715" b="-506715"/>
              </a:stretch>
            </a:blipFill>
          </p:spPr>
        </p:sp>
        <p:sp>
          <p:nvSpPr>
            <p:cNvPr id="129" name="TextBox 129"/>
            <p:cNvSpPr txBox="1"/>
            <p:nvPr/>
          </p:nvSpPr>
          <p:spPr>
            <a:xfrm>
              <a:off x="0" y="0"/>
              <a:ext cx="19507200" cy="6827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1E293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Every decision is recorded in an auditable trail</a:t>
              </a:r>
            </a:p>
          </p:txBody>
        </p:sp>
      </p:grpSp>
      <p:grpSp>
        <p:nvGrpSpPr>
          <p:cNvPr id="130" name="Group 130"/>
          <p:cNvGrpSpPr/>
          <p:nvPr/>
        </p:nvGrpSpPr>
        <p:grpSpPr>
          <a:xfrm>
            <a:off x="1434851" y="9043673"/>
            <a:ext cx="14630400" cy="498853"/>
            <a:chOff x="0" y="0"/>
            <a:chExt cx="19507200" cy="665137"/>
          </a:xfrm>
        </p:grpSpPr>
        <p:sp>
          <p:nvSpPr>
            <p:cNvPr id="131" name="Freeform 131"/>
            <p:cNvSpPr/>
            <p:nvPr/>
          </p:nvSpPr>
          <p:spPr>
            <a:xfrm>
              <a:off x="0" y="0"/>
              <a:ext cx="19507200" cy="665137"/>
            </a:xfrm>
            <a:custGeom>
              <a:avLst/>
              <a:gdLst/>
              <a:ahLst/>
              <a:cxnLst/>
              <a:rect l="l" t="t" r="r" b="b"/>
              <a:pathLst>
                <a:path w="19507200" h="665137">
                  <a:moveTo>
                    <a:pt x="0" y="0"/>
                  </a:moveTo>
                  <a:lnTo>
                    <a:pt x="19507200" y="0"/>
                  </a:lnTo>
                  <a:lnTo>
                    <a:pt x="19507200" y="665137"/>
                  </a:lnTo>
                  <a:lnTo>
                    <a:pt x="0" y="66513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25633" b="-517284"/>
              </a:stretch>
            </a:blipFill>
          </p:spPr>
        </p:sp>
        <p:sp>
          <p:nvSpPr>
            <p:cNvPr id="132" name="TextBox 132"/>
            <p:cNvSpPr txBox="1"/>
            <p:nvPr/>
          </p:nvSpPr>
          <p:spPr>
            <a:xfrm>
              <a:off x="0" y="0"/>
              <a:ext cx="19507200" cy="6651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Public transparency for officials, MPs and citizens.</a:t>
              </a:r>
            </a:p>
          </p:txBody>
        </p:sp>
      </p:grpSp>
      <p:grpSp>
        <p:nvGrpSpPr>
          <p:cNvPr id="133" name="Group 133"/>
          <p:cNvGrpSpPr/>
          <p:nvPr/>
        </p:nvGrpSpPr>
        <p:grpSpPr>
          <a:xfrm>
            <a:off x="11368792" y="4754623"/>
            <a:ext cx="548640" cy="548640"/>
            <a:chOff x="0" y="0"/>
            <a:chExt cx="731520" cy="731520"/>
          </a:xfrm>
        </p:grpSpPr>
        <p:sp>
          <p:nvSpPr>
            <p:cNvPr id="134" name="Freeform 134"/>
            <p:cNvSpPr/>
            <p:nvPr/>
          </p:nvSpPr>
          <p:spPr>
            <a:xfrm>
              <a:off x="0" y="0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135" name="TextBox 135"/>
            <p:cNvSpPr txBox="1"/>
            <p:nvPr/>
          </p:nvSpPr>
          <p:spPr>
            <a:xfrm>
              <a:off x="0" y="0"/>
              <a:ext cx="73152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40"/>
                </a:lnSpc>
              </a:pPr>
              <a:r>
                <a:rPr lang="en-US" sz="3200">
                  <a:solidFill>
                    <a:srgbClr val="0A2F5C"/>
                  </a:solidFill>
                  <a:latin typeface="Inter"/>
                  <a:ea typeface="Inter"/>
                  <a:cs typeface="Inter"/>
                  <a:sym typeface="Inter"/>
                </a:rPr>
                <a:t>→</a:t>
              </a:r>
            </a:p>
          </p:txBody>
        </p:sp>
      </p:grpSp>
      <p:sp>
        <p:nvSpPr>
          <p:cNvPr id="136" name="Freeform 136"/>
          <p:cNvSpPr/>
          <p:nvPr/>
        </p:nvSpPr>
        <p:spPr>
          <a:xfrm>
            <a:off x="14988540" y="181861"/>
            <a:ext cx="3203463" cy="1464440"/>
          </a:xfrm>
          <a:custGeom>
            <a:avLst/>
            <a:gdLst/>
            <a:ahLst/>
            <a:cxnLst/>
            <a:rect l="l" t="t" r="r" b="b"/>
            <a:pathLst>
              <a:path w="3203463" h="1464440">
                <a:moveTo>
                  <a:pt x="0" y="0"/>
                </a:moveTo>
                <a:lnTo>
                  <a:pt x="3203463" y="0"/>
                </a:lnTo>
                <a:lnTo>
                  <a:pt x="3203463" y="1464440"/>
                </a:lnTo>
                <a:lnTo>
                  <a:pt x="0" y="14644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grpSp>
        <p:nvGrpSpPr>
          <p:cNvPr id="137" name="Group 137"/>
          <p:cNvGrpSpPr/>
          <p:nvPr/>
        </p:nvGrpSpPr>
        <p:grpSpPr>
          <a:xfrm>
            <a:off x="722858" y="226337"/>
            <a:ext cx="2331190" cy="1296754"/>
            <a:chOff x="0" y="0"/>
            <a:chExt cx="1168702" cy="650105"/>
          </a:xfrm>
        </p:grpSpPr>
        <p:sp>
          <p:nvSpPr>
            <p:cNvPr id="138" name="Freeform 138"/>
            <p:cNvSpPr/>
            <p:nvPr/>
          </p:nvSpPr>
          <p:spPr>
            <a:xfrm>
              <a:off x="0" y="0"/>
              <a:ext cx="1168702" cy="650105"/>
            </a:xfrm>
            <a:custGeom>
              <a:avLst/>
              <a:gdLst/>
              <a:ahLst/>
              <a:cxnLst/>
              <a:rect l="l" t="t" r="r" b="b"/>
              <a:pathLst>
                <a:path w="1168702" h="650105">
                  <a:moveTo>
                    <a:pt x="584351" y="0"/>
                  </a:moveTo>
                  <a:cubicBezTo>
                    <a:pt x="261623" y="0"/>
                    <a:pt x="0" y="145531"/>
                    <a:pt x="0" y="325053"/>
                  </a:cubicBezTo>
                  <a:cubicBezTo>
                    <a:pt x="0" y="504574"/>
                    <a:pt x="261623" y="650105"/>
                    <a:pt x="584351" y="650105"/>
                  </a:cubicBezTo>
                  <a:cubicBezTo>
                    <a:pt x="907079" y="650105"/>
                    <a:pt x="1168702" y="504574"/>
                    <a:pt x="1168702" y="325053"/>
                  </a:cubicBezTo>
                  <a:cubicBezTo>
                    <a:pt x="1168702" y="145531"/>
                    <a:pt x="907079" y="0"/>
                    <a:pt x="584351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39" name="TextBox 139"/>
            <p:cNvSpPr txBox="1"/>
            <p:nvPr/>
          </p:nvSpPr>
          <p:spPr>
            <a:xfrm>
              <a:off x="109566" y="-43828"/>
              <a:ext cx="949570" cy="6329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530"/>
                </a:lnSpc>
              </a:pPr>
              <a:r>
                <a:rPr lang="en-US" sz="4664">
                  <a:solidFill>
                    <a:srgbClr val="0A2F5C"/>
                  </a:solidFill>
                  <a:latin typeface="Bebas Neue Cyrillic"/>
                  <a:ea typeface="Bebas Neue Cyrillic"/>
                  <a:cs typeface="Bebas Neue Cyrillic"/>
                  <a:sym typeface="Bebas Neue Cyrillic"/>
                </a:rPr>
                <a:t>DietCode</a:t>
              </a:r>
            </a:p>
          </p:txBody>
        </p:sp>
      </p:grpSp>
      <p:sp>
        <p:nvSpPr>
          <p:cNvPr id="140" name="Freeform 140"/>
          <p:cNvSpPr/>
          <p:nvPr/>
        </p:nvSpPr>
        <p:spPr>
          <a:xfrm>
            <a:off x="4137183" y="302144"/>
            <a:ext cx="10508457" cy="863457"/>
          </a:xfrm>
          <a:custGeom>
            <a:avLst/>
            <a:gdLst/>
            <a:ahLst/>
            <a:cxnLst/>
            <a:rect l="l" t="t" r="r" b="b"/>
            <a:pathLst>
              <a:path w="10508457" h="863457">
                <a:moveTo>
                  <a:pt x="0" y="0"/>
                </a:moveTo>
                <a:lnTo>
                  <a:pt x="10508457" y="0"/>
                </a:lnTo>
                <a:lnTo>
                  <a:pt x="10508457" y="863457"/>
                </a:lnTo>
                <a:lnTo>
                  <a:pt x="0" y="86345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grpSp>
        <p:nvGrpSpPr>
          <p:cNvPr id="141" name="Group 141"/>
          <p:cNvGrpSpPr/>
          <p:nvPr/>
        </p:nvGrpSpPr>
        <p:grpSpPr>
          <a:xfrm>
            <a:off x="0" y="9688830"/>
            <a:ext cx="18288000" cy="768096"/>
            <a:chOff x="0" y="0"/>
            <a:chExt cx="24384000" cy="1024128"/>
          </a:xfrm>
        </p:grpSpPr>
        <p:sp>
          <p:nvSpPr>
            <p:cNvPr id="142" name="Freeform 142"/>
            <p:cNvSpPr/>
            <p:nvPr/>
          </p:nvSpPr>
          <p:spPr>
            <a:xfrm>
              <a:off x="0" y="0"/>
              <a:ext cx="24384000" cy="1024128"/>
            </a:xfrm>
            <a:custGeom>
              <a:avLst/>
              <a:gdLst/>
              <a:ahLst/>
              <a:cxnLst/>
              <a:rect l="l" t="t" r="r" b="b"/>
              <a:pathLst>
                <a:path w="24384000" h="1024128">
                  <a:moveTo>
                    <a:pt x="0" y="0"/>
                  </a:moveTo>
                  <a:lnTo>
                    <a:pt x="24384000" y="0"/>
                  </a:lnTo>
                  <a:lnTo>
                    <a:pt x="2438400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1B3A5F"/>
            </a:solidFill>
          </p:spPr>
        </p:sp>
      </p:grpSp>
      <p:grpSp>
        <p:nvGrpSpPr>
          <p:cNvPr id="143" name="Group 143"/>
          <p:cNvGrpSpPr/>
          <p:nvPr/>
        </p:nvGrpSpPr>
        <p:grpSpPr>
          <a:xfrm>
            <a:off x="16459200" y="9633337"/>
            <a:ext cx="1280160" cy="653663"/>
            <a:chOff x="0" y="0"/>
            <a:chExt cx="1706880" cy="871550"/>
          </a:xfrm>
        </p:grpSpPr>
        <p:sp>
          <p:nvSpPr>
            <p:cNvPr id="144" name="Freeform 144"/>
            <p:cNvSpPr/>
            <p:nvPr/>
          </p:nvSpPr>
          <p:spPr>
            <a:xfrm>
              <a:off x="0" y="0"/>
              <a:ext cx="1706880" cy="871550"/>
            </a:xfrm>
            <a:custGeom>
              <a:avLst/>
              <a:gdLst/>
              <a:ahLst/>
              <a:cxnLst/>
              <a:rect l="l" t="t" r="r" b="b"/>
              <a:pathLst>
                <a:path w="1706880" h="871550">
                  <a:moveTo>
                    <a:pt x="0" y="0"/>
                  </a:moveTo>
                  <a:lnTo>
                    <a:pt x="1706880" y="0"/>
                  </a:lnTo>
                  <a:lnTo>
                    <a:pt x="1706880" y="871550"/>
                  </a:lnTo>
                  <a:lnTo>
                    <a:pt x="0" y="8715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r="-26982" b="-17506"/>
              </a:stretch>
            </a:blipFill>
          </p:spPr>
        </p:sp>
        <p:sp>
          <p:nvSpPr>
            <p:cNvPr id="145" name="TextBox 145"/>
            <p:cNvSpPr txBox="1"/>
            <p:nvPr/>
          </p:nvSpPr>
          <p:spPr>
            <a:xfrm>
              <a:off x="0" y="0"/>
              <a:ext cx="1706880" cy="8715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04</a:t>
              </a:r>
            </a:p>
          </p:txBody>
        </p:sp>
      </p:grpSp>
      <p:sp>
        <p:nvSpPr>
          <p:cNvPr id="146" name="TextBox 146"/>
          <p:cNvSpPr txBox="1"/>
          <p:nvPr/>
        </p:nvSpPr>
        <p:spPr>
          <a:xfrm>
            <a:off x="1280160" y="2194303"/>
            <a:ext cx="4206240" cy="91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b="1">
                <a:solidFill>
                  <a:srgbClr val="1E293B"/>
                </a:solidFill>
                <a:latin typeface="Inter Bold"/>
                <a:ea typeface="Inter Bold"/>
                <a:cs typeface="Inter Bold"/>
                <a:sym typeface="Inter Bold"/>
              </a:rPr>
              <a:t>PROJECT APPROVED +</a:t>
            </a:r>
          </a:p>
          <a:p>
            <a:pPr algn="l">
              <a:lnSpc>
                <a:spcPts val="2639"/>
              </a:lnSpc>
            </a:pPr>
            <a:r>
              <a:rPr lang="en-US" sz="2199" b="1">
                <a:solidFill>
                  <a:srgbClr val="1E293B"/>
                </a:solidFill>
                <a:latin typeface="Inter Bold"/>
                <a:ea typeface="Inter Bold"/>
                <a:cs typeface="Inter Bold"/>
                <a:sym typeface="Inter Bold"/>
              </a:rPr>
              <a:t>BUDGET ALLOCATED</a:t>
            </a:r>
          </a:p>
        </p:txBody>
      </p:sp>
      <p:sp>
        <p:nvSpPr>
          <p:cNvPr id="147" name="TextBox 147"/>
          <p:cNvSpPr txBox="1"/>
          <p:nvPr/>
        </p:nvSpPr>
        <p:spPr>
          <a:xfrm>
            <a:off x="6894576" y="2194303"/>
            <a:ext cx="4206240" cy="91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b="1">
                <a:solidFill>
                  <a:srgbClr val="1E293B"/>
                </a:solidFill>
                <a:latin typeface="Inter Bold"/>
                <a:ea typeface="Inter Bold"/>
                <a:cs typeface="Inter Bold"/>
                <a:sym typeface="Inter Bold"/>
              </a:rPr>
              <a:t>FUNDS RELEASED FOR</a:t>
            </a:r>
          </a:p>
          <a:p>
            <a:pPr algn="l">
              <a:lnSpc>
                <a:spcPts val="2639"/>
              </a:lnSpc>
            </a:pPr>
            <a:r>
              <a:rPr lang="en-US" sz="2199" b="1">
                <a:solidFill>
                  <a:srgbClr val="1E293B"/>
                </a:solidFill>
                <a:latin typeface="Inter Bold"/>
                <a:ea typeface="Inter Bold"/>
                <a:cs typeface="Inter Bold"/>
                <a:sym typeface="Inter Bold"/>
              </a:rPr>
              <a:t>CURRENT STAGE</a:t>
            </a:r>
          </a:p>
        </p:txBody>
      </p:sp>
      <p:sp>
        <p:nvSpPr>
          <p:cNvPr id="148" name="TextBox 148"/>
          <p:cNvSpPr txBox="1"/>
          <p:nvPr/>
        </p:nvSpPr>
        <p:spPr>
          <a:xfrm>
            <a:off x="12508992" y="2194303"/>
            <a:ext cx="4206240" cy="91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b="1">
                <a:solidFill>
                  <a:srgbClr val="1E293B"/>
                </a:solidFill>
                <a:latin typeface="Inter Bold"/>
                <a:ea typeface="Inter Bold"/>
                <a:cs typeface="Inter Bold"/>
                <a:sym typeface="Inter Bold"/>
              </a:rPr>
              <a:t>WORK COMPLETED +</a:t>
            </a:r>
          </a:p>
          <a:p>
            <a:pPr algn="l">
              <a:lnSpc>
                <a:spcPts val="2639"/>
              </a:lnSpc>
            </a:pPr>
            <a:r>
              <a:rPr lang="en-US" sz="2199" b="1">
                <a:solidFill>
                  <a:srgbClr val="1E293B"/>
                </a:solidFill>
                <a:latin typeface="Inter Bold"/>
                <a:ea typeface="Inter Bold"/>
                <a:cs typeface="Inter Bold"/>
                <a:sym typeface="Inter Bold"/>
              </a:rPr>
              <a:t>EVIDENCE SUBMITTED</a:t>
            </a:r>
          </a:p>
        </p:txBody>
      </p:sp>
      <p:grpSp>
        <p:nvGrpSpPr>
          <p:cNvPr id="149" name="Group 149"/>
          <p:cNvGrpSpPr/>
          <p:nvPr/>
        </p:nvGrpSpPr>
        <p:grpSpPr>
          <a:xfrm>
            <a:off x="548640" y="9688830"/>
            <a:ext cx="12801600" cy="589026"/>
            <a:chOff x="0" y="0"/>
            <a:chExt cx="17068800" cy="785368"/>
          </a:xfrm>
        </p:grpSpPr>
        <p:sp>
          <p:nvSpPr>
            <p:cNvPr id="150" name="Freeform 150"/>
            <p:cNvSpPr/>
            <p:nvPr/>
          </p:nvSpPr>
          <p:spPr>
            <a:xfrm>
              <a:off x="0" y="0"/>
              <a:ext cx="17068800" cy="785368"/>
            </a:xfrm>
            <a:custGeom>
              <a:avLst/>
              <a:gdLst/>
              <a:ahLst/>
              <a:cxnLst/>
              <a:rect l="l" t="t" r="r" b="b"/>
              <a:pathLst>
                <a:path w="17068800" h="785368">
                  <a:moveTo>
                    <a:pt x="0" y="0"/>
                  </a:moveTo>
                  <a:lnTo>
                    <a:pt x="17068800" y="0"/>
                  </a:lnTo>
                  <a:lnTo>
                    <a:pt x="17068800" y="785368"/>
                  </a:lnTo>
                  <a:lnTo>
                    <a:pt x="0" y="785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58277" b="-388678"/>
              </a:stretch>
            </a:blipFill>
          </p:spPr>
        </p:sp>
        <p:sp>
          <p:nvSpPr>
            <p:cNvPr id="151" name="TextBox 151"/>
            <p:cNvSpPr txBox="1"/>
            <p:nvPr/>
          </p:nvSpPr>
          <p:spPr>
            <a:xfrm>
              <a:off x="0" y="-9525"/>
              <a:ext cx="17068800" cy="79489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MPLADS ArthSetu  ·  SIH 26102  ·  Idea Submission</a:t>
              </a:r>
            </a:p>
          </p:txBody>
        </p:sp>
      </p:grpSp>
      <p:grpSp>
        <p:nvGrpSpPr>
          <p:cNvPr id="152" name="Group 152"/>
          <p:cNvGrpSpPr/>
          <p:nvPr/>
        </p:nvGrpSpPr>
        <p:grpSpPr>
          <a:xfrm>
            <a:off x="0" y="9705346"/>
            <a:ext cx="18288000" cy="665855"/>
            <a:chOff x="0" y="0"/>
            <a:chExt cx="24384000" cy="887806"/>
          </a:xfrm>
        </p:grpSpPr>
        <p:sp>
          <p:nvSpPr>
            <p:cNvPr id="153" name="Freeform 153"/>
            <p:cNvSpPr/>
            <p:nvPr/>
          </p:nvSpPr>
          <p:spPr>
            <a:xfrm>
              <a:off x="0" y="0"/>
              <a:ext cx="24384000" cy="887806"/>
            </a:xfrm>
            <a:custGeom>
              <a:avLst/>
              <a:gdLst/>
              <a:ahLst/>
              <a:cxnLst/>
              <a:rect l="l" t="t" r="r" b="b"/>
              <a:pathLst>
                <a:path w="24384000" h="887806">
                  <a:moveTo>
                    <a:pt x="0" y="0"/>
                  </a:moveTo>
                  <a:lnTo>
                    <a:pt x="24384000" y="0"/>
                  </a:lnTo>
                  <a:lnTo>
                    <a:pt x="24384000" y="887806"/>
                  </a:lnTo>
                  <a:lnTo>
                    <a:pt x="0" y="887806"/>
                  </a:lnTo>
                  <a:close/>
                </a:path>
              </a:pathLst>
            </a:custGeom>
            <a:solidFill>
              <a:srgbClr val="1B3A5F"/>
            </a:solidFill>
          </p:spPr>
        </p:sp>
      </p:grpSp>
      <p:grpSp>
        <p:nvGrpSpPr>
          <p:cNvPr id="154" name="Group 154"/>
          <p:cNvGrpSpPr/>
          <p:nvPr/>
        </p:nvGrpSpPr>
        <p:grpSpPr>
          <a:xfrm>
            <a:off x="16571221" y="9714871"/>
            <a:ext cx="1280160" cy="866329"/>
            <a:chOff x="0" y="0"/>
            <a:chExt cx="1706880" cy="1155105"/>
          </a:xfrm>
        </p:grpSpPr>
        <p:sp>
          <p:nvSpPr>
            <p:cNvPr id="155" name="Freeform 155"/>
            <p:cNvSpPr/>
            <p:nvPr/>
          </p:nvSpPr>
          <p:spPr>
            <a:xfrm>
              <a:off x="0" y="0"/>
              <a:ext cx="1706880" cy="1155105"/>
            </a:xfrm>
            <a:custGeom>
              <a:avLst/>
              <a:gdLst/>
              <a:ahLst/>
              <a:cxnLst/>
              <a:rect l="l" t="t" r="r" b="b"/>
              <a:pathLst>
                <a:path w="1706880" h="1155105">
                  <a:moveTo>
                    <a:pt x="0" y="0"/>
                  </a:moveTo>
                  <a:lnTo>
                    <a:pt x="1706880" y="0"/>
                  </a:lnTo>
                  <a:lnTo>
                    <a:pt x="1706880" y="1155105"/>
                  </a:lnTo>
                  <a:lnTo>
                    <a:pt x="0" y="115510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r="-26982" b="11338"/>
              </a:stretch>
            </a:blipFill>
          </p:spPr>
        </p:sp>
        <p:sp>
          <p:nvSpPr>
            <p:cNvPr id="156" name="TextBox 156"/>
            <p:cNvSpPr txBox="1"/>
            <p:nvPr/>
          </p:nvSpPr>
          <p:spPr>
            <a:xfrm>
              <a:off x="0" y="0"/>
              <a:ext cx="1706880" cy="11551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04</a:t>
              </a:r>
            </a:p>
            <a:p>
              <a:pPr algn="r">
                <a:lnSpc>
                  <a:spcPts val="2879"/>
                </a:lnSpc>
              </a:pPr>
              <a:endParaRPr lang="en-US" sz="2400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endParaRPr>
            </a:p>
          </p:txBody>
        </p:sp>
      </p:grpSp>
      <p:grpSp>
        <p:nvGrpSpPr>
          <p:cNvPr id="157" name="Group 157"/>
          <p:cNvGrpSpPr/>
          <p:nvPr/>
        </p:nvGrpSpPr>
        <p:grpSpPr>
          <a:xfrm>
            <a:off x="548640" y="9752971"/>
            <a:ext cx="12801600" cy="524885"/>
            <a:chOff x="0" y="0"/>
            <a:chExt cx="17068800" cy="699846"/>
          </a:xfrm>
        </p:grpSpPr>
        <p:sp>
          <p:nvSpPr>
            <p:cNvPr id="158" name="Freeform 158"/>
            <p:cNvSpPr/>
            <p:nvPr/>
          </p:nvSpPr>
          <p:spPr>
            <a:xfrm>
              <a:off x="0" y="0"/>
              <a:ext cx="17068800" cy="699846"/>
            </a:xfrm>
            <a:custGeom>
              <a:avLst/>
              <a:gdLst/>
              <a:ahLst/>
              <a:cxnLst/>
              <a:rect l="l" t="t" r="r" b="b"/>
              <a:pathLst>
                <a:path w="17068800" h="699846">
                  <a:moveTo>
                    <a:pt x="0" y="0"/>
                  </a:moveTo>
                  <a:lnTo>
                    <a:pt x="17068800" y="0"/>
                  </a:lnTo>
                  <a:lnTo>
                    <a:pt x="17068800" y="699846"/>
                  </a:lnTo>
                  <a:lnTo>
                    <a:pt x="0" y="69984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02059" b="-448395"/>
              </a:stretch>
            </a:blipFill>
          </p:spPr>
        </p:sp>
        <p:sp>
          <p:nvSpPr>
            <p:cNvPr id="159" name="TextBox 159"/>
            <p:cNvSpPr txBox="1"/>
            <p:nvPr/>
          </p:nvSpPr>
          <p:spPr>
            <a:xfrm>
              <a:off x="0" y="-9525"/>
              <a:ext cx="17068800" cy="70937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ArthSetu  ·  SIH 26102  ·  Idea Submission</a:t>
              </a:r>
            </a:p>
          </p:txBody>
        </p:sp>
      </p:grp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73152"/>
            <a:chOff x="0" y="0"/>
            <a:chExt cx="24384000" cy="9753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97536"/>
            </a:xfrm>
            <a:custGeom>
              <a:avLst/>
              <a:gdLst/>
              <a:ahLst/>
              <a:cxnLst/>
              <a:rect l="l" t="t" r="r" b="b"/>
              <a:pathLst>
                <a:path w="24384000" h="97536">
                  <a:moveTo>
                    <a:pt x="0" y="0"/>
                  </a:moveTo>
                  <a:lnTo>
                    <a:pt x="24384000" y="0"/>
                  </a:lnTo>
                  <a:lnTo>
                    <a:pt x="2438400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5B4B8A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731520" y="1189101"/>
            <a:ext cx="16824960" cy="457200"/>
            <a:chOff x="0" y="0"/>
            <a:chExt cx="22433280" cy="6096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433280" cy="609600"/>
            </a:xfrm>
            <a:custGeom>
              <a:avLst/>
              <a:gdLst/>
              <a:ahLst/>
              <a:cxnLst/>
              <a:rect l="l" t="t" r="r" b="b"/>
              <a:pathLst>
                <a:path w="22433280" h="609600">
                  <a:moveTo>
                    <a:pt x="0" y="0"/>
                  </a:moveTo>
                  <a:lnTo>
                    <a:pt x="22433280" y="0"/>
                  </a:lnTo>
                  <a:lnTo>
                    <a:pt x="2243328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67049" b="-667049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22433280" cy="6096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One verified system — better decisions for every stakeholder.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535943" y="1827276"/>
            <a:ext cx="3317243" cy="2494283"/>
            <a:chOff x="0" y="0"/>
            <a:chExt cx="4422991" cy="332571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423029" cy="3325749"/>
            </a:xfrm>
            <a:custGeom>
              <a:avLst/>
              <a:gdLst/>
              <a:ahLst/>
              <a:cxnLst/>
              <a:rect l="l" t="t" r="r" b="b"/>
              <a:pathLst>
                <a:path w="4423029" h="3325749">
                  <a:moveTo>
                    <a:pt x="0" y="147828"/>
                  </a:moveTo>
                  <a:cubicBezTo>
                    <a:pt x="0" y="66167"/>
                    <a:pt x="66167" y="0"/>
                    <a:pt x="147828" y="0"/>
                  </a:cubicBezTo>
                  <a:lnTo>
                    <a:pt x="4275201" y="0"/>
                  </a:lnTo>
                  <a:cubicBezTo>
                    <a:pt x="4356862" y="0"/>
                    <a:pt x="4423029" y="66167"/>
                    <a:pt x="4423029" y="147828"/>
                  </a:cubicBezTo>
                  <a:lnTo>
                    <a:pt x="4423029" y="3177921"/>
                  </a:lnTo>
                  <a:cubicBezTo>
                    <a:pt x="4423029" y="3259582"/>
                    <a:pt x="4356862" y="3325749"/>
                    <a:pt x="4275201" y="3325749"/>
                  </a:cubicBezTo>
                  <a:lnTo>
                    <a:pt x="147828" y="3325749"/>
                  </a:lnTo>
                  <a:cubicBezTo>
                    <a:pt x="66167" y="3325749"/>
                    <a:pt x="0" y="3259582"/>
                    <a:pt x="0" y="3177921"/>
                  </a:cubicBezTo>
                  <a:close/>
                </a:path>
              </a:pathLst>
            </a:custGeom>
            <a:solidFill>
              <a:srgbClr val="F8FAFC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48640" y="1839973"/>
            <a:ext cx="3291840" cy="91440"/>
            <a:chOff x="0" y="0"/>
            <a:chExt cx="4389120" cy="12192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389120" cy="121920"/>
            </a:xfrm>
            <a:custGeom>
              <a:avLst/>
              <a:gdLst/>
              <a:ahLst/>
              <a:cxnLst/>
              <a:rect l="l" t="t" r="r" b="b"/>
              <a:pathLst>
                <a:path w="4389120" h="121920">
                  <a:moveTo>
                    <a:pt x="0" y="0"/>
                  </a:moveTo>
                  <a:lnTo>
                    <a:pt x="4389120" y="0"/>
                  </a:lnTo>
                  <a:lnTo>
                    <a:pt x="438912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722858" y="2687288"/>
            <a:ext cx="2999232" cy="640080"/>
            <a:chOff x="0" y="0"/>
            <a:chExt cx="3998976" cy="85344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998976" cy="853440"/>
            </a:xfrm>
            <a:custGeom>
              <a:avLst/>
              <a:gdLst/>
              <a:ahLst/>
              <a:cxnLst/>
              <a:rect l="l" t="t" r="r" b="b"/>
              <a:pathLst>
                <a:path w="3998976" h="853440">
                  <a:moveTo>
                    <a:pt x="0" y="0"/>
                  </a:moveTo>
                  <a:lnTo>
                    <a:pt x="3998976" y="0"/>
                  </a:lnTo>
                  <a:lnTo>
                    <a:pt x="3998976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1301" b="-41301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0"/>
              <a:ext cx="3998976" cy="8534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39"/>
                </a:lnSpc>
              </a:pPr>
              <a:r>
                <a:rPr lang="en-US" sz="2199" b="1">
                  <a:solidFill>
                    <a:srgbClr val="1E293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Implementing Agency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94944" y="3460718"/>
            <a:ext cx="2999232" cy="731520"/>
            <a:chOff x="0" y="0"/>
            <a:chExt cx="3998976" cy="97536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998976" cy="975360"/>
            </a:xfrm>
            <a:custGeom>
              <a:avLst/>
              <a:gdLst/>
              <a:ahLst/>
              <a:cxnLst/>
              <a:rect l="l" t="t" r="r" b="b"/>
              <a:pathLst>
                <a:path w="3998976" h="975360">
                  <a:moveTo>
                    <a:pt x="0" y="0"/>
                  </a:moveTo>
                  <a:lnTo>
                    <a:pt x="3998976" y="0"/>
                  </a:lnTo>
                  <a:lnTo>
                    <a:pt x="3998976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9166" b="-189166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0"/>
              <a:ext cx="3998976" cy="9753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Clear milestone evidence means fewer disputed claims.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047239" y="1827276"/>
            <a:ext cx="3317243" cy="2494283"/>
            <a:chOff x="0" y="0"/>
            <a:chExt cx="4422991" cy="332571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423029" cy="3325749"/>
            </a:xfrm>
            <a:custGeom>
              <a:avLst/>
              <a:gdLst/>
              <a:ahLst/>
              <a:cxnLst/>
              <a:rect l="l" t="t" r="r" b="b"/>
              <a:pathLst>
                <a:path w="4423029" h="3325749">
                  <a:moveTo>
                    <a:pt x="0" y="147828"/>
                  </a:moveTo>
                  <a:cubicBezTo>
                    <a:pt x="0" y="66167"/>
                    <a:pt x="66167" y="0"/>
                    <a:pt x="147828" y="0"/>
                  </a:cubicBezTo>
                  <a:lnTo>
                    <a:pt x="4275201" y="0"/>
                  </a:lnTo>
                  <a:cubicBezTo>
                    <a:pt x="4356862" y="0"/>
                    <a:pt x="4423029" y="66167"/>
                    <a:pt x="4423029" y="147828"/>
                  </a:cubicBezTo>
                  <a:lnTo>
                    <a:pt x="4423029" y="3177921"/>
                  </a:lnTo>
                  <a:cubicBezTo>
                    <a:pt x="4423029" y="3259582"/>
                    <a:pt x="4356862" y="3325749"/>
                    <a:pt x="4275201" y="3325749"/>
                  </a:cubicBezTo>
                  <a:lnTo>
                    <a:pt x="147828" y="3325749"/>
                  </a:lnTo>
                  <a:cubicBezTo>
                    <a:pt x="66167" y="3325749"/>
                    <a:pt x="0" y="3259582"/>
                    <a:pt x="0" y="3177921"/>
                  </a:cubicBezTo>
                  <a:close/>
                </a:path>
              </a:pathLst>
            </a:custGeom>
            <a:blipFill>
              <a:blip r:embed="rId3"/>
              <a:stretch>
                <a:fillRect t="-27579" b="-27579"/>
              </a:stretch>
            </a:blipFill>
            <a:ln w="254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4059936" y="1839973"/>
            <a:ext cx="3291840" cy="91440"/>
            <a:chOff x="0" y="0"/>
            <a:chExt cx="4389120" cy="12192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389120" cy="121920"/>
            </a:xfrm>
            <a:custGeom>
              <a:avLst/>
              <a:gdLst/>
              <a:ahLst/>
              <a:cxnLst/>
              <a:rect l="l" t="t" r="r" b="b"/>
              <a:pathLst>
                <a:path w="4389120" h="121920">
                  <a:moveTo>
                    <a:pt x="0" y="0"/>
                  </a:moveTo>
                  <a:lnTo>
                    <a:pt x="4389120" y="0"/>
                  </a:lnTo>
                  <a:lnTo>
                    <a:pt x="438912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4261104" y="2614070"/>
            <a:ext cx="2999232" cy="640080"/>
            <a:chOff x="0" y="0"/>
            <a:chExt cx="3998976" cy="85344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998976" cy="853440"/>
            </a:xfrm>
            <a:custGeom>
              <a:avLst/>
              <a:gdLst/>
              <a:ahLst/>
              <a:cxnLst/>
              <a:rect l="l" t="t" r="r" b="b"/>
              <a:pathLst>
                <a:path w="3998976" h="853440">
                  <a:moveTo>
                    <a:pt x="0" y="0"/>
                  </a:moveTo>
                  <a:lnTo>
                    <a:pt x="3998976" y="0"/>
                  </a:lnTo>
                  <a:lnTo>
                    <a:pt x="3998976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1301" b="-41301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0"/>
              <a:ext cx="3998976" cy="8534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39"/>
                </a:lnSpc>
              </a:pPr>
              <a:r>
                <a:rPr lang="en-US" sz="2199" b="1">
                  <a:solidFill>
                    <a:srgbClr val="1E293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District Authority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206878" y="3444650"/>
            <a:ext cx="2999232" cy="731520"/>
            <a:chOff x="0" y="0"/>
            <a:chExt cx="3998976" cy="97536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3998976" cy="975360"/>
            </a:xfrm>
            <a:custGeom>
              <a:avLst/>
              <a:gdLst/>
              <a:ahLst/>
              <a:cxnLst/>
              <a:rect l="l" t="t" r="r" b="b"/>
              <a:pathLst>
                <a:path w="3998976" h="975360">
                  <a:moveTo>
                    <a:pt x="0" y="0"/>
                  </a:moveTo>
                  <a:lnTo>
                    <a:pt x="3998976" y="0"/>
                  </a:lnTo>
                  <a:lnTo>
                    <a:pt x="3998976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9888" b="-29888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0" y="0"/>
              <a:ext cx="3998976" cy="9753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Risk-ranked projects focus attention where it matters most.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558535" y="1827276"/>
            <a:ext cx="3317243" cy="2494283"/>
            <a:chOff x="0" y="0"/>
            <a:chExt cx="4422991" cy="3325711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4423029" cy="3325749"/>
            </a:xfrm>
            <a:custGeom>
              <a:avLst/>
              <a:gdLst/>
              <a:ahLst/>
              <a:cxnLst/>
              <a:rect l="l" t="t" r="r" b="b"/>
              <a:pathLst>
                <a:path w="4423029" h="3325749">
                  <a:moveTo>
                    <a:pt x="0" y="147828"/>
                  </a:moveTo>
                  <a:cubicBezTo>
                    <a:pt x="0" y="66167"/>
                    <a:pt x="66167" y="0"/>
                    <a:pt x="147828" y="0"/>
                  </a:cubicBezTo>
                  <a:lnTo>
                    <a:pt x="4275201" y="0"/>
                  </a:lnTo>
                  <a:cubicBezTo>
                    <a:pt x="4356862" y="0"/>
                    <a:pt x="4423029" y="66167"/>
                    <a:pt x="4423029" y="147828"/>
                  </a:cubicBezTo>
                  <a:lnTo>
                    <a:pt x="4423029" y="3177921"/>
                  </a:lnTo>
                  <a:cubicBezTo>
                    <a:pt x="4423029" y="3259582"/>
                    <a:pt x="4356862" y="3325749"/>
                    <a:pt x="4275201" y="3325749"/>
                  </a:cubicBezTo>
                  <a:lnTo>
                    <a:pt x="147828" y="3325749"/>
                  </a:lnTo>
                  <a:cubicBezTo>
                    <a:pt x="66167" y="3325749"/>
                    <a:pt x="0" y="3259582"/>
                    <a:pt x="0" y="3177921"/>
                  </a:cubicBezTo>
                  <a:close/>
                </a:path>
              </a:pathLst>
            </a:custGeom>
            <a:solidFill>
              <a:srgbClr val="F8FAFC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7571232" y="1839973"/>
            <a:ext cx="3291840" cy="91440"/>
            <a:chOff x="0" y="0"/>
            <a:chExt cx="4389120" cy="12192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4389120" cy="121920"/>
            </a:xfrm>
            <a:custGeom>
              <a:avLst/>
              <a:gdLst/>
              <a:ahLst/>
              <a:cxnLst/>
              <a:rect l="l" t="t" r="r" b="b"/>
              <a:pathLst>
                <a:path w="4389120" h="121920">
                  <a:moveTo>
                    <a:pt x="0" y="0"/>
                  </a:moveTo>
                  <a:lnTo>
                    <a:pt x="4389120" y="0"/>
                  </a:lnTo>
                  <a:lnTo>
                    <a:pt x="438912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7718174" y="2614070"/>
            <a:ext cx="2999232" cy="640080"/>
            <a:chOff x="0" y="0"/>
            <a:chExt cx="3998976" cy="85344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3998976" cy="853440"/>
            </a:xfrm>
            <a:custGeom>
              <a:avLst/>
              <a:gdLst/>
              <a:ahLst/>
              <a:cxnLst/>
              <a:rect l="l" t="t" r="r" b="b"/>
              <a:pathLst>
                <a:path w="3998976" h="853440">
                  <a:moveTo>
                    <a:pt x="0" y="0"/>
                  </a:moveTo>
                  <a:lnTo>
                    <a:pt x="3998976" y="0"/>
                  </a:lnTo>
                  <a:lnTo>
                    <a:pt x="3998976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1301" b="-41301"/>
              </a:stretch>
            </a:blipFill>
          </p:spPr>
        </p:sp>
        <p:sp>
          <p:nvSpPr>
            <p:cNvPr id="33" name="TextBox 33"/>
            <p:cNvSpPr txBox="1"/>
            <p:nvPr/>
          </p:nvSpPr>
          <p:spPr>
            <a:xfrm>
              <a:off x="0" y="0"/>
              <a:ext cx="3998976" cy="8534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39"/>
                </a:lnSpc>
              </a:pPr>
              <a:r>
                <a:rPr lang="en-US" sz="2199" b="1">
                  <a:solidFill>
                    <a:srgbClr val="1E293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State / Ministry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7644384" y="3389533"/>
            <a:ext cx="2999232" cy="731520"/>
            <a:chOff x="0" y="0"/>
            <a:chExt cx="3998976" cy="97536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3998976" cy="975360"/>
            </a:xfrm>
            <a:custGeom>
              <a:avLst/>
              <a:gdLst/>
              <a:ahLst/>
              <a:cxnLst/>
              <a:rect l="l" t="t" r="r" b="b"/>
              <a:pathLst>
                <a:path w="3998976" h="975360">
                  <a:moveTo>
                    <a:pt x="0" y="0"/>
                  </a:moveTo>
                  <a:lnTo>
                    <a:pt x="3998976" y="0"/>
                  </a:lnTo>
                  <a:lnTo>
                    <a:pt x="3998976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9888" b="-29888"/>
              </a:stretch>
            </a:blipFill>
          </p:spPr>
        </p:sp>
        <p:sp>
          <p:nvSpPr>
            <p:cNvPr id="36" name="TextBox 36"/>
            <p:cNvSpPr txBox="1"/>
            <p:nvPr/>
          </p:nvSpPr>
          <p:spPr>
            <a:xfrm>
              <a:off x="0" y="0"/>
              <a:ext cx="3998976" cy="9753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Verified utilisation data across districts.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069831" y="1827276"/>
            <a:ext cx="3317243" cy="2494283"/>
            <a:chOff x="0" y="0"/>
            <a:chExt cx="4422991" cy="3325711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4423029" cy="3325749"/>
            </a:xfrm>
            <a:custGeom>
              <a:avLst/>
              <a:gdLst/>
              <a:ahLst/>
              <a:cxnLst/>
              <a:rect l="l" t="t" r="r" b="b"/>
              <a:pathLst>
                <a:path w="4423029" h="3325749">
                  <a:moveTo>
                    <a:pt x="0" y="147828"/>
                  </a:moveTo>
                  <a:cubicBezTo>
                    <a:pt x="0" y="66167"/>
                    <a:pt x="66167" y="0"/>
                    <a:pt x="147828" y="0"/>
                  </a:cubicBezTo>
                  <a:lnTo>
                    <a:pt x="4275201" y="0"/>
                  </a:lnTo>
                  <a:cubicBezTo>
                    <a:pt x="4356862" y="0"/>
                    <a:pt x="4423029" y="66167"/>
                    <a:pt x="4423029" y="147828"/>
                  </a:cubicBezTo>
                  <a:lnTo>
                    <a:pt x="4423029" y="3177921"/>
                  </a:lnTo>
                  <a:cubicBezTo>
                    <a:pt x="4423029" y="3259582"/>
                    <a:pt x="4356862" y="3325749"/>
                    <a:pt x="4275201" y="3325749"/>
                  </a:cubicBezTo>
                  <a:lnTo>
                    <a:pt x="147828" y="3325749"/>
                  </a:lnTo>
                  <a:cubicBezTo>
                    <a:pt x="66167" y="3325749"/>
                    <a:pt x="0" y="3259582"/>
                    <a:pt x="0" y="3177921"/>
                  </a:cubicBezTo>
                  <a:close/>
                </a:path>
              </a:pathLst>
            </a:custGeom>
            <a:solidFill>
              <a:srgbClr val="F8FAFC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id="39" name="Group 39"/>
          <p:cNvGrpSpPr/>
          <p:nvPr/>
        </p:nvGrpSpPr>
        <p:grpSpPr>
          <a:xfrm>
            <a:off x="11082528" y="1839973"/>
            <a:ext cx="3291840" cy="91440"/>
            <a:chOff x="0" y="0"/>
            <a:chExt cx="4389120" cy="12192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4389120" cy="121920"/>
            </a:xfrm>
            <a:custGeom>
              <a:avLst/>
              <a:gdLst/>
              <a:ahLst/>
              <a:cxnLst/>
              <a:rect l="l" t="t" r="r" b="b"/>
              <a:pathLst>
                <a:path w="4389120" h="121920">
                  <a:moveTo>
                    <a:pt x="0" y="0"/>
                  </a:moveTo>
                  <a:lnTo>
                    <a:pt x="4389120" y="0"/>
                  </a:lnTo>
                  <a:lnTo>
                    <a:pt x="438912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id="41" name="Group 41"/>
          <p:cNvGrpSpPr/>
          <p:nvPr/>
        </p:nvGrpSpPr>
        <p:grpSpPr>
          <a:xfrm>
            <a:off x="11228832" y="2614070"/>
            <a:ext cx="2999232" cy="640080"/>
            <a:chOff x="0" y="0"/>
            <a:chExt cx="3998976" cy="85344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3998976" cy="853440"/>
            </a:xfrm>
            <a:custGeom>
              <a:avLst/>
              <a:gdLst/>
              <a:ahLst/>
              <a:cxnLst/>
              <a:rect l="l" t="t" r="r" b="b"/>
              <a:pathLst>
                <a:path w="3998976" h="853440">
                  <a:moveTo>
                    <a:pt x="0" y="0"/>
                  </a:moveTo>
                  <a:lnTo>
                    <a:pt x="3998976" y="0"/>
                  </a:lnTo>
                  <a:lnTo>
                    <a:pt x="3998976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1301" b="-41301"/>
              </a:stretch>
            </a:blipFill>
          </p:spPr>
        </p:sp>
        <p:sp>
          <p:nvSpPr>
            <p:cNvPr id="43" name="TextBox 43"/>
            <p:cNvSpPr txBox="1"/>
            <p:nvPr/>
          </p:nvSpPr>
          <p:spPr>
            <a:xfrm>
              <a:off x="0" y="0"/>
              <a:ext cx="3998976" cy="8534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39"/>
                </a:lnSpc>
              </a:pPr>
              <a:r>
                <a:rPr lang="en-US" sz="2199" b="1">
                  <a:solidFill>
                    <a:srgbClr val="1E293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Member of Parliament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1228837" y="3460718"/>
            <a:ext cx="2999232" cy="731520"/>
            <a:chOff x="0" y="0"/>
            <a:chExt cx="3998976" cy="97536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3998976" cy="975360"/>
            </a:xfrm>
            <a:custGeom>
              <a:avLst/>
              <a:gdLst/>
              <a:ahLst/>
              <a:cxnLst/>
              <a:rect l="l" t="t" r="r" b="b"/>
              <a:pathLst>
                <a:path w="3998976" h="975360">
                  <a:moveTo>
                    <a:pt x="0" y="0"/>
                  </a:moveTo>
                  <a:lnTo>
                    <a:pt x="3998976" y="0"/>
                  </a:lnTo>
                  <a:lnTo>
                    <a:pt x="3998976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9888" b="-29888"/>
              </a:stretch>
            </a:blipFill>
          </p:spPr>
        </p:sp>
        <p:sp>
          <p:nvSpPr>
            <p:cNvPr id="46" name="TextBox 46"/>
            <p:cNvSpPr txBox="1"/>
            <p:nvPr/>
          </p:nvSpPr>
          <p:spPr>
            <a:xfrm>
              <a:off x="0" y="0"/>
              <a:ext cx="3998976" cy="9753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Confidence that approved works are actually delivered.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4581127" y="1827276"/>
            <a:ext cx="3317243" cy="2494283"/>
            <a:chOff x="0" y="0"/>
            <a:chExt cx="4422991" cy="3325711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4423029" cy="3325749"/>
            </a:xfrm>
            <a:custGeom>
              <a:avLst/>
              <a:gdLst/>
              <a:ahLst/>
              <a:cxnLst/>
              <a:rect l="l" t="t" r="r" b="b"/>
              <a:pathLst>
                <a:path w="4423029" h="3325749">
                  <a:moveTo>
                    <a:pt x="0" y="147828"/>
                  </a:moveTo>
                  <a:cubicBezTo>
                    <a:pt x="0" y="66167"/>
                    <a:pt x="66167" y="0"/>
                    <a:pt x="147828" y="0"/>
                  </a:cubicBezTo>
                  <a:lnTo>
                    <a:pt x="4275201" y="0"/>
                  </a:lnTo>
                  <a:cubicBezTo>
                    <a:pt x="4356862" y="0"/>
                    <a:pt x="4423029" y="66167"/>
                    <a:pt x="4423029" y="147828"/>
                  </a:cubicBezTo>
                  <a:lnTo>
                    <a:pt x="4423029" y="3177921"/>
                  </a:lnTo>
                  <a:cubicBezTo>
                    <a:pt x="4423029" y="3259582"/>
                    <a:pt x="4356862" y="3325749"/>
                    <a:pt x="4275201" y="3325749"/>
                  </a:cubicBezTo>
                  <a:lnTo>
                    <a:pt x="147828" y="3325749"/>
                  </a:lnTo>
                  <a:cubicBezTo>
                    <a:pt x="66167" y="3325749"/>
                    <a:pt x="0" y="3259582"/>
                    <a:pt x="0" y="3177921"/>
                  </a:cubicBezTo>
                  <a:close/>
                </a:path>
              </a:pathLst>
            </a:custGeom>
            <a:solidFill>
              <a:srgbClr val="F8FAFC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id="49" name="Group 49"/>
          <p:cNvGrpSpPr/>
          <p:nvPr/>
        </p:nvGrpSpPr>
        <p:grpSpPr>
          <a:xfrm>
            <a:off x="14593824" y="1839973"/>
            <a:ext cx="3291840" cy="91440"/>
            <a:chOff x="0" y="0"/>
            <a:chExt cx="4389120" cy="12192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4389120" cy="121920"/>
            </a:xfrm>
            <a:custGeom>
              <a:avLst/>
              <a:gdLst/>
              <a:ahLst/>
              <a:cxnLst/>
              <a:rect l="l" t="t" r="r" b="b"/>
              <a:pathLst>
                <a:path w="4389120" h="121920">
                  <a:moveTo>
                    <a:pt x="0" y="0"/>
                  </a:moveTo>
                  <a:lnTo>
                    <a:pt x="4389120" y="0"/>
                  </a:lnTo>
                  <a:lnTo>
                    <a:pt x="438912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id="51" name="Group 51"/>
          <p:cNvGrpSpPr/>
          <p:nvPr/>
        </p:nvGrpSpPr>
        <p:grpSpPr>
          <a:xfrm>
            <a:off x="14739499" y="2614070"/>
            <a:ext cx="2999232" cy="640080"/>
            <a:chOff x="0" y="0"/>
            <a:chExt cx="3998976" cy="85344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3998976" cy="853440"/>
            </a:xfrm>
            <a:custGeom>
              <a:avLst/>
              <a:gdLst/>
              <a:ahLst/>
              <a:cxnLst/>
              <a:rect l="l" t="t" r="r" b="b"/>
              <a:pathLst>
                <a:path w="3998976" h="853440">
                  <a:moveTo>
                    <a:pt x="0" y="0"/>
                  </a:moveTo>
                  <a:lnTo>
                    <a:pt x="3998976" y="0"/>
                  </a:lnTo>
                  <a:lnTo>
                    <a:pt x="3998976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1301" b="-41301"/>
              </a:stretch>
            </a:blipFill>
          </p:spPr>
        </p:sp>
        <p:sp>
          <p:nvSpPr>
            <p:cNvPr id="53" name="TextBox 53"/>
            <p:cNvSpPr txBox="1"/>
            <p:nvPr/>
          </p:nvSpPr>
          <p:spPr>
            <a:xfrm>
              <a:off x="0" y="0"/>
              <a:ext cx="3998976" cy="8534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39"/>
                </a:lnSpc>
              </a:pPr>
              <a:r>
                <a:rPr lang="en-US" sz="2199" b="1">
                  <a:solidFill>
                    <a:srgbClr val="1E293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Citizen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4740128" y="3389533"/>
            <a:ext cx="2999232" cy="731520"/>
            <a:chOff x="0" y="0"/>
            <a:chExt cx="3998976" cy="97536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3998976" cy="975360"/>
            </a:xfrm>
            <a:custGeom>
              <a:avLst/>
              <a:gdLst/>
              <a:ahLst/>
              <a:cxnLst/>
              <a:rect l="l" t="t" r="r" b="b"/>
              <a:pathLst>
                <a:path w="3998976" h="975360">
                  <a:moveTo>
                    <a:pt x="0" y="0"/>
                  </a:moveTo>
                  <a:lnTo>
                    <a:pt x="3998976" y="0"/>
                  </a:lnTo>
                  <a:lnTo>
                    <a:pt x="3998976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9888" b="-29888"/>
              </a:stretch>
            </a:blipFill>
          </p:spPr>
        </p:sp>
        <p:sp>
          <p:nvSpPr>
            <p:cNvPr id="56" name="TextBox 56"/>
            <p:cNvSpPr txBox="1"/>
            <p:nvPr/>
          </p:nvSpPr>
          <p:spPr>
            <a:xfrm>
              <a:off x="0" y="0"/>
              <a:ext cx="3998976" cy="9753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Sees project status, progress and evidence locally.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548640" y="4551045"/>
            <a:ext cx="10972800" cy="512064"/>
            <a:chOff x="0" y="0"/>
            <a:chExt cx="14630400" cy="682752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14630400" cy="682752"/>
            </a:xfrm>
            <a:custGeom>
              <a:avLst/>
              <a:gdLst/>
              <a:ahLst/>
              <a:cxnLst/>
              <a:rect l="l" t="t" r="r" b="b"/>
              <a:pathLst>
                <a:path w="14630400" h="682752">
                  <a:moveTo>
                    <a:pt x="0" y="0"/>
                  </a:moveTo>
                  <a:lnTo>
                    <a:pt x="14630400" y="0"/>
                  </a:lnTo>
                  <a:lnTo>
                    <a:pt x="146304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0000" b="-1200000"/>
              </a:stretch>
            </a:blipFill>
          </p:spPr>
        </p:sp>
        <p:sp>
          <p:nvSpPr>
            <p:cNvPr id="59" name="TextBox 59"/>
            <p:cNvSpPr txBox="1"/>
            <p:nvPr/>
          </p:nvSpPr>
          <p:spPr>
            <a:xfrm>
              <a:off x="0" y="0"/>
              <a:ext cx="14630400" cy="6827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1B3A5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ILLUSTRATIVE EXAMPLE — ROAD PROJECT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2296459" y="8735669"/>
            <a:ext cx="13183053" cy="822960"/>
            <a:chOff x="0" y="0"/>
            <a:chExt cx="17577404" cy="1097280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17577405" cy="1097280"/>
            </a:xfrm>
            <a:custGeom>
              <a:avLst/>
              <a:gdLst/>
              <a:ahLst/>
              <a:cxnLst/>
              <a:rect l="l" t="t" r="r" b="b"/>
              <a:pathLst>
                <a:path w="17577405" h="1097280">
                  <a:moveTo>
                    <a:pt x="0" y="146304"/>
                  </a:moveTo>
                  <a:cubicBezTo>
                    <a:pt x="0" y="65532"/>
                    <a:pt x="50255" y="0"/>
                    <a:pt x="112196" y="0"/>
                  </a:cubicBezTo>
                  <a:lnTo>
                    <a:pt x="17465208" y="0"/>
                  </a:lnTo>
                  <a:cubicBezTo>
                    <a:pt x="17527149" y="0"/>
                    <a:pt x="17577405" y="65532"/>
                    <a:pt x="17577405" y="146304"/>
                  </a:cubicBezTo>
                  <a:lnTo>
                    <a:pt x="17577405" y="950976"/>
                  </a:lnTo>
                  <a:cubicBezTo>
                    <a:pt x="17577405" y="1031748"/>
                    <a:pt x="17527149" y="1097280"/>
                    <a:pt x="17465208" y="1097280"/>
                  </a:cubicBezTo>
                  <a:lnTo>
                    <a:pt x="112196" y="1097280"/>
                  </a:lnTo>
                  <a:cubicBezTo>
                    <a:pt x="50255" y="1097280"/>
                    <a:pt x="0" y="1031748"/>
                    <a:pt x="0" y="950976"/>
                  </a:cubicBezTo>
                  <a:close/>
                </a:path>
              </a:pathLst>
            </a:custGeom>
            <a:solidFill>
              <a:srgbClr val="F8FAFC"/>
            </a:solidFill>
          </p:spPr>
        </p:sp>
      </p:grpSp>
      <p:grpSp>
        <p:nvGrpSpPr>
          <p:cNvPr id="62" name="Group 62"/>
          <p:cNvGrpSpPr/>
          <p:nvPr/>
        </p:nvGrpSpPr>
        <p:grpSpPr>
          <a:xfrm>
            <a:off x="329184" y="9115383"/>
            <a:ext cx="17190720" cy="585266"/>
            <a:chOff x="0" y="0"/>
            <a:chExt cx="22920960" cy="780355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22920961" cy="780355"/>
            </a:xfrm>
            <a:custGeom>
              <a:avLst/>
              <a:gdLst/>
              <a:ahLst/>
              <a:cxnLst/>
              <a:rect l="l" t="t" r="r" b="b"/>
              <a:pathLst>
                <a:path w="22920961" h="780355">
                  <a:moveTo>
                    <a:pt x="0" y="0"/>
                  </a:moveTo>
                  <a:lnTo>
                    <a:pt x="22920961" y="0"/>
                  </a:lnTo>
                  <a:lnTo>
                    <a:pt x="22920961" y="780355"/>
                  </a:lnTo>
                  <a:lnTo>
                    <a:pt x="0" y="78035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02017" b="-542630"/>
              </a:stretch>
            </a:blipFill>
          </p:spPr>
        </p:sp>
        <p:sp>
          <p:nvSpPr>
            <p:cNvPr id="64" name="TextBox 64"/>
            <p:cNvSpPr txBox="1"/>
            <p:nvPr/>
          </p:nvSpPr>
          <p:spPr>
            <a:xfrm>
              <a:off x="0" y="0"/>
              <a:ext cx="22920960" cy="7803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b="1">
                  <a:solidFill>
                    <a:srgbClr val="0A2F5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DETECTS RISK → VERIFIES WORK →   RELEASES THE NEXT PAYMENT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722858" y="226337"/>
            <a:ext cx="2331190" cy="1296754"/>
            <a:chOff x="0" y="0"/>
            <a:chExt cx="1168702" cy="650105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1168702" cy="650105"/>
            </a:xfrm>
            <a:custGeom>
              <a:avLst/>
              <a:gdLst/>
              <a:ahLst/>
              <a:cxnLst/>
              <a:rect l="l" t="t" r="r" b="b"/>
              <a:pathLst>
                <a:path w="1168702" h="650105">
                  <a:moveTo>
                    <a:pt x="584351" y="0"/>
                  </a:moveTo>
                  <a:cubicBezTo>
                    <a:pt x="261623" y="0"/>
                    <a:pt x="0" y="145531"/>
                    <a:pt x="0" y="325053"/>
                  </a:cubicBezTo>
                  <a:cubicBezTo>
                    <a:pt x="0" y="504574"/>
                    <a:pt x="261623" y="650105"/>
                    <a:pt x="584351" y="650105"/>
                  </a:cubicBezTo>
                  <a:cubicBezTo>
                    <a:pt x="907079" y="650105"/>
                    <a:pt x="1168702" y="504574"/>
                    <a:pt x="1168702" y="325053"/>
                  </a:cubicBezTo>
                  <a:cubicBezTo>
                    <a:pt x="1168702" y="145531"/>
                    <a:pt x="907079" y="0"/>
                    <a:pt x="584351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109566" y="-43828"/>
              <a:ext cx="949570" cy="6329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530"/>
                </a:lnSpc>
              </a:pPr>
              <a:r>
                <a:rPr lang="en-US" sz="4664">
                  <a:solidFill>
                    <a:srgbClr val="0A2F5C"/>
                  </a:solidFill>
                  <a:latin typeface="Bebas Neue Cyrillic"/>
                  <a:ea typeface="Bebas Neue Cyrillic"/>
                  <a:cs typeface="Bebas Neue Cyrillic"/>
                  <a:sym typeface="Bebas Neue Cyrillic"/>
                </a:rPr>
                <a:t>DietCode</a:t>
              </a:r>
            </a:p>
          </p:txBody>
        </p:sp>
      </p:grpSp>
      <p:sp>
        <p:nvSpPr>
          <p:cNvPr id="68" name="Freeform 68"/>
          <p:cNvSpPr/>
          <p:nvPr/>
        </p:nvSpPr>
        <p:spPr>
          <a:xfrm>
            <a:off x="14988540" y="181861"/>
            <a:ext cx="3203463" cy="1464440"/>
          </a:xfrm>
          <a:custGeom>
            <a:avLst/>
            <a:gdLst/>
            <a:ahLst/>
            <a:cxnLst/>
            <a:rect l="l" t="t" r="r" b="b"/>
            <a:pathLst>
              <a:path w="3203463" h="1464440">
                <a:moveTo>
                  <a:pt x="0" y="0"/>
                </a:moveTo>
                <a:lnTo>
                  <a:pt x="3203463" y="0"/>
                </a:lnTo>
                <a:lnTo>
                  <a:pt x="3203463" y="1464440"/>
                </a:lnTo>
                <a:lnTo>
                  <a:pt x="0" y="14644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9" name="Freeform 69"/>
          <p:cNvSpPr/>
          <p:nvPr/>
        </p:nvSpPr>
        <p:spPr>
          <a:xfrm>
            <a:off x="6627833" y="226337"/>
            <a:ext cx="4797109" cy="802363"/>
          </a:xfrm>
          <a:custGeom>
            <a:avLst/>
            <a:gdLst/>
            <a:ahLst/>
            <a:cxnLst/>
            <a:rect l="l" t="t" r="r" b="b"/>
            <a:pathLst>
              <a:path w="4797109" h="802363">
                <a:moveTo>
                  <a:pt x="0" y="0"/>
                </a:moveTo>
                <a:lnTo>
                  <a:pt x="4797109" y="0"/>
                </a:lnTo>
                <a:lnTo>
                  <a:pt x="4797109" y="802363"/>
                </a:lnTo>
                <a:lnTo>
                  <a:pt x="0" y="80236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grpSp>
        <p:nvGrpSpPr>
          <p:cNvPr id="70" name="Group 70"/>
          <p:cNvGrpSpPr/>
          <p:nvPr/>
        </p:nvGrpSpPr>
        <p:grpSpPr>
          <a:xfrm>
            <a:off x="0" y="9688830"/>
            <a:ext cx="18288000" cy="768096"/>
            <a:chOff x="0" y="0"/>
            <a:chExt cx="24384000" cy="1024128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24384000" cy="1024128"/>
            </a:xfrm>
            <a:custGeom>
              <a:avLst/>
              <a:gdLst/>
              <a:ahLst/>
              <a:cxnLst/>
              <a:rect l="l" t="t" r="r" b="b"/>
              <a:pathLst>
                <a:path w="24384000" h="1024128">
                  <a:moveTo>
                    <a:pt x="0" y="0"/>
                  </a:moveTo>
                  <a:lnTo>
                    <a:pt x="24384000" y="0"/>
                  </a:lnTo>
                  <a:lnTo>
                    <a:pt x="2438400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1B3A5F"/>
            </a:solidFill>
          </p:spPr>
        </p:sp>
      </p:grpSp>
      <p:grpSp>
        <p:nvGrpSpPr>
          <p:cNvPr id="72" name="Group 72"/>
          <p:cNvGrpSpPr/>
          <p:nvPr/>
        </p:nvGrpSpPr>
        <p:grpSpPr>
          <a:xfrm>
            <a:off x="16459200" y="9619107"/>
            <a:ext cx="1280160" cy="768096"/>
            <a:chOff x="0" y="0"/>
            <a:chExt cx="1706880" cy="1024128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1706880" cy="1024128"/>
            </a:xfrm>
            <a:custGeom>
              <a:avLst/>
              <a:gdLst/>
              <a:ahLst/>
              <a:cxnLst/>
              <a:rect l="l" t="t" r="r" b="b"/>
              <a:pathLst>
                <a:path w="1706880" h="1024128">
                  <a:moveTo>
                    <a:pt x="0" y="0"/>
                  </a:moveTo>
                  <a:lnTo>
                    <a:pt x="1706880" y="0"/>
                  </a:lnTo>
                  <a:lnTo>
                    <a:pt x="17068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r="-26982"/>
              </a:stretch>
            </a:blipFill>
          </p:spPr>
        </p:sp>
        <p:sp>
          <p:nvSpPr>
            <p:cNvPr id="74" name="TextBox 74"/>
            <p:cNvSpPr txBox="1"/>
            <p:nvPr/>
          </p:nvSpPr>
          <p:spPr>
            <a:xfrm>
              <a:off x="0" y="0"/>
              <a:ext cx="1706880" cy="10241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05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548640" y="9642779"/>
            <a:ext cx="12801600" cy="635077"/>
            <a:chOff x="0" y="0"/>
            <a:chExt cx="17068800" cy="846769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17068800" cy="846769"/>
            </a:xfrm>
            <a:custGeom>
              <a:avLst/>
              <a:gdLst/>
              <a:ahLst/>
              <a:cxnLst/>
              <a:rect l="l" t="t" r="r" b="b"/>
              <a:pathLst>
                <a:path w="17068800" h="846769">
                  <a:moveTo>
                    <a:pt x="0" y="0"/>
                  </a:moveTo>
                  <a:lnTo>
                    <a:pt x="17068800" y="0"/>
                  </a:lnTo>
                  <a:lnTo>
                    <a:pt x="17068800" y="846769"/>
                  </a:lnTo>
                  <a:lnTo>
                    <a:pt x="0" y="84676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32298" b="-353243"/>
              </a:stretch>
            </a:blipFill>
          </p:spPr>
        </p:sp>
        <p:sp>
          <p:nvSpPr>
            <p:cNvPr id="77" name="TextBox 77"/>
            <p:cNvSpPr txBox="1"/>
            <p:nvPr/>
          </p:nvSpPr>
          <p:spPr>
            <a:xfrm>
              <a:off x="0" y="-9525"/>
              <a:ext cx="17068800" cy="8562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MPLADS ArthSetu  ·  SIH 26102  ·  Idea Submission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1901952" y="2114293"/>
            <a:ext cx="585216" cy="585216"/>
            <a:chOff x="0" y="0"/>
            <a:chExt cx="780288" cy="780288"/>
          </a:xfrm>
        </p:grpSpPr>
        <p:sp>
          <p:nvSpPr>
            <p:cNvPr id="79" name="Freeform 79" descr="preencoded.png"/>
            <p:cNvSpPr/>
            <p:nvPr/>
          </p:nvSpPr>
          <p:spPr>
            <a:xfrm>
              <a:off x="0" y="0"/>
              <a:ext cx="780288" cy="780288"/>
            </a:xfrm>
            <a:custGeom>
              <a:avLst/>
              <a:gdLst/>
              <a:ahLst/>
              <a:cxnLst/>
              <a:rect l="l" t="t" r="r" b="b"/>
              <a:pathLst>
                <a:path w="780288" h="780288">
                  <a:moveTo>
                    <a:pt x="0" y="0"/>
                  </a:moveTo>
                  <a:lnTo>
                    <a:pt x="780288" y="0"/>
                  </a:lnTo>
                  <a:lnTo>
                    <a:pt x="780288" y="780288"/>
                  </a:lnTo>
                  <a:lnTo>
                    <a:pt x="0" y="7802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80" name="Group 80"/>
          <p:cNvGrpSpPr/>
          <p:nvPr/>
        </p:nvGrpSpPr>
        <p:grpSpPr>
          <a:xfrm>
            <a:off x="5413248" y="2114293"/>
            <a:ext cx="585216" cy="585216"/>
            <a:chOff x="0" y="0"/>
            <a:chExt cx="780288" cy="780288"/>
          </a:xfrm>
        </p:grpSpPr>
        <p:sp>
          <p:nvSpPr>
            <p:cNvPr id="81" name="Freeform 81" descr="preencoded.png"/>
            <p:cNvSpPr/>
            <p:nvPr/>
          </p:nvSpPr>
          <p:spPr>
            <a:xfrm>
              <a:off x="0" y="0"/>
              <a:ext cx="780288" cy="780288"/>
            </a:xfrm>
            <a:custGeom>
              <a:avLst/>
              <a:gdLst/>
              <a:ahLst/>
              <a:cxnLst/>
              <a:rect l="l" t="t" r="r" b="b"/>
              <a:pathLst>
                <a:path w="780288" h="780288">
                  <a:moveTo>
                    <a:pt x="0" y="0"/>
                  </a:moveTo>
                  <a:lnTo>
                    <a:pt x="780288" y="0"/>
                  </a:lnTo>
                  <a:lnTo>
                    <a:pt x="780288" y="780288"/>
                  </a:lnTo>
                  <a:lnTo>
                    <a:pt x="0" y="7802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grpSp>
        <p:nvGrpSpPr>
          <p:cNvPr id="82" name="Group 82"/>
          <p:cNvGrpSpPr/>
          <p:nvPr/>
        </p:nvGrpSpPr>
        <p:grpSpPr>
          <a:xfrm>
            <a:off x="8924544" y="2114293"/>
            <a:ext cx="585216" cy="585216"/>
            <a:chOff x="0" y="0"/>
            <a:chExt cx="780288" cy="780288"/>
          </a:xfrm>
        </p:grpSpPr>
        <p:sp>
          <p:nvSpPr>
            <p:cNvPr id="83" name="Freeform 83" descr="preencoded.png"/>
            <p:cNvSpPr/>
            <p:nvPr/>
          </p:nvSpPr>
          <p:spPr>
            <a:xfrm>
              <a:off x="0" y="0"/>
              <a:ext cx="780288" cy="780288"/>
            </a:xfrm>
            <a:custGeom>
              <a:avLst/>
              <a:gdLst/>
              <a:ahLst/>
              <a:cxnLst/>
              <a:rect l="l" t="t" r="r" b="b"/>
              <a:pathLst>
                <a:path w="780288" h="780288">
                  <a:moveTo>
                    <a:pt x="0" y="0"/>
                  </a:moveTo>
                  <a:lnTo>
                    <a:pt x="780288" y="0"/>
                  </a:lnTo>
                  <a:lnTo>
                    <a:pt x="780288" y="780288"/>
                  </a:lnTo>
                  <a:lnTo>
                    <a:pt x="0" y="7802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grpSp>
        <p:nvGrpSpPr>
          <p:cNvPr id="84" name="Group 84"/>
          <p:cNvGrpSpPr/>
          <p:nvPr/>
        </p:nvGrpSpPr>
        <p:grpSpPr>
          <a:xfrm>
            <a:off x="12435840" y="2114293"/>
            <a:ext cx="585216" cy="585216"/>
            <a:chOff x="0" y="0"/>
            <a:chExt cx="780288" cy="780288"/>
          </a:xfrm>
        </p:grpSpPr>
        <p:sp>
          <p:nvSpPr>
            <p:cNvPr id="85" name="Freeform 85" descr="preencoded.png"/>
            <p:cNvSpPr/>
            <p:nvPr/>
          </p:nvSpPr>
          <p:spPr>
            <a:xfrm>
              <a:off x="0" y="0"/>
              <a:ext cx="780288" cy="780288"/>
            </a:xfrm>
            <a:custGeom>
              <a:avLst/>
              <a:gdLst/>
              <a:ahLst/>
              <a:cxnLst/>
              <a:rect l="l" t="t" r="r" b="b"/>
              <a:pathLst>
                <a:path w="780288" h="780288">
                  <a:moveTo>
                    <a:pt x="0" y="0"/>
                  </a:moveTo>
                  <a:lnTo>
                    <a:pt x="780288" y="0"/>
                  </a:lnTo>
                  <a:lnTo>
                    <a:pt x="780288" y="780288"/>
                  </a:lnTo>
                  <a:lnTo>
                    <a:pt x="0" y="7802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</p:grpSp>
      <p:grpSp>
        <p:nvGrpSpPr>
          <p:cNvPr id="86" name="Group 86"/>
          <p:cNvGrpSpPr/>
          <p:nvPr/>
        </p:nvGrpSpPr>
        <p:grpSpPr>
          <a:xfrm>
            <a:off x="15947136" y="2114293"/>
            <a:ext cx="585216" cy="585216"/>
            <a:chOff x="0" y="0"/>
            <a:chExt cx="780288" cy="780288"/>
          </a:xfrm>
        </p:grpSpPr>
        <p:sp>
          <p:nvSpPr>
            <p:cNvPr id="87" name="Freeform 87" descr="preencoded.png"/>
            <p:cNvSpPr/>
            <p:nvPr/>
          </p:nvSpPr>
          <p:spPr>
            <a:xfrm>
              <a:off x="0" y="0"/>
              <a:ext cx="780288" cy="780288"/>
            </a:xfrm>
            <a:custGeom>
              <a:avLst/>
              <a:gdLst/>
              <a:ahLst/>
              <a:cxnLst/>
              <a:rect l="l" t="t" r="r" b="b"/>
              <a:pathLst>
                <a:path w="780288" h="780288">
                  <a:moveTo>
                    <a:pt x="0" y="0"/>
                  </a:moveTo>
                  <a:lnTo>
                    <a:pt x="780288" y="0"/>
                  </a:lnTo>
                  <a:lnTo>
                    <a:pt x="780288" y="780288"/>
                  </a:lnTo>
                  <a:lnTo>
                    <a:pt x="0" y="7802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</p:sp>
      </p:grpSp>
      <p:sp>
        <p:nvSpPr>
          <p:cNvPr id="88" name="Freeform 88"/>
          <p:cNvSpPr/>
          <p:nvPr/>
        </p:nvSpPr>
        <p:spPr>
          <a:xfrm>
            <a:off x="2194560" y="5377434"/>
            <a:ext cx="1056317" cy="866114"/>
          </a:xfrm>
          <a:custGeom>
            <a:avLst/>
            <a:gdLst/>
            <a:ahLst/>
            <a:cxnLst/>
            <a:rect l="l" t="t" r="r" b="b"/>
            <a:pathLst>
              <a:path w="1056317" h="866114">
                <a:moveTo>
                  <a:pt x="0" y="0"/>
                </a:moveTo>
                <a:lnTo>
                  <a:pt x="1056317" y="0"/>
                </a:lnTo>
                <a:lnTo>
                  <a:pt x="1056317" y="866114"/>
                </a:lnTo>
                <a:lnTo>
                  <a:pt x="0" y="8661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841616" r="-664412" b="-146045"/>
            </a:stretch>
          </a:blipFill>
        </p:spPr>
      </p:sp>
      <p:sp>
        <p:nvSpPr>
          <p:cNvPr id="89" name="Freeform 89"/>
          <p:cNvSpPr/>
          <p:nvPr/>
        </p:nvSpPr>
        <p:spPr>
          <a:xfrm>
            <a:off x="4206878" y="5354039"/>
            <a:ext cx="1056317" cy="866114"/>
          </a:xfrm>
          <a:custGeom>
            <a:avLst/>
            <a:gdLst/>
            <a:ahLst/>
            <a:cxnLst/>
            <a:rect l="l" t="t" r="r" b="b"/>
            <a:pathLst>
              <a:path w="1056317" h="866114">
                <a:moveTo>
                  <a:pt x="0" y="0"/>
                </a:moveTo>
                <a:lnTo>
                  <a:pt x="1056317" y="0"/>
                </a:lnTo>
                <a:lnTo>
                  <a:pt x="1056317" y="866114"/>
                </a:lnTo>
                <a:lnTo>
                  <a:pt x="0" y="8661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841616" r="-664412" b="-146045"/>
            </a:stretch>
          </a:blipFill>
        </p:spPr>
      </p:sp>
      <p:sp>
        <p:nvSpPr>
          <p:cNvPr id="90" name="Freeform 90"/>
          <p:cNvSpPr/>
          <p:nvPr/>
        </p:nvSpPr>
        <p:spPr>
          <a:xfrm>
            <a:off x="6215695" y="5291709"/>
            <a:ext cx="1068509" cy="866114"/>
          </a:xfrm>
          <a:custGeom>
            <a:avLst/>
            <a:gdLst/>
            <a:ahLst/>
            <a:cxnLst/>
            <a:rect l="l" t="t" r="r" b="b"/>
            <a:pathLst>
              <a:path w="1068509" h="866114">
                <a:moveTo>
                  <a:pt x="0" y="0"/>
                </a:moveTo>
                <a:lnTo>
                  <a:pt x="1068509" y="0"/>
                </a:lnTo>
                <a:lnTo>
                  <a:pt x="1068509" y="866114"/>
                </a:lnTo>
                <a:lnTo>
                  <a:pt x="0" y="8661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851907" r="-664412" b="-148307"/>
            </a:stretch>
          </a:blipFill>
        </p:spPr>
      </p:sp>
      <p:sp>
        <p:nvSpPr>
          <p:cNvPr id="91" name="Freeform 91"/>
          <p:cNvSpPr/>
          <p:nvPr/>
        </p:nvSpPr>
        <p:spPr>
          <a:xfrm>
            <a:off x="8236704" y="5354039"/>
            <a:ext cx="1056317" cy="866114"/>
          </a:xfrm>
          <a:custGeom>
            <a:avLst/>
            <a:gdLst/>
            <a:ahLst/>
            <a:cxnLst/>
            <a:rect l="l" t="t" r="r" b="b"/>
            <a:pathLst>
              <a:path w="1056317" h="866114">
                <a:moveTo>
                  <a:pt x="0" y="0"/>
                </a:moveTo>
                <a:lnTo>
                  <a:pt x="1056316" y="0"/>
                </a:lnTo>
                <a:lnTo>
                  <a:pt x="1056316" y="866114"/>
                </a:lnTo>
                <a:lnTo>
                  <a:pt x="0" y="8661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841616" r="-664412" b="-146045"/>
            </a:stretch>
          </a:blipFill>
        </p:spPr>
      </p:sp>
      <p:sp>
        <p:nvSpPr>
          <p:cNvPr id="92" name="Freeform 92"/>
          <p:cNvSpPr/>
          <p:nvPr/>
        </p:nvSpPr>
        <p:spPr>
          <a:xfrm>
            <a:off x="12492898" y="5284532"/>
            <a:ext cx="1056317" cy="866114"/>
          </a:xfrm>
          <a:custGeom>
            <a:avLst/>
            <a:gdLst/>
            <a:ahLst/>
            <a:cxnLst/>
            <a:rect l="l" t="t" r="r" b="b"/>
            <a:pathLst>
              <a:path w="1056317" h="866114">
                <a:moveTo>
                  <a:pt x="0" y="0"/>
                </a:moveTo>
                <a:lnTo>
                  <a:pt x="1056316" y="0"/>
                </a:lnTo>
                <a:lnTo>
                  <a:pt x="1056316" y="866114"/>
                </a:lnTo>
                <a:lnTo>
                  <a:pt x="0" y="8661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841616" r="-664412" b="-146045"/>
            </a:stretch>
          </a:blipFill>
        </p:spPr>
      </p:sp>
      <p:sp>
        <p:nvSpPr>
          <p:cNvPr id="93" name="Freeform 93"/>
          <p:cNvSpPr/>
          <p:nvPr/>
        </p:nvSpPr>
        <p:spPr>
          <a:xfrm>
            <a:off x="14593824" y="5293109"/>
            <a:ext cx="1056317" cy="866114"/>
          </a:xfrm>
          <a:custGeom>
            <a:avLst/>
            <a:gdLst/>
            <a:ahLst/>
            <a:cxnLst/>
            <a:rect l="l" t="t" r="r" b="b"/>
            <a:pathLst>
              <a:path w="1056317" h="866114">
                <a:moveTo>
                  <a:pt x="0" y="0"/>
                </a:moveTo>
                <a:lnTo>
                  <a:pt x="1056317" y="0"/>
                </a:lnTo>
                <a:lnTo>
                  <a:pt x="1056317" y="866114"/>
                </a:lnTo>
                <a:lnTo>
                  <a:pt x="0" y="8661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841616" r="-664412" b="-146045"/>
            </a:stretch>
          </a:blipFill>
        </p:spPr>
      </p:sp>
      <p:sp>
        <p:nvSpPr>
          <p:cNvPr id="94" name="Freeform 94"/>
          <p:cNvSpPr/>
          <p:nvPr/>
        </p:nvSpPr>
        <p:spPr>
          <a:xfrm>
            <a:off x="2053591" y="5922154"/>
            <a:ext cx="1365926" cy="321394"/>
          </a:xfrm>
          <a:custGeom>
            <a:avLst/>
            <a:gdLst/>
            <a:ahLst/>
            <a:cxnLst/>
            <a:rect l="l" t="t" r="r" b="b"/>
            <a:pathLst>
              <a:path w="1365926" h="321394">
                <a:moveTo>
                  <a:pt x="0" y="0"/>
                </a:moveTo>
                <a:lnTo>
                  <a:pt x="1365926" y="0"/>
                </a:lnTo>
                <a:lnTo>
                  <a:pt x="1365926" y="321394"/>
                </a:lnTo>
                <a:lnTo>
                  <a:pt x="0" y="32139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95" name="Freeform 95"/>
          <p:cNvSpPr/>
          <p:nvPr/>
        </p:nvSpPr>
        <p:spPr>
          <a:xfrm>
            <a:off x="2057149" y="5063109"/>
            <a:ext cx="13752782" cy="3995124"/>
          </a:xfrm>
          <a:custGeom>
            <a:avLst/>
            <a:gdLst/>
            <a:ahLst/>
            <a:cxnLst/>
            <a:rect l="l" t="t" r="r" b="b"/>
            <a:pathLst>
              <a:path w="13752782" h="3995124">
                <a:moveTo>
                  <a:pt x="0" y="0"/>
                </a:moveTo>
                <a:lnTo>
                  <a:pt x="13752782" y="0"/>
                </a:lnTo>
                <a:lnTo>
                  <a:pt x="13752782" y="3995124"/>
                </a:lnTo>
                <a:lnTo>
                  <a:pt x="0" y="399512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t="-21308" b="-27020"/>
            </a:stretch>
          </a:blipFill>
        </p:spPr>
      </p:sp>
      <p:grpSp>
        <p:nvGrpSpPr>
          <p:cNvPr id="96" name="Group 96"/>
          <p:cNvGrpSpPr/>
          <p:nvPr/>
        </p:nvGrpSpPr>
        <p:grpSpPr>
          <a:xfrm>
            <a:off x="0" y="9705346"/>
            <a:ext cx="18288000" cy="665855"/>
            <a:chOff x="0" y="0"/>
            <a:chExt cx="24384000" cy="887806"/>
          </a:xfrm>
        </p:grpSpPr>
        <p:sp>
          <p:nvSpPr>
            <p:cNvPr id="97" name="Freeform 97"/>
            <p:cNvSpPr/>
            <p:nvPr/>
          </p:nvSpPr>
          <p:spPr>
            <a:xfrm>
              <a:off x="0" y="0"/>
              <a:ext cx="24384000" cy="887806"/>
            </a:xfrm>
            <a:custGeom>
              <a:avLst/>
              <a:gdLst/>
              <a:ahLst/>
              <a:cxnLst/>
              <a:rect l="l" t="t" r="r" b="b"/>
              <a:pathLst>
                <a:path w="24384000" h="887806">
                  <a:moveTo>
                    <a:pt x="0" y="0"/>
                  </a:moveTo>
                  <a:lnTo>
                    <a:pt x="24384000" y="0"/>
                  </a:lnTo>
                  <a:lnTo>
                    <a:pt x="24384000" y="887806"/>
                  </a:lnTo>
                  <a:lnTo>
                    <a:pt x="0" y="887806"/>
                  </a:lnTo>
                  <a:close/>
                </a:path>
              </a:pathLst>
            </a:custGeom>
            <a:solidFill>
              <a:srgbClr val="1B3A5F"/>
            </a:solidFill>
          </p:spPr>
        </p:sp>
      </p:grpSp>
      <p:grpSp>
        <p:nvGrpSpPr>
          <p:cNvPr id="98" name="Group 98"/>
          <p:cNvGrpSpPr/>
          <p:nvPr/>
        </p:nvGrpSpPr>
        <p:grpSpPr>
          <a:xfrm>
            <a:off x="16571221" y="9714871"/>
            <a:ext cx="1280160" cy="866329"/>
            <a:chOff x="0" y="0"/>
            <a:chExt cx="1706880" cy="1155105"/>
          </a:xfrm>
        </p:grpSpPr>
        <p:sp>
          <p:nvSpPr>
            <p:cNvPr id="99" name="Freeform 99"/>
            <p:cNvSpPr/>
            <p:nvPr/>
          </p:nvSpPr>
          <p:spPr>
            <a:xfrm>
              <a:off x="0" y="0"/>
              <a:ext cx="1706880" cy="1155105"/>
            </a:xfrm>
            <a:custGeom>
              <a:avLst/>
              <a:gdLst/>
              <a:ahLst/>
              <a:cxnLst/>
              <a:rect l="l" t="t" r="r" b="b"/>
              <a:pathLst>
                <a:path w="1706880" h="1155105">
                  <a:moveTo>
                    <a:pt x="0" y="0"/>
                  </a:moveTo>
                  <a:lnTo>
                    <a:pt x="1706880" y="0"/>
                  </a:lnTo>
                  <a:lnTo>
                    <a:pt x="1706880" y="1155105"/>
                  </a:lnTo>
                  <a:lnTo>
                    <a:pt x="0" y="115510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r="-26982" b="11338"/>
              </a:stretch>
            </a:blipFill>
          </p:spPr>
        </p:sp>
        <p:sp>
          <p:nvSpPr>
            <p:cNvPr id="100" name="TextBox 100"/>
            <p:cNvSpPr txBox="1"/>
            <p:nvPr/>
          </p:nvSpPr>
          <p:spPr>
            <a:xfrm>
              <a:off x="0" y="0"/>
              <a:ext cx="1706880" cy="11551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05</a:t>
              </a:r>
            </a:p>
            <a:p>
              <a:pPr algn="r">
                <a:lnSpc>
                  <a:spcPts val="2879"/>
                </a:lnSpc>
              </a:pPr>
              <a:endParaRPr lang="en-US" sz="2400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endParaRPr>
            </a:p>
          </p:txBody>
        </p:sp>
      </p:grpSp>
      <p:grpSp>
        <p:nvGrpSpPr>
          <p:cNvPr id="101" name="Group 101"/>
          <p:cNvGrpSpPr/>
          <p:nvPr/>
        </p:nvGrpSpPr>
        <p:grpSpPr>
          <a:xfrm>
            <a:off x="548640" y="9752971"/>
            <a:ext cx="12801600" cy="524885"/>
            <a:chOff x="0" y="0"/>
            <a:chExt cx="17068800" cy="699846"/>
          </a:xfrm>
        </p:grpSpPr>
        <p:sp>
          <p:nvSpPr>
            <p:cNvPr id="102" name="Freeform 102"/>
            <p:cNvSpPr/>
            <p:nvPr/>
          </p:nvSpPr>
          <p:spPr>
            <a:xfrm>
              <a:off x="0" y="0"/>
              <a:ext cx="17068800" cy="699846"/>
            </a:xfrm>
            <a:custGeom>
              <a:avLst/>
              <a:gdLst/>
              <a:ahLst/>
              <a:cxnLst/>
              <a:rect l="l" t="t" r="r" b="b"/>
              <a:pathLst>
                <a:path w="17068800" h="699846">
                  <a:moveTo>
                    <a:pt x="0" y="0"/>
                  </a:moveTo>
                  <a:lnTo>
                    <a:pt x="17068800" y="0"/>
                  </a:lnTo>
                  <a:lnTo>
                    <a:pt x="17068800" y="699846"/>
                  </a:lnTo>
                  <a:lnTo>
                    <a:pt x="0" y="69984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02059" b="-448395"/>
              </a:stretch>
            </a:blipFill>
          </p:spPr>
        </p:sp>
        <p:sp>
          <p:nvSpPr>
            <p:cNvPr id="103" name="TextBox 103"/>
            <p:cNvSpPr txBox="1"/>
            <p:nvPr/>
          </p:nvSpPr>
          <p:spPr>
            <a:xfrm>
              <a:off x="0" y="-9525"/>
              <a:ext cx="17068800" cy="70937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ArthSetu  ·  SIH 26102  ·  Idea Submission</a:t>
              </a:r>
            </a:p>
          </p:txBody>
        </p:sp>
      </p:grp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73152"/>
            <a:chOff x="0" y="0"/>
            <a:chExt cx="24384000" cy="9753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97536"/>
            </a:xfrm>
            <a:custGeom>
              <a:avLst/>
              <a:gdLst/>
              <a:ahLst/>
              <a:cxnLst/>
              <a:rect l="l" t="t" r="r" b="b"/>
              <a:pathLst>
                <a:path w="24384000" h="97536">
                  <a:moveTo>
                    <a:pt x="0" y="0"/>
                  </a:moveTo>
                  <a:lnTo>
                    <a:pt x="24384000" y="0"/>
                  </a:lnTo>
                  <a:lnTo>
                    <a:pt x="2438400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5B4B8A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1836823"/>
            <a:ext cx="9347487" cy="1907121"/>
            <a:chOff x="0" y="0"/>
            <a:chExt cx="12511203" cy="255259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511242" cy="2552636"/>
            </a:xfrm>
            <a:custGeom>
              <a:avLst/>
              <a:gdLst/>
              <a:ahLst/>
              <a:cxnLst/>
              <a:rect l="l" t="t" r="r" b="b"/>
              <a:pathLst>
                <a:path w="12511242" h="2552636">
                  <a:moveTo>
                    <a:pt x="0" y="113463"/>
                  </a:moveTo>
                  <a:cubicBezTo>
                    <a:pt x="0" y="50785"/>
                    <a:pt x="187165" y="0"/>
                    <a:pt x="418157" y="0"/>
                  </a:cubicBezTo>
                  <a:lnTo>
                    <a:pt x="12093154" y="0"/>
                  </a:lnTo>
                  <a:cubicBezTo>
                    <a:pt x="12324146" y="0"/>
                    <a:pt x="12511242" y="50785"/>
                    <a:pt x="12511242" y="113463"/>
                  </a:cubicBezTo>
                  <a:lnTo>
                    <a:pt x="12511242" y="2439164"/>
                  </a:lnTo>
                  <a:cubicBezTo>
                    <a:pt x="12511242" y="2501841"/>
                    <a:pt x="12324146" y="2552636"/>
                    <a:pt x="12093154" y="2552636"/>
                  </a:cubicBezTo>
                  <a:lnTo>
                    <a:pt x="418157" y="2552636"/>
                  </a:lnTo>
                  <a:cubicBezTo>
                    <a:pt x="187165" y="2552636"/>
                    <a:pt x="0" y="2501841"/>
                    <a:pt x="0" y="2439164"/>
                  </a:cubicBezTo>
                  <a:close/>
                </a:path>
              </a:pathLst>
            </a:custGeom>
            <a:solidFill>
              <a:srgbClr val="F8FAFC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0" y="1811961"/>
            <a:ext cx="9347487" cy="129907"/>
            <a:chOff x="0" y="0"/>
            <a:chExt cx="4389120" cy="6099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389120" cy="60998"/>
            </a:xfrm>
            <a:custGeom>
              <a:avLst/>
              <a:gdLst/>
              <a:ahLst/>
              <a:cxnLst/>
              <a:rect l="l" t="t" r="r" b="b"/>
              <a:pathLst>
                <a:path w="4389120" h="60998">
                  <a:moveTo>
                    <a:pt x="0" y="0"/>
                  </a:moveTo>
                  <a:lnTo>
                    <a:pt x="4389120" y="0"/>
                  </a:lnTo>
                  <a:lnTo>
                    <a:pt x="4389120" y="60998"/>
                  </a:lnTo>
                  <a:lnTo>
                    <a:pt x="0" y="60998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185306" y="2741924"/>
            <a:ext cx="6976876" cy="731520"/>
            <a:chOff x="0" y="0"/>
            <a:chExt cx="9302501" cy="97536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302501" cy="975360"/>
            </a:xfrm>
            <a:custGeom>
              <a:avLst/>
              <a:gdLst/>
              <a:ahLst/>
              <a:cxnLst/>
              <a:rect l="l" t="t" r="r" b="b"/>
              <a:pathLst>
                <a:path w="9302501" h="975360">
                  <a:moveTo>
                    <a:pt x="0" y="0"/>
                  </a:moveTo>
                  <a:lnTo>
                    <a:pt x="9302501" y="0"/>
                  </a:lnTo>
                  <a:lnTo>
                    <a:pt x="9302501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9888" r="57011" b="-29888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0"/>
              <a:ext cx="9302501" cy="9753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Clear milestone evidence means fewer disputed claims.Risk-ranked projects focus attention where it matters most.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347487" y="1914221"/>
            <a:ext cx="8940513" cy="1829722"/>
            <a:chOff x="0" y="0"/>
            <a:chExt cx="11920684" cy="243963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1920722" cy="2439668"/>
            </a:xfrm>
            <a:custGeom>
              <a:avLst/>
              <a:gdLst/>
              <a:ahLst/>
              <a:cxnLst/>
              <a:rect l="l" t="t" r="r" b="b"/>
              <a:pathLst>
                <a:path w="11920722" h="2439668">
                  <a:moveTo>
                    <a:pt x="0" y="108442"/>
                  </a:moveTo>
                  <a:cubicBezTo>
                    <a:pt x="0" y="48538"/>
                    <a:pt x="178331" y="0"/>
                    <a:pt x="398421" y="0"/>
                  </a:cubicBezTo>
                  <a:lnTo>
                    <a:pt x="11522366" y="0"/>
                  </a:lnTo>
                  <a:cubicBezTo>
                    <a:pt x="11742455" y="0"/>
                    <a:pt x="11920722" y="48538"/>
                    <a:pt x="11920722" y="108442"/>
                  </a:cubicBezTo>
                  <a:lnTo>
                    <a:pt x="11920722" y="2331216"/>
                  </a:lnTo>
                  <a:cubicBezTo>
                    <a:pt x="11920722" y="2391120"/>
                    <a:pt x="11742455" y="2439668"/>
                    <a:pt x="11522366" y="2439668"/>
                  </a:cubicBezTo>
                  <a:lnTo>
                    <a:pt x="398421" y="2439668"/>
                  </a:lnTo>
                  <a:cubicBezTo>
                    <a:pt x="178331" y="2439668"/>
                    <a:pt x="0" y="2391120"/>
                    <a:pt x="0" y="2331216"/>
                  </a:cubicBezTo>
                  <a:close/>
                </a:path>
              </a:pathLst>
            </a:custGeom>
            <a:solidFill>
              <a:srgbClr val="F8FAFC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9347487" y="1813569"/>
            <a:ext cx="8940513" cy="127870"/>
            <a:chOff x="0" y="0"/>
            <a:chExt cx="4389120" cy="6277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389120" cy="62774"/>
            </a:xfrm>
            <a:custGeom>
              <a:avLst/>
              <a:gdLst/>
              <a:ahLst/>
              <a:cxnLst/>
              <a:rect l="l" t="t" r="r" b="b"/>
              <a:pathLst>
                <a:path w="4389120" h="62774">
                  <a:moveTo>
                    <a:pt x="0" y="0"/>
                  </a:moveTo>
                  <a:lnTo>
                    <a:pt x="4389120" y="0"/>
                  </a:lnTo>
                  <a:lnTo>
                    <a:pt x="4389120" y="62774"/>
                  </a:lnTo>
                  <a:lnTo>
                    <a:pt x="0" y="62774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11198568" y="2618124"/>
            <a:ext cx="5238352" cy="979120"/>
            <a:chOff x="0" y="0"/>
            <a:chExt cx="6984470" cy="130549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984470" cy="1305494"/>
            </a:xfrm>
            <a:custGeom>
              <a:avLst/>
              <a:gdLst/>
              <a:ahLst/>
              <a:cxnLst/>
              <a:rect l="l" t="t" r="r" b="b"/>
              <a:pathLst>
                <a:path w="6984470" h="1305494">
                  <a:moveTo>
                    <a:pt x="0" y="0"/>
                  </a:moveTo>
                  <a:lnTo>
                    <a:pt x="6984470" y="0"/>
                  </a:lnTo>
                  <a:lnTo>
                    <a:pt x="6984470" y="1305494"/>
                  </a:lnTo>
                  <a:lnTo>
                    <a:pt x="0" y="130549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2870" b="-104632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0"/>
              <a:ext cx="6984470" cy="13054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Sees project status, progress and evidence locally.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58738" y="349547"/>
            <a:ext cx="2331190" cy="1296754"/>
            <a:chOff x="0" y="0"/>
            <a:chExt cx="1168702" cy="65010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168702" cy="650105"/>
            </a:xfrm>
            <a:custGeom>
              <a:avLst/>
              <a:gdLst/>
              <a:ahLst/>
              <a:cxnLst/>
              <a:rect l="l" t="t" r="r" b="b"/>
              <a:pathLst>
                <a:path w="1168702" h="650105">
                  <a:moveTo>
                    <a:pt x="584351" y="0"/>
                  </a:moveTo>
                  <a:cubicBezTo>
                    <a:pt x="261623" y="0"/>
                    <a:pt x="0" y="145531"/>
                    <a:pt x="0" y="325053"/>
                  </a:cubicBezTo>
                  <a:cubicBezTo>
                    <a:pt x="0" y="504574"/>
                    <a:pt x="261623" y="650105"/>
                    <a:pt x="584351" y="650105"/>
                  </a:cubicBezTo>
                  <a:cubicBezTo>
                    <a:pt x="907079" y="650105"/>
                    <a:pt x="1168702" y="504574"/>
                    <a:pt x="1168702" y="325053"/>
                  </a:cubicBezTo>
                  <a:cubicBezTo>
                    <a:pt x="1168702" y="145531"/>
                    <a:pt x="907079" y="0"/>
                    <a:pt x="584351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9566" y="-43828"/>
              <a:ext cx="949570" cy="6329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530"/>
                </a:lnSpc>
              </a:pPr>
              <a:r>
                <a:rPr lang="en-US" sz="4664">
                  <a:solidFill>
                    <a:srgbClr val="0A2F5C"/>
                  </a:solidFill>
                  <a:latin typeface="Bebas Neue Cyrillic"/>
                  <a:ea typeface="Bebas Neue Cyrillic"/>
                  <a:cs typeface="Bebas Neue Cyrillic"/>
                  <a:sym typeface="Bebas Neue Cyrillic"/>
                </a:rPr>
                <a:t>DietCode</a:t>
              </a:r>
            </a:p>
          </p:txBody>
        </p:sp>
      </p:grpSp>
      <p:sp>
        <p:nvSpPr>
          <p:cNvPr id="21" name="Freeform 21"/>
          <p:cNvSpPr/>
          <p:nvPr/>
        </p:nvSpPr>
        <p:spPr>
          <a:xfrm>
            <a:off x="14988540" y="181861"/>
            <a:ext cx="3203463" cy="1464440"/>
          </a:xfrm>
          <a:custGeom>
            <a:avLst/>
            <a:gdLst/>
            <a:ahLst/>
            <a:cxnLst/>
            <a:rect l="l" t="t" r="r" b="b"/>
            <a:pathLst>
              <a:path w="3203463" h="1464440">
                <a:moveTo>
                  <a:pt x="0" y="0"/>
                </a:moveTo>
                <a:lnTo>
                  <a:pt x="3203463" y="0"/>
                </a:lnTo>
                <a:lnTo>
                  <a:pt x="3203463" y="1464440"/>
                </a:lnTo>
                <a:lnTo>
                  <a:pt x="0" y="14644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22" name="Group 22"/>
          <p:cNvGrpSpPr/>
          <p:nvPr/>
        </p:nvGrpSpPr>
        <p:grpSpPr>
          <a:xfrm>
            <a:off x="0" y="9688830"/>
            <a:ext cx="18288000" cy="768096"/>
            <a:chOff x="0" y="0"/>
            <a:chExt cx="24384000" cy="102412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4384000" cy="1024128"/>
            </a:xfrm>
            <a:custGeom>
              <a:avLst/>
              <a:gdLst/>
              <a:ahLst/>
              <a:cxnLst/>
              <a:rect l="l" t="t" r="r" b="b"/>
              <a:pathLst>
                <a:path w="24384000" h="1024128">
                  <a:moveTo>
                    <a:pt x="0" y="0"/>
                  </a:moveTo>
                  <a:lnTo>
                    <a:pt x="24384000" y="0"/>
                  </a:lnTo>
                  <a:lnTo>
                    <a:pt x="2438400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1B3A5F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16459200" y="9619107"/>
            <a:ext cx="1280160" cy="768096"/>
            <a:chOff x="0" y="0"/>
            <a:chExt cx="1706880" cy="102412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706880" cy="1024128"/>
            </a:xfrm>
            <a:custGeom>
              <a:avLst/>
              <a:gdLst/>
              <a:ahLst/>
              <a:cxnLst/>
              <a:rect l="l" t="t" r="r" b="b"/>
              <a:pathLst>
                <a:path w="1706880" h="1024128">
                  <a:moveTo>
                    <a:pt x="0" y="0"/>
                  </a:moveTo>
                  <a:lnTo>
                    <a:pt x="1706880" y="0"/>
                  </a:lnTo>
                  <a:lnTo>
                    <a:pt x="17068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r="-26982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0" y="0"/>
              <a:ext cx="1706880" cy="10241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06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48640" y="9739604"/>
            <a:ext cx="12801600" cy="538252"/>
            <a:chOff x="0" y="0"/>
            <a:chExt cx="17068800" cy="71767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7068800" cy="717670"/>
            </a:xfrm>
            <a:custGeom>
              <a:avLst/>
              <a:gdLst/>
              <a:ahLst/>
              <a:cxnLst/>
              <a:rect l="l" t="t" r="r" b="b"/>
              <a:pathLst>
                <a:path w="17068800" h="717670">
                  <a:moveTo>
                    <a:pt x="0" y="0"/>
                  </a:moveTo>
                  <a:lnTo>
                    <a:pt x="17068800" y="0"/>
                  </a:lnTo>
                  <a:lnTo>
                    <a:pt x="17068800" y="717670"/>
                  </a:lnTo>
                  <a:lnTo>
                    <a:pt x="0" y="71767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92074" b="-434776"/>
              </a:stretch>
            </a:blipFill>
          </p:spPr>
        </p:sp>
        <p:sp>
          <p:nvSpPr>
            <p:cNvPr id="29" name="TextBox 29"/>
            <p:cNvSpPr txBox="1"/>
            <p:nvPr/>
          </p:nvSpPr>
          <p:spPr>
            <a:xfrm>
              <a:off x="0" y="-9525"/>
              <a:ext cx="17068800" cy="7271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MPLADS ArthSetu  ·  SIH 26102  ·  Idea Submission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9850447" y="2444783"/>
            <a:ext cx="1007661" cy="1007661"/>
            <a:chOff x="0" y="0"/>
            <a:chExt cx="487680" cy="487680"/>
          </a:xfrm>
        </p:grpSpPr>
        <p:sp>
          <p:nvSpPr>
            <p:cNvPr id="31" name="Freeform 31" descr="preencoded.png"/>
            <p:cNvSpPr/>
            <p:nvPr/>
          </p:nvSpPr>
          <p:spPr>
            <a:xfrm>
              <a:off x="0" y="0"/>
              <a:ext cx="487680" cy="487680"/>
            </a:xfrm>
            <a:custGeom>
              <a:avLst/>
              <a:gdLst/>
              <a:ahLst/>
              <a:cxnLst/>
              <a:rect l="l" t="t" r="r" b="b"/>
              <a:pathLst>
                <a:path w="487680" h="487680">
                  <a:moveTo>
                    <a:pt x="0" y="0"/>
                  </a:moveTo>
                  <a:lnTo>
                    <a:pt x="487680" y="0"/>
                  </a:lnTo>
                  <a:lnTo>
                    <a:pt x="487680" y="487680"/>
                  </a:lnTo>
                  <a:lnTo>
                    <a:pt x="0" y="487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32" name="Group 32"/>
          <p:cNvGrpSpPr/>
          <p:nvPr/>
        </p:nvGrpSpPr>
        <p:grpSpPr>
          <a:xfrm>
            <a:off x="327995" y="2531453"/>
            <a:ext cx="834321" cy="834321"/>
            <a:chOff x="0" y="0"/>
            <a:chExt cx="780288" cy="780288"/>
          </a:xfrm>
        </p:grpSpPr>
        <p:sp>
          <p:nvSpPr>
            <p:cNvPr id="33" name="Freeform 33" descr="preencoded.png"/>
            <p:cNvSpPr/>
            <p:nvPr/>
          </p:nvSpPr>
          <p:spPr>
            <a:xfrm>
              <a:off x="0" y="0"/>
              <a:ext cx="780288" cy="780288"/>
            </a:xfrm>
            <a:custGeom>
              <a:avLst/>
              <a:gdLst/>
              <a:ahLst/>
              <a:cxnLst/>
              <a:rect l="l" t="t" r="r" b="b"/>
              <a:pathLst>
                <a:path w="780288" h="780288">
                  <a:moveTo>
                    <a:pt x="0" y="0"/>
                  </a:moveTo>
                  <a:lnTo>
                    <a:pt x="780288" y="0"/>
                  </a:lnTo>
                  <a:lnTo>
                    <a:pt x="780288" y="780288"/>
                  </a:lnTo>
                  <a:lnTo>
                    <a:pt x="0" y="7802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sp>
        <p:nvSpPr>
          <p:cNvPr id="34" name="Freeform 34"/>
          <p:cNvSpPr/>
          <p:nvPr/>
        </p:nvSpPr>
        <p:spPr>
          <a:xfrm>
            <a:off x="-86496" y="2172927"/>
            <a:ext cx="18460991" cy="7446180"/>
          </a:xfrm>
          <a:custGeom>
            <a:avLst/>
            <a:gdLst/>
            <a:ahLst/>
            <a:cxnLst/>
            <a:rect l="l" t="t" r="r" b="b"/>
            <a:pathLst>
              <a:path w="18460991" h="7446180">
                <a:moveTo>
                  <a:pt x="0" y="0"/>
                </a:moveTo>
                <a:lnTo>
                  <a:pt x="18460992" y="0"/>
                </a:lnTo>
                <a:lnTo>
                  <a:pt x="18460992" y="7446180"/>
                </a:lnTo>
                <a:lnTo>
                  <a:pt x="0" y="74461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415" b="-22546"/>
            </a:stretch>
          </a:blipFill>
        </p:spPr>
      </p:sp>
      <p:sp>
        <p:nvSpPr>
          <p:cNvPr id="35" name="TextBox 35"/>
          <p:cNvSpPr txBox="1"/>
          <p:nvPr/>
        </p:nvSpPr>
        <p:spPr>
          <a:xfrm>
            <a:off x="3655396" y="520845"/>
            <a:ext cx="11162286" cy="1219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01"/>
              </a:lnSpc>
              <a:spcBef>
                <a:spcPct val="0"/>
              </a:spcBef>
            </a:pPr>
            <a:r>
              <a:rPr lang="en-US" sz="3917" b="1">
                <a:solidFill>
                  <a:srgbClr val="0A2F5C"/>
                </a:solidFill>
                <a:latin typeface="Inter Bold"/>
                <a:ea typeface="Inter Bold"/>
                <a:cs typeface="Inter Bold"/>
                <a:sym typeface="Inter Bold"/>
              </a:rPr>
              <a:t>TWO VIEWS, ONE TRANSPARENT SYSTEM</a:t>
            </a:r>
          </a:p>
          <a:p>
            <a:pPr algn="ctr">
              <a:lnSpc>
                <a:spcPts val="4941"/>
              </a:lnSpc>
              <a:spcBef>
                <a:spcPct val="0"/>
              </a:spcBef>
            </a:pPr>
            <a:endParaRPr lang="en-US" sz="3917" b="1">
              <a:solidFill>
                <a:srgbClr val="0A2F5C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grpSp>
        <p:nvGrpSpPr>
          <p:cNvPr id="36" name="Group 36"/>
          <p:cNvGrpSpPr/>
          <p:nvPr/>
        </p:nvGrpSpPr>
        <p:grpSpPr>
          <a:xfrm>
            <a:off x="0" y="9705346"/>
            <a:ext cx="18288000" cy="665855"/>
            <a:chOff x="0" y="0"/>
            <a:chExt cx="24384000" cy="887806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24384000" cy="887806"/>
            </a:xfrm>
            <a:custGeom>
              <a:avLst/>
              <a:gdLst/>
              <a:ahLst/>
              <a:cxnLst/>
              <a:rect l="l" t="t" r="r" b="b"/>
              <a:pathLst>
                <a:path w="24384000" h="887806">
                  <a:moveTo>
                    <a:pt x="0" y="0"/>
                  </a:moveTo>
                  <a:lnTo>
                    <a:pt x="24384000" y="0"/>
                  </a:lnTo>
                  <a:lnTo>
                    <a:pt x="24384000" y="887806"/>
                  </a:lnTo>
                  <a:lnTo>
                    <a:pt x="0" y="887806"/>
                  </a:lnTo>
                  <a:close/>
                </a:path>
              </a:pathLst>
            </a:custGeom>
            <a:solidFill>
              <a:srgbClr val="1B3A5F"/>
            </a:solidFill>
          </p:spPr>
        </p:sp>
      </p:grpSp>
      <p:grpSp>
        <p:nvGrpSpPr>
          <p:cNvPr id="38" name="Group 38"/>
          <p:cNvGrpSpPr/>
          <p:nvPr/>
        </p:nvGrpSpPr>
        <p:grpSpPr>
          <a:xfrm>
            <a:off x="16571221" y="9714871"/>
            <a:ext cx="1280160" cy="866329"/>
            <a:chOff x="0" y="0"/>
            <a:chExt cx="1706880" cy="1155105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706880" cy="1155105"/>
            </a:xfrm>
            <a:custGeom>
              <a:avLst/>
              <a:gdLst/>
              <a:ahLst/>
              <a:cxnLst/>
              <a:rect l="l" t="t" r="r" b="b"/>
              <a:pathLst>
                <a:path w="1706880" h="1155105">
                  <a:moveTo>
                    <a:pt x="0" y="0"/>
                  </a:moveTo>
                  <a:lnTo>
                    <a:pt x="1706880" y="0"/>
                  </a:lnTo>
                  <a:lnTo>
                    <a:pt x="1706880" y="1155105"/>
                  </a:lnTo>
                  <a:lnTo>
                    <a:pt x="0" y="115510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r="-26982" b="11338"/>
              </a:stretch>
            </a:blipFill>
          </p:spPr>
        </p:sp>
        <p:sp>
          <p:nvSpPr>
            <p:cNvPr id="40" name="TextBox 40"/>
            <p:cNvSpPr txBox="1"/>
            <p:nvPr/>
          </p:nvSpPr>
          <p:spPr>
            <a:xfrm>
              <a:off x="0" y="0"/>
              <a:ext cx="1706880" cy="11551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06</a:t>
              </a:r>
            </a:p>
            <a:p>
              <a:pPr algn="r">
                <a:lnSpc>
                  <a:spcPts val="2879"/>
                </a:lnSpc>
              </a:pPr>
              <a:endParaRPr lang="en-US" sz="2400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endParaRP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48640" y="9752971"/>
            <a:ext cx="12801600" cy="524885"/>
            <a:chOff x="0" y="0"/>
            <a:chExt cx="17068800" cy="699846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7068800" cy="699846"/>
            </a:xfrm>
            <a:custGeom>
              <a:avLst/>
              <a:gdLst/>
              <a:ahLst/>
              <a:cxnLst/>
              <a:rect l="l" t="t" r="r" b="b"/>
              <a:pathLst>
                <a:path w="17068800" h="699846">
                  <a:moveTo>
                    <a:pt x="0" y="0"/>
                  </a:moveTo>
                  <a:lnTo>
                    <a:pt x="17068800" y="0"/>
                  </a:lnTo>
                  <a:lnTo>
                    <a:pt x="17068800" y="699846"/>
                  </a:lnTo>
                  <a:lnTo>
                    <a:pt x="0" y="69984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02059" b="-448395"/>
              </a:stretch>
            </a:blipFill>
          </p:spPr>
        </p:sp>
        <p:sp>
          <p:nvSpPr>
            <p:cNvPr id="43" name="TextBox 43"/>
            <p:cNvSpPr txBox="1"/>
            <p:nvPr/>
          </p:nvSpPr>
          <p:spPr>
            <a:xfrm>
              <a:off x="0" y="-9525"/>
              <a:ext cx="17068800" cy="70937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ArthSetu  ·  SIH 26102  ·  Idea Submission</a:t>
              </a:r>
            </a:p>
          </p:txBody>
        </p:sp>
      </p:grp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73152"/>
            <a:chOff x="0" y="0"/>
            <a:chExt cx="24384000" cy="9753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97536"/>
            </a:xfrm>
            <a:custGeom>
              <a:avLst/>
              <a:gdLst/>
              <a:ahLst/>
              <a:cxnLst/>
              <a:rect l="l" t="t" r="r" b="b"/>
              <a:pathLst>
                <a:path w="24384000" h="97536">
                  <a:moveTo>
                    <a:pt x="0" y="0"/>
                  </a:moveTo>
                  <a:lnTo>
                    <a:pt x="24384000" y="0"/>
                  </a:lnTo>
                  <a:lnTo>
                    <a:pt x="2438400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5B4B8A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2926080" y="146304"/>
            <a:ext cx="11704320" cy="585216"/>
            <a:chOff x="0" y="0"/>
            <a:chExt cx="15605760" cy="78028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5605761" cy="780288"/>
            </a:xfrm>
            <a:custGeom>
              <a:avLst/>
              <a:gdLst/>
              <a:ahLst/>
              <a:cxnLst/>
              <a:rect l="l" t="t" r="r" b="b"/>
              <a:pathLst>
                <a:path w="15605761" h="780288">
                  <a:moveTo>
                    <a:pt x="0" y="0"/>
                  </a:moveTo>
                  <a:lnTo>
                    <a:pt x="15605761" y="0"/>
                  </a:lnTo>
                  <a:lnTo>
                    <a:pt x="15605761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39700" b="-339700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9525"/>
              <a:ext cx="15605760" cy="78981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 b="1">
                  <a:solidFill>
                    <a:srgbClr val="1B3A5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TECHNICAL INFRASTRUCTURE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2930071" y="123893"/>
            <a:ext cx="12060515" cy="1962650"/>
            <a:chOff x="0" y="0"/>
            <a:chExt cx="16045691" cy="261117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6045692" cy="2611171"/>
            </a:xfrm>
            <a:custGeom>
              <a:avLst/>
              <a:gdLst/>
              <a:ahLst/>
              <a:cxnLst/>
              <a:rect l="l" t="t" r="r" b="b"/>
              <a:pathLst>
                <a:path w="16045692" h="2611171">
                  <a:moveTo>
                    <a:pt x="0" y="0"/>
                  </a:moveTo>
                  <a:lnTo>
                    <a:pt x="16045692" y="0"/>
                  </a:lnTo>
                  <a:lnTo>
                    <a:pt x="16045692" y="2611171"/>
                  </a:lnTo>
                  <a:lnTo>
                    <a:pt x="0" y="261117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59367" r="-42848" b="-827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9525"/>
              <a:ext cx="16045691" cy="262069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ArthSetu is a modular, secure platform connecting data, AI, verification, and decision-makers 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end-to-end.</a:t>
              </a:r>
            </a:p>
          </p:txBody>
        </p:sp>
      </p:grpSp>
      <p:sp>
        <p:nvSpPr>
          <p:cNvPr id="10" name="AutoShape 10"/>
          <p:cNvSpPr/>
          <p:nvPr/>
        </p:nvSpPr>
        <p:spPr>
          <a:xfrm rot="1605240">
            <a:off x="2447801" y="3602355"/>
            <a:ext cx="5162798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AutoShape 11"/>
          <p:cNvSpPr/>
          <p:nvPr/>
        </p:nvSpPr>
        <p:spPr>
          <a:xfrm>
            <a:off x="5846656" y="2195234"/>
            <a:ext cx="1368213" cy="2447691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AutoShape 12"/>
          <p:cNvSpPr/>
          <p:nvPr/>
        </p:nvSpPr>
        <p:spPr>
          <a:xfrm flipV="1">
            <a:off x="7476279" y="2183007"/>
            <a:ext cx="3566704" cy="3566704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AutoShape 13"/>
          <p:cNvSpPr/>
          <p:nvPr/>
        </p:nvSpPr>
        <p:spPr>
          <a:xfrm flipV="1">
            <a:off x="7570443" y="4338686"/>
            <a:ext cx="5522148" cy="608479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AutoShape 14"/>
          <p:cNvSpPr/>
          <p:nvPr/>
        </p:nvSpPr>
        <p:spPr>
          <a:xfrm>
            <a:off x="7064650" y="5074922"/>
            <a:ext cx="5497170" cy="159834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AutoShape 15"/>
          <p:cNvSpPr/>
          <p:nvPr/>
        </p:nvSpPr>
        <p:spPr>
          <a:xfrm rot="2500440">
            <a:off x="6732060" y="6208395"/>
            <a:ext cx="4458119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AutoShape 16"/>
          <p:cNvSpPr/>
          <p:nvPr/>
        </p:nvSpPr>
        <p:spPr>
          <a:xfrm flipH="1">
            <a:off x="6442477" y="4938726"/>
            <a:ext cx="1517641" cy="2916853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AutoShape 17"/>
          <p:cNvSpPr/>
          <p:nvPr/>
        </p:nvSpPr>
        <p:spPr>
          <a:xfrm flipV="1">
            <a:off x="2584625" y="5388941"/>
            <a:ext cx="4425350" cy="3318177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AutoShape 18"/>
          <p:cNvSpPr/>
          <p:nvPr/>
        </p:nvSpPr>
        <p:spPr>
          <a:xfrm flipV="1">
            <a:off x="1394238" y="5435354"/>
            <a:ext cx="5587733" cy="1183327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AutoShape 19"/>
          <p:cNvSpPr/>
          <p:nvPr/>
        </p:nvSpPr>
        <p:spPr>
          <a:xfrm>
            <a:off x="1039656" y="4374274"/>
            <a:ext cx="5847841" cy="603478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0" name="Group 20"/>
          <p:cNvGrpSpPr/>
          <p:nvPr/>
        </p:nvGrpSpPr>
        <p:grpSpPr>
          <a:xfrm>
            <a:off x="6242487" y="3256226"/>
            <a:ext cx="3861492" cy="3861492"/>
            <a:chOff x="0" y="0"/>
            <a:chExt cx="4473791" cy="4473791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473829" cy="4473829"/>
            </a:xfrm>
            <a:custGeom>
              <a:avLst/>
              <a:gdLst/>
              <a:ahLst/>
              <a:cxnLst/>
              <a:rect l="l" t="t" r="r" b="b"/>
              <a:pathLst>
                <a:path w="4473829" h="4473829">
                  <a:moveTo>
                    <a:pt x="0" y="2236851"/>
                  </a:moveTo>
                  <a:cubicBezTo>
                    <a:pt x="0" y="1001522"/>
                    <a:pt x="1001522" y="0"/>
                    <a:pt x="2236851" y="0"/>
                  </a:cubicBezTo>
                  <a:cubicBezTo>
                    <a:pt x="3472180" y="0"/>
                    <a:pt x="4473829" y="1001522"/>
                    <a:pt x="4473829" y="2236851"/>
                  </a:cubicBezTo>
                  <a:cubicBezTo>
                    <a:pt x="4473829" y="3472180"/>
                    <a:pt x="3472307" y="4473829"/>
                    <a:pt x="2236851" y="4473829"/>
                  </a:cubicBezTo>
                  <a:cubicBezTo>
                    <a:pt x="1001395" y="4473829"/>
                    <a:pt x="0" y="3472307"/>
                    <a:pt x="0" y="2236851"/>
                  </a:cubicBezTo>
                  <a:close/>
                </a:path>
              </a:pathLst>
            </a:custGeom>
            <a:solidFill>
              <a:srgbClr val="E0F5F2"/>
            </a:solidFill>
            <a:ln w="63500" cap="sq">
              <a:solidFill>
                <a:srgbClr val="0D9488"/>
              </a:solidFill>
              <a:prstDash val="solid"/>
              <a:miter/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7752293" y="3801057"/>
            <a:ext cx="841869" cy="841869"/>
            <a:chOff x="0" y="0"/>
            <a:chExt cx="975360" cy="975360"/>
          </a:xfrm>
        </p:grpSpPr>
        <p:sp>
          <p:nvSpPr>
            <p:cNvPr id="23" name="Freeform 23" descr="preencoded.png"/>
            <p:cNvSpPr/>
            <p:nvPr/>
          </p:nvSpPr>
          <p:spPr>
            <a:xfrm>
              <a:off x="0" y="0"/>
              <a:ext cx="975360" cy="975360"/>
            </a:xfrm>
            <a:custGeom>
              <a:avLst/>
              <a:gdLst/>
              <a:ahLst/>
              <a:cxnLst/>
              <a:rect l="l" t="t" r="r" b="b"/>
              <a:pathLst>
                <a:path w="975360" h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24" name="Group 24"/>
          <p:cNvGrpSpPr/>
          <p:nvPr/>
        </p:nvGrpSpPr>
        <p:grpSpPr>
          <a:xfrm>
            <a:off x="6594729" y="4521433"/>
            <a:ext cx="3157008" cy="1228279"/>
            <a:chOff x="0" y="0"/>
            <a:chExt cx="3657600" cy="1423041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3657600" cy="1423041"/>
            </a:xfrm>
            <a:custGeom>
              <a:avLst/>
              <a:gdLst/>
              <a:ahLst/>
              <a:cxnLst/>
              <a:rect l="l" t="t" r="r" b="b"/>
              <a:pathLst>
                <a:path w="3657600" h="1423041">
                  <a:moveTo>
                    <a:pt x="0" y="0"/>
                  </a:moveTo>
                  <a:lnTo>
                    <a:pt x="3657600" y="0"/>
                  </a:lnTo>
                  <a:lnTo>
                    <a:pt x="3657600" y="1423041"/>
                  </a:lnTo>
                  <a:lnTo>
                    <a:pt x="0" y="142304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5811" b="15647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0" y="0"/>
              <a:ext cx="3657600" cy="142304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endParaRPr/>
            </a:p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1B3A5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ARTHSETU</a:t>
              </a:r>
            </a:p>
            <a:p>
              <a:pPr algn="ctr">
                <a:lnSpc>
                  <a:spcPts val="2879"/>
                </a:lnSpc>
              </a:pPr>
              <a:endParaRPr lang="en-US" sz="2400" b="1">
                <a:solidFill>
                  <a:srgbClr val="1B3A5F"/>
                </a:solidFill>
                <a:latin typeface="Inter Bold"/>
                <a:ea typeface="Inter Bold"/>
                <a:cs typeface="Inter Bold"/>
                <a:sym typeface="Inter Bold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434848" y="5504821"/>
            <a:ext cx="3476759" cy="715803"/>
            <a:chOff x="0" y="0"/>
            <a:chExt cx="4145280" cy="85344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4145280" cy="853440"/>
            </a:xfrm>
            <a:custGeom>
              <a:avLst/>
              <a:gdLst/>
              <a:ahLst/>
              <a:cxnLst/>
              <a:rect l="l" t="t" r="r" b="b"/>
              <a:pathLst>
                <a:path w="4145280" h="853440">
                  <a:moveTo>
                    <a:pt x="0" y="0"/>
                  </a:moveTo>
                  <a:lnTo>
                    <a:pt x="4145280" y="0"/>
                  </a:lnTo>
                  <a:lnTo>
                    <a:pt x="4145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4641" b="-44641"/>
              </a:stretch>
            </a:blipFill>
          </p:spPr>
        </p:sp>
        <p:sp>
          <p:nvSpPr>
            <p:cNvPr id="29" name="TextBox 29"/>
            <p:cNvSpPr txBox="1"/>
            <p:nvPr/>
          </p:nvSpPr>
          <p:spPr>
            <a:xfrm>
              <a:off x="0" y="0"/>
              <a:ext cx="4145280" cy="8534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79"/>
                </a:lnSpc>
              </a:pPr>
              <a:r>
                <a:rPr lang="en-US" sz="1899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AI-powered fund monitoring</a:t>
              </a:r>
            </a:p>
            <a:p>
              <a:pPr algn="ctr">
                <a:lnSpc>
                  <a:spcPts val="2279"/>
                </a:lnSpc>
              </a:pPr>
              <a:r>
                <a:rPr lang="en-US" sz="1899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&amp; accountability platform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40693" y="1537973"/>
            <a:ext cx="3141983" cy="1770383"/>
            <a:chOff x="0" y="0"/>
            <a:chExt cx="4189311" cy="2360511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4189222" cy="2360422"/>
            </a:xfrm>
            <a:custGeom>
              <a:avLst/>
              <a:gdLst/>
              <a:ahLst/>
              <a:cxnLst/>
              <a:rect l="l" t="t" r="r" b="b"/>
              <a:pathLst>
                <a:path w="4189222" h="2360422">
                  <a:moveTo>
                    <a:pt x="0" y="198755"/>
                  </a:moveTo>
                  <a:cubicBezTo>
                    <a:pt x="0" y="89027"/>
                    <a:pt x="89027" y="0"/>
                    <a:pt x="198755" y="0"/>
                  </a:cubicBezTo>
                  <a:lnTo>
                    <a:pt x="3990467" y="0"/>
                  </a:lnTo>
                  <a:cubicBezTo>
                    <a:pt x="4100195" y="0"/>
                    <a:pt x="4189222" y="89027"/>
                    <a:pt x="4189222" y="198755"/>
                  </a:cubicBezTo>
                  <a:lnTo>
                    <a:pt x="4189222" y="2161667"/>
                  </a:lnTo>
                  <a:cubicBezTo>
                    <a:pt x="4189222" y="2271395"/>
                    <a:pt x="4100195" y="2360422"/>
                    <a:pt x="3990467" y="2360422"/>
                  </a:cubicBezTo>
                  <a:lnTo>
                    <a:pt x="198755" y="2360422"/>
                  </a:lnTo>
                  <a:cubicBezTo>
                    <a:pt x="89027" y="2360549"/>
                    <a:pt x="0" y="2271522"/>
                    <a:pt x="0" y="2161667"/>
                  </a:cubicBezTo>
                  <a:close/>
                </a:path>
              </a:pathLst>
            </a:custGeom>
            <a:solidFill>
              <a:srgbClr val="FFFFFF"/>
            </a:solidFill>
            <a:ln w="33020" cap="sq">
              <a:solidFill>
                <a:srgbClr val="5EEAD4"/>
              </a:solidFill>
              <a:prstDash val="solid"/>
              <a:miter/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698935" y="1642659"/>
            <a:ext cx="2231136" cy="548640"/>
            <a:chOff x="0" y="0"/>
            <a:chExt cx="2974848" cy="73152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2974848" cy="731520"/>
            </a:xfrm>
            <a:custGeom>
              <a:avLst/>
              <a:gdLst/>
              <a:ahLst/>
              <a:cxnLst/>
              <a:rect l="l" t="t" r="r" b="b"/>
              <a:pathLst>
                <a:path w="2974848" h="731520">
                  <a:moveTo>
                    <a:pt x="0" y="0"/>
                  </a:moveTo>
                  <a:lnTo>
                    <a:pt x="2974848" y="0"/>
                  </a:lnTo>
                  <a:lnTo>
                    <a:pt x="297484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9239" b="-29239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-9525"/>
              <a:ext cx="2974848" cy="7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>
                  <a:solidFill>
                    <a:srgbClr val="1E293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Data Ingestion Layer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40080" y="2286000"/>
            <a:ext cx="2743200" cy="859536"/>
            <a:chOff x="0" y="0"/>
            <a:chExt cx="3657600" cy="1146048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3657600" cy="1146048"/>
            </a:xfrm>
            <a:custGeom>
              <a:avLst/>
              <a:gdLst/>
              <a:ahLst/>
              <a:cxnLst/>
              <a:rect l="l" t="t" r="r" b="b"/>
              <a:pathLst>
                <a:path w="3657600" h="1146048">
                  <a:moveTo>
                    <a:pt x="0" y="0"/>
                  </a:moveTo>
                  <a:lnTo>
                    <a:pt x="3657600" y="0"/>
                  </a:lnTo>
                  <a:lnTo>
                    <a:pt x="3657600" y="1146048"/>
                  </a:lnTo>
                  <a:lnTo>
                    <a:pt x="0" y="11460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186" b="-12186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0"/>
              <a:ext cx="3657600" cy="11460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• API Integration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• CSV / Excel Upload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• Secure File Upload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440693" y="3458213"/>
            <a:ext cx="3141983" cy="1770383"/>
            <a:chOff x="0" y="0"/>
            <a:chExt cx="4189311" cy="2360511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4189222" cy="2360422"/>
            </a:xfrm>
            <a:custGeom>
              <a:avLst/>
              <a:gdLst/>
              <a:ahLst/>
              <a:cxnLst/>
              <a:rect l="l" t="t" r="r" b="b"/>
              <a:pathLst>
                <a:path w="4189222" h="2360422">
                  <a:moveTo>
                    <a:pt x="0" y="198755"/>
                  </a:moveTo>
                  <a:cubicBezTo>
                    <a:pt x="0" y="89027"/>
                    <a:pt x="89027" y="0"/>
                    <a:pt x="198755" y="0"/>
                  </a:cubicBezTo>
                  <a:lnTo>
                    <a:pt x="3990467" y="0"/>
                  </a:lnTo>
                  <a:cubicBezTo>
                    <a:pt x="4100195" y="0"/>
                    <a:pt x="4189222" y="89027"/>
                    <a:pt x="4189222" y="198755"/>
                  </a:cubicBezTo>
                  <a:lnTo>
                    <a:pt x="4189222" y="2161667"/>
                  </a:lnTo>
                  <a:cubicBezTo>
                    <a:pt x="4189222" y="2271395"/>
                    <a:pt x="4100195" y="2360422"/>
                    <a:pt x="3990467" y="2360422"/>
                  </a:cubicBezTo>
                  <a:lnTo>
                    <a:pt x="198755" y="2360422"/>
                  </a:lnTo>
                  <a:cubicBezTo>
                    <a:pt x="89027" y="2360549"/>
                    <a:pt x="0" y="2271522"/>
                    <a:pt x="0" y="2161667"/>
                  </a:cubicBezTo>
                  <a:close/>
                </a:path>
              </a:pathLst>
            </a:custGeom>
            <a:solidFill>
              <a:srgbClr val="FFFFFF"/>
            </a:solidFill>
            <a:ln w="33020" cap="sq">
              <a:solidFill>
                <a:srgbClr val="5EEAD4"/>
              </a:solidFill>
              <a:prstDash val="solid"/>
              <a:miter/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698935" y="3609975"/>
            <a:ext cx="2231136" cy="548640"/>
            <a:chOff x="0" y="0"/>
            <a:chExt cx="2974848" cy="73152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2974848" cy="731520"/>
            </a:xfrm>
            <a:custGeom>
              <a:avLst/>
              <a:gdLst/>
              <a:ahLst/>
              <a:cxnLst/>
              <a:rect l="l" t="t" r="r" b="b"/>
              <a:pathLst>
                <a:path w="2974848" h="731520">
                  <a:moveTo>
                    <a:pt x="0" y="0"/>
                  </a:moveTo>
                  <a:lnTo>
                    <a:pt x="2974848" y="0"/>
                  </a:lnTo>
                  <a:lnTo>
                    <a:pt x="297484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9239" b="-29239"/>
              </a:stretch>
            </a:blipFill>
          </p:spPr>
        </p:sp>
        <p:sp>
          <p:nvSpPr>
            <p:cNvPr id="42" name="TextBox 42"/>
            <p:cNvSpPr txBox="1"/>
            <p:nvPr/>
          </p:nvSpPr>
          <p:spPr>
            <a:xfrm>
              <a:off x="0" y="-9525"/>
              <a:ext cx="2974848" cy="7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>
                  <a:solidFill>
                    <a:srgbClr val="1E293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Document Processing &amp; OCR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640080" y="4206240"/>
            <a:ext cx="2743200" cy="859536"/>
            <a:chOff x="0" y="0"/>
            <a:chExt cx="3657600" cy="1146048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3657600" cy="1146048"/>
            </a:xfrm>
            <a:custGeom>
              <a:avLst/>
              <a:gdLst/>
              <a:ahLst/>
              <a:cxnLst/>
              <a:rect l="l" t="t" r="r" b="b"/>
              <a:pathLst>
                <a:path w="3657600" h="1146048">
                  <a:moveTo>
                    <a:pt x="0" y="0"/>
                  </a:moveTo>
                  <a:lnTo>
                    <a:pt x="3657600" y="0"/>
                  </a:lnTo>
                  <a:lnTo>
                    <a:pt x="3657600" y="1146048"/>
                  </a:lnTo>
                  <a:lnTo>
                    <a:pt x="0" y="11460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186" b="-12186"/>
              </a:stretch>
            </a:blipFill>
          </p:spPr>
        </p:sp>
        <p:sp>
          <p:nvSpPr>
            <p:cNvPr id="45" name="TextBox 45"/>
            <p:cNvSpPr txBox="1"/>
            <p:nvPr/>
          </p:nvSpPr>
          <p:spPr>
            <a:xfrm>
              <a:off x="0" y="0"/>
              <a:ext cx="3657600" cy="11460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• OCR Extraction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• Data Validation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• Document Linking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440693" y="5378453"/>
            <a:ext cx="3141983" cy="1770383"/>
            <a:chOff x="0" y="0"/>
            <a:chExt cx="4189311" cy="2360511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4189222" cy="2360422"/>
            </a:xfrm>
            <a:custGeom>
              <a:avLst/>
              <a:gdLst/>
              <a:ahLst/>
              <a:cxnLst/>
              <a:rect l="l" t="t" r="r" b="b"/>
              <a:pathLst>
                <a:path w="4189222" h="2360422">
                  <a:moveTo>
                    <a:pt x="0" y="198755"/>
                  </a:moveTo>
                  <a:cubicBezTo>
                    <a:pt x="0" y="89027"/>
                    <a:pt x="89027" y="0"/>
                    <a:pt x="198755" y="0"/>
                  </a:cubicBezTo>
                  <a:lnTo>
                    <a:pt x="3990467" y="0"/>
                  </a:lnTo>
                  <a:cubicBezTo>
                    <a:pt x="4100195" y="0"/>
                    <a:pt x="4189222" y="89027"/>
                    <a:pt x="4189222" y="198755"/>
                  </a:cubicBezTo>
                  <a:lnTo>
                    <a:pt x="4189222" y="2161667"/>
                  </a:lnTo>
                  <a:cubicBezTo>
                    <a:pt x="4189222" y="2271395"/>
                    <a:pt x="4100195" y="2360422"/>
                    <a:pt x="3990467" y="2360422"/>
                  </a:cubicBezTo>
                  <a:lnTo>
                    <a:pt x="198755" y="2360422"/>
                  </a:lnTo>
                  <a:cubicBezTo>
                    <a:pt x="89027" y="2360549"/>
                    <a:pt x="0" y="2271522"/>
                    <a:pt x="0" y="2161667"/>
                  </a:cubicBezTo>
                  <a:close/>
                </a:path>
              </a:pathLst>
            </a:custGeom>
            <a:solidFill>
              <a:srgbClr val="FFFFFF"/>
            </a:solidFill>
            <a:ln w="33020" cap="sq">
              <a:solidFill>
                <a:srgbClr val="5EEAD4"/>
              </a:solidFill>
              <a:prstDash val="solid"/>
              <a:miter/>
            </a:ln>
          </p:spPr>
        </p:sp>
      </p:grpSp>
      <p:grpSp>
        <p:nvGrpSpPr>
          <p:cNvPr id="48" name="Group 48"/>
          <p:cNvGrpSpPr/>
          <p:nvPr/>
        </p:nvGrpSpPr>
        <p:grpSpPr>
          <a:xfrm>
            <a:off x="698935" y="5544184"/>
            <a:ext cx="2231136" cy="548640"/>
            <a:chOff x="0" y="0"/>
            <a:chExt cx="2974848" cy="73152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2974848" cy="731520"/>
            </a:xfrm>
            <a:custGeom>
              <a:avLst/>
              <a:gdLst/>
              <a:ahLst/>
              <a:cxnLst/>
              <a:rect l="l" t="t" r="r" b="b"/>
              <a:pathLst>
                <a:path w="2974848" h="731520">
                  <a:moveTo>
                    <a:pt x="0" y="0"/>
                  </a:moveTo>
                  <a:lnTo>
                    <a:pt x="2974848" y="0"/>
                  </a:lnTo>
                  <a:lnTo>
                    <a:pt x="297484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9239" b="-29239"/>
              </a:stretch>
            </a:blipFill>
          </p:spPr>
        </p:sp>
        <p:sp>
          <p:nvSpPr>
            <p:cNvPr id="50" name="TextBox 50"/>
            <p:cNvSpPr txBox="1"/>
            <p:nvPr/>
          </p:nvSpPr>
          <p:spPr>
            <a:xfrm>
              <a:off x="0" y="-9525"/>
              <a:ext cx="2974848" cy="7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>
                  <a:solidFill>
                    <a:srgbClr val="1E293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GIS &amp; Mapping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640080" y="6126480"/>
            <a:ext cx="2743200" cy="859536"/>
            <a:chOff x="0" y="0"/>
            <a:chExt cx="3657600" cy="1146048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3657600" cy="1146048"/>
            </a:xfrm>
            <a:custGeom>
              <a:avLst/>
              <a:gdLst/>
              <a:ahLst/>
              <a:cxnLst/>
              <a:rect l="l" t="t" r="r" b="b"/>
              <a:pathLst>
                <a:path w="3657600" h="1146048">
                  <a:moveTo>
                    <a:pt x="0" y="0"/>
                  </a:moveTo>
                  <a:lnTo>
                    <a:pt x="3657600" y="0"/>
                  </a:lnTo>
                  <a:lnTo>
                    <a:pt x="3657600" y="1146048"/>
                  </a:lnTo>
                  <a:lnTo>
                    <a:pt x="0" y="11460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186" b="-12186"/>
              </a:stretch>
            </a:blipFill>
          </p:spPr>
        </p:sp>
        <p:sp>
          <p:nvSpPr>
            <p:cNvPr id="53" name="TextBox 53"/>
            <p:cNvSpPr txBox="1"/>
            <p:nvPr/>
          </p:nvSpPr>
          <p:spPr>
            <a:xfrm>
              <a:off x="0" y="0"/>
              <a:ext cx="3657600" cy="11460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• Work Location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• Geo-tagging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• Interactive Maps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440693" y="7298693"/>
            <a:ext cx="3141983" cy="1959607"/>
            <a:chOff x="0" y="0"/>
            <a:chExt cx="4189311" cy="2612809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4189222" cy="2612711"/>
            </a:xfrm>
            <a:custGeom>
              <a:avLst/>
              <a:gdLst/>
              <a:ahLst/>
              <a:cxnLst/>
              <a:rect l="l" t="t" r="r" b="b"/>
              <a:pathLst>
                <a:path w="4189222" h="2612711">
                  <a:moveTo>
                    <a:pt x="0" y="219998"/>
                  </a:moveTo>
                  <a:cubicBezTo>
                    <a:pt x="0" y="98542"/>
                    <a:pt x="89027" y="0"/>
                    <a:pt x="198755" y="0"/>
                  </a:cubicBezTo>
                  <a:lnTo>
                    <a:pt x="3990467" y="0"/>
                  </a:lnTo>
                  <a:cubicBezTo>
                    <a:pt x="4100195" y="0"/>
                    <a:pt x="4189222" y="98542"/>
                    <a:pt x="4189222" y="219998"/>
                  </a:cubicBezTo>
                  <a:lnTo>
                    <a:pt x="4189222" y="2392712"/>
                  </a:lnTo>
                  <a:cubicBezTo>
                    <a:pt x="4189222" y="2514168"/>
                    <a:pt x="4100195" y="2612711"/>
                    <a:pt x="3990467" y="2612711"/>
                  </a:cubicBezTo>
                  <a:lnTo>
                    <a:pt x="198755" y="2612711"/>
                  </a:lnTo>
                  <a:cubicBezTo>
                    <a:pt x="89027" y="2612847"/>
                    <a:pt x="0" y="2514309"/>
                    <a:pt x="0" y="2392712"/>
                  </a:cubicBezTo>
                  <a:close/>
                </a:path>
              </a:pathLst>
            </a:custGeom>
            <a:solidFill>
              <a:srgbClr val="FFFFFF"/>
            </a:solidFill>
            <a:ln w="33020" cap="sq">
              <a:solidFill>
                <a:srgbClr val="5EEAD4"/>
              </a:solidFill>
              <a:prstDash val="solid"/>
              <a:miter/>
            </a:ln>
          </p:spPr>
        </p:sp>
      </p:grpSp>
      <p:grpSp>
        <p:nvGrpSpPr>
          <p:cNvPr id="56" name="Group 56"/>
          <p:cNvGrpSpPr/>
          <p:nvPr/>
        </p:nvGrpSpPr>
        <p:grpSpPr>
          <a:xfrm>
            <a:off x="694944" y="7463161"/>
            <a:ext cx="2231136" cy="548640"/>
            <a:chOff x="0" y="0"/>
            <a:chExt cx="2974848" cy="73152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2974848" cy="731520"/>
            </a:xfrm>
            <a:custGeom>
              <a:avLst/>
              <a:gdLst/>
              <a:ahLst/>
              <a:cxnLst/>
              <a:rect l="l" t="t" r="r" b="b"/>
              <a:pathLst>
                <a:path w="2974848" h="731520">
                  <a:moveTo>
                    <a:pt x="0" y="0"/>
                  </a:moveTo>
                  <a:lnTo>
                    <a:pt x="2974848" y="0"/>
                  </a:lnTo>
                  <a:lnTo>
                    <a:pt x="297484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9239" b="-29239"/>
              </a:stretch>
            </a:blipFill>
          </p:spPr>
        </p:sp>
        <p:sp>
          <p:nvSpPr>
            <p:cNvPr id="58" name="TextBox 58"/>
            <p:cNvSpPr txBox="1"/>
            <p:nvPr/>
          </p:nvSpPr>
          <p:spPr>
            <a:xfrm>
              <a:off x="0" y="-9525"/>
              <a:ext cx="2974848" cy="7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>
                  <a:solidFill>
                    <a:srgbClr val="1E293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User &amp; Access Management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640080" y="8021193"/>
            <a:ext cx="2743200" cy="1174832"/>
            <a:chOff x="0" y="0"/>
            <a:chExt cx="3657600" cy="1566442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3657600" cy="1566442"/>
            </a:xfrm>
            <a:custGeom>
              <a:avLst/>
              <a:gdLst/>
              <a:ahLst/>
              <a:cxnLst/>
              <a:rect l="l" t="t" r="r" b="b"/>
              <a:pathLst>
                <a:path w="3657600" h="1566442">
                  <a:moveTo>
                    <a:pt x="0" y="0"/>
                  </a:moveTo>
                  <a:lnTo>
                    <a:pt x="3657600" y="0"/>
                  </a:lnTo>
                  <a:lnTo>
                    <a:pt x="3657600" y="1566442"/>
                  </a:lnTo>
                  <a:lnTo>
                    <a:pt x="0" y="156644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915" b="17921"/>
              </a:stretch>
            </a:blipFill>
          </p:spPr>
        </p:sp>
        <p:sp>
          <p:nvSpPr>
            <p:cNvPr id="61" name="TextBox 61"/>
            <p:cNvSpPr txBox="1"/>
            <p:nvPr/>
          </p:nvSpPr>
          <p:spPr>
            <a:xfrm>
              <a:off x="0" y="0"/>
              <a:ext cx="3657600" cy="15664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• Role-Based Access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• MP / State / District / Ministry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• Secure Authentication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4133998" y="1490751"/>
            <a:ext cx="3275147" cy="1654785"/>
            <a:chOff x="0" y="0"/>
            <a:chExt cx="4189311" cy="2116671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4189349" cy="2116709"/>
            </a:xfrm>
            <a:custGeom>
              <a:avLst/>
              <a:gdLst/>
              <a:ahLst/>
              <a:cxnLst/>
              <a:rect l="l" t="t" r="r" b="b"/>
              <a:pathLst>
                <a:path w="4189349" h="2116709">
                  <a:moveTo>
                    <a:pt x="0" y="199263"/>
                  </a:moveTo>
                  <a:cubicBezTo>
                    <a:pt x="0" y="89154"/>
                    <a:pt x="89154" y="0"/>
                    <a:pt x="199263" y="0"/>
                  </a:cubicBezTo>
                  <a:lnTo>
                    <a:pt x="3990086" y="0"/>
                  </a:lnTo>
                  <a:cubicBezTo>
                    <a:pt x="4100068" y="0"/>
                    <a:pt x="4189349" y="89154"/>
                    <a:pt x="4189349" y="199263"/>
                  </a:cubicBezTo>
                  <a:lnTo>
                    <a:pt x="4189349" y="1917446"/>
                  </a:lnTo>
                  <a:cubicBezTo>
                    <a:pt x="4189349" y="2027428"/>
                    <a:pt x="4100195" y="2116709"/>
                    <a:pt x="3990086" y="2116709"/>
                  </a:cubicBezTo>
                  <a:lnTo>
                    <a:pt x="199263" y="2116709"/>
                  </a:lnTo>
                  <a:cubicBezTo>
                    <a:pt x="89154" y="2116709"/>
                    <a:pt x="0" y="2027428"/>
                    <a:pt x="0" y="1917446"/>
                  </a:cubicBezTo>
                  <a:close/>
                </a:path>
              </a:pathLst>
            </a:custGeom>
            <a:solidFill>
              <a:srgbClr val="FFFFFF"/>
            </a:solidFill>
            <a:ln w="33020" cap="sq">
              <a:solidFill>
                <a:srgbClr val="5EEAD4"/>
              </a:solidFill>
              <a:prstDash val="solid"/>
              <a:miter/>
            </a:ln>
          </p:spPr>
        </p:sp>
      </p:grpSp>
      <p:grpSp>
        <p:nvGrpSpPr>
          <p:cNvPr id="64" name="Group 64"/>
          <p:cNvGrpSpPr/>
          <p:nvPr/>
        </p:nvGrpSpPr>
        <p:grpSpPr>
          <a:xfrm>
            <a:off x="4407174" y="1717038"/>
            <a:ext cx="2325696" cy="571892"/>
            <a:chOff x="0" y="0"/>
            <a:chExt cx="2974848" cy="731520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2974848" cy="731520"/>
            </a:xfrm>
            <a:custGeom>
              <a:avLst/>
              <a:gdLst/>
              <a:ahLst/>
              <a:cxnLst/>
              <a:rect l="l" t="t" r="r" b="b"/>
              <a:pathLst>
                <a:path w="2974848" h="731520">
                  <a:moveTo>
                    <a:pt x="0" y="0"/>
                  </a:moveTo>
                  <a:lnTo>
                    <a:pt x="2974848" y="0"/>
                  </a:lnTo>
                  <a:lnTo>
                    <a:pt x="297484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9239" b="-29239"/>
              </a:stretch>
            </a:blipFill>
          </p:spPr>
        </p:sp>
        <p:sp>
          <p:nvSpPr>
            <p:cNvPr id="66" name="TextBox 66"/>
            <p:cNvSpPr txBox="1"/>
            <p:nvPr/>
          </p:nvSpPr>
          <p:spPr>
            <a:xfrm>
              <a:off x="0" y="-9525"/>
              <a:ext cx="2974848" cy="7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>
                  <a:solidFill>
                    <a:srgbClr val="1E293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Central Database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4341835" y="2270481"/>
            <a:ext cx="2859462" cy="705334"/>
            <a:chOff x="0" y="0"/>
            <a:chExt cx="3657600" cy="902208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3657600" cy="902208"/>
            </a:xfrm>
            <a:custGeom>
              <a:avLst/>
              <a:gdLst/>
              <a:ahLst/>
              <a:cxnLst/>
              <a:rect l="l" t="t" r="r" b="b"/>
              <a:pathLst>
                <a:path w="3657600" h="902208">
                  <a:moveTo>
                    <a:pt x="0" y="0"/>
                  </a:moveTo>
                  <a:lnTo>
                    <a:pt x="3657600" y="0"/>
                  </a:lnTo>
                  <a:lnTo>
                    <a:pt x="365760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8993" b="-28993"/>
              </a:stretch>
            </a:blipFill>
          </p:spPr>
        </p:sp>
        <p:sp>
          <p:nvSpPr>
            <p:cNvPr id="69" name="TextBox 69"/>
            <p:cNvSpPr txBox="1"/>
            <p:nvPr/>
          </p:nvSpPr>
          <p:spPr>
            <a:xfrm>
              <a:off x="0" y="0"/>
              <a:ext cx="3657600" cy="9022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• PostgreSQL + PostGIS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10384037" y="1453939"/>
            <a:ext cx="3187059" cy="1795782"/>
            <a:chOff x="0" y="0"/>
            <a:chExt cx="4189311" cy="2360511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4189222" cy="2360422"/>
            </a:xfrm>
            <a:custGeom>
              <a:avLst/>
              <a:gdLst/>
              <a:ahLst/>
              <a:cxnLst/>
              <a:rect l="l" t="t" r="r" b="b"/>
              <a:pathLst>
                <a:path w="4189222" h="2360422">
                  <a:moveTo>
                    <a:pt x="0" y="198755"/>
                  </a:moveTo>
                  <a:cubicBezTo>
                    <a:pt x="0" y="89027"/>
                    <a:pt x="89027" y="0"/>
                    <a:pt x="198755" y="0"/>
                  </a:cubicBezTo>
                  <a:lnTo>
                    <a:pt x="3990467" y="0"/>
                  </a:lnTo>
                  <a:cubicBezTo>
                    <a:pt x="4100195" y="0"/>
                    <a:pt x="4189222" y="89027"/>
                    <a:pt x="4189222" y="198755"/>
                  </a:cubicBezTo>
                  <a:lnTo>
                    <a:pt x="4189222" y="2161667"/>
                  </a:lnTo>
                  <a:cubicBezTo>
                    <a:pt x="4189222" y="2271395"/>
                    <a:pt x="4100195" y="2360422"/>
                    <a:pt x="3990467" y="2360422"/>
                  </a:cubicBezTo>
                  <a:lnTo>
                    <a:pt x="198755" y="2360422"/>
                  </a:lnTo>
                  <a:cubicBezTo>
                    <a:pt x="89027" y="2360549"/>
                    <a:pt x="0" y="2271522"/>
                    <a:pt x="0" y="2161667"/>
                  </a:cubicBezTo>
                  <a:close/>
                </a:path>
              </a:pathLst>
            </a:custGeom>
            <a:solidFill>
              <a:srgbClr val="FFFFFF"/>
            </a:solidFill>
            <a:ln w="33020" cap="sq">
              <a:solidFill>
                <a:srgbClr val="5EEAD4"/>
              </a:solidFill>
              <a:prstDash val="solid"/>
              <a:miter/>
            </a:ln>
          </p:spPr>
        </p:sp>
      </p:grpSp>
      <p:grpSp>
        <p:nvGrpSpPr>
          <p:cNvPr id="72" name="Group 72"/>
          <p:cNvGrpSpPr/>
          <p:nvPr/>
        </p:nvGrpSpPr>
        <p:grpSpPr>
          <a:xfrm>
            <a:off x="10626094" y="1638723"/>
            <a:ext cx="2263145" cy="556511"/>
            <a:chOff x="0" y="0"/>
            <a:chExt cx="2974848" cy="731520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2974848" cy="731520"/>
            </a:xfrm>
            <a:custGeom>
              <a:avLst/>
              <a:gdLst/>
              <a:ahLst/>
              <a:cxnLst/>
              <a:rect l="l" t="t" r="r" b="b"/>
              <a:pathLst>
                <a:path w="2974848" h="731520">
                  <a:moveTo>
                    <a:pt x="0" y="0"/>
                  </a:moveTo>
                  <a:lnTo>
                    <a:pt x="2974848" y="0"/>
                  </a:lnTo>
                  <a:lnTo>
                    <a:pt x="297484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9239" b="-29239"/>
              </a:stretch>
            </a:blipFill>
          </p:spPr>
        </p:sp>
        <p:sp>
          <p:nvSpPr>
            <p:cNvPr id="74" name="TextBox 74"/>
            <p:cNvSpPr txBox="1"/>
            <p:nvPr/>
          </p:nvSpPr>
          <p:spPr>
            <a:xfrm>
              <a:off x="0" y="-9525"/>
              <a:ext cx="2974848" cy="7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>
                  <a:solidFill>
                    <a:srgbClr val="1E293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Rule Engine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10586285" y="2212698"/>
            <a:ext cx="2782555" cy="871867"/>
            <a:chOff x="0" y="0"/>
            <a:chExt cx="3657600" cy="1146048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3657600" cy="1146048"/>
            </a:xfrm>
            <a:custGeom>
              <a:avLst/>
              <a:gdLst/>
              <a:ahLst/>
              <a:cxnLst/>
              <a:rect l="l" t="t" r="r" b="b"/>
              <a:pathLst>
                <a:path w="3657600" h="1146048">
                  <a:moveTo>
                    <a:pt x="0" y="0"/>
                  </a:moveTo>
                  <a:lnTo>
                    <a:pt x="3657600" y="0"/>
                  </a:lnTo>
                  <a:lnTo>
                    <a:pt x="3657600" y="1146048"/>
                  </a:lnTo>
                  <a:lnTo>
                    <a:pt x="0" y="11460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186" b="-12186"/>
              </a:stretch>
            </a:blipFill>
          </p:spPr>
        </p:sp>
        <p:sp>
          <p:nvSpPr>
            <p:cNvPr id="77" name="TextBox 77"/>
            <p:cNvSpPr txBox="1"/>
            <p:nvPr/>
          </p:nvSpPr>
          <p:spPr>
            <a:xfrm>
              <a:off x="0" y="0"/>
              <a:ext cx="3657600" cy="11460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• Compliance Checks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• Business Rules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• Threshold Monitoring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12122924" y="3458213"/>
            <a:ext cx="2867663" cy="1770383"/>
            <a:chOff x="0" y="0"/>
            <a:chExt cx="3823551" cy="2360511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3823462" cy="2360422"/>
            </a:xfrm>
            <a:custGeom>
              <a:avLst/>
              <a:gdLst/>
              <a:ahLst/>
              <a:cxnLst/>
              <a:rect l="l" t="t" r="r" b="b"/>
              <a:pathLst>
                <a:path w="3823462" h="2360422">
                  <a:moveTo>
                    <a:pt x="0" y="198755"/>
                  </a:moveTo>
                  <a:cubicBezTo>
                    <a:pt x="0" y="89027"/>
                    <a:pt x="89027" y="0"/>
                    <a:pt x="198755" y="0"/>
                  </a:cubicBezTo>
                  <a:lnTo>
                    <a:pt x="3624707" y="0"/>
                  </a:lnTo>
                  <a:cubicBezTo>
                    <a:pt x="3734435" y="0"/>
                    <a:pt x="3823462" y="89027"/>
                    <a:pt x="3823462" y="198755"/>
                  </a:cubicBezTo>
                  <a:lnTo>
                    <a:pt x="3823462" y="2161667"/>
                  </a:lnTo>
                  <a:cubicBezTo>
                    <a:pt x="3823462" y="2271395"/>
                    <a:pt x="3734435" y="2360422"/>
                    <a:pt x="3624707" y="2360422"/>
                  </a:cubicBezTo>
                  <a:lnTo>
                    <a:pt x="198755" y="2360422"/>
                  </a:lnTo>
                  <a:cubicBezTo>
                    <a:pt x="89027" y="2360549"/>
                    <a:pt x="0" y="2271522"/>
                    <a:pt x="0" y="2161667"/>
                  </a:cubicBezTo>
                  <a:close/>
                </a:path>
              </a:pathLst>
            </a:custGeom>
            <a:solidFill>
              <a:srgbClr val="FFFFFF"/>
            </a:solidFill>
            <a:ln w="33020" cap="sq">
              <a:solidFill>
                <a:srgbClr val="5EEAD4"/>
              </a:solidFill>
              <a:prstDash val="solid"/>
              <a:miter/>
            </a:ln>
          </p:spPr>
        </p:sp>
      </p:grpSp>
      <p:grpSp>
        <p:nvGrpSpPr>
          <p:cNvPr id="80" name="Group 80"/>
          <p:cNvGrpSpPr/>
          <p:nvPr/>
        </p:nvGrpSpPr>
        <p:grpSpPr>
          <a:xfrm>
            <a:off x="12322311" y="3639688"/>
            <a:ext cx="1956816" cy="548640"/>
            <a:chOff x="0" y="0"/>
            <a:chExt cx="2609088" cy="731520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2609088" cy="731520"/>
            </a:xfrm>
            <a:custGeom>
              <a:avLst/>
              <a:gdLst/>
              <a:ahLst/>
              <a:cxnLst/>
              <a:rect l="l" t="t" r="r" b="b"/>
              <a:pathLst>
                <a:path w="2609088" h="731520">
                  <a:moveTo>
                    <a:pt x="0" y="0"/>
                  </a:moveTo>
                  <a:lnTo>
                    <a:pt x="2609088" y="0"/>
                  </a:lnTo>
                  <a:lnTo>
                    <a:pt x="260908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9496" b="-19496"/>
              </a:stretch>
            </a:blipFill>
          </p:spPr>
        </p:sp>
        <p:sp>
          <p:nvSpPr>
            <p:cNvPr id="82" name="TextBox 82"/>
            <p:cNvSpPr txBox="1"/>
            <p:nvPr/>
          </p:nvSpPr>
          <p:spPr>
            <a:xfrm>
              <a:off x="0" y="-9525"/>
              <a:ext cx="2609088" cy="7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>
                  <a:solidFill>
                    <a:srgbClr val="1E293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AI / ML Engine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12322311" y="4206240"/>
            <a:ext cx="2468880" cy="859536"/>
            <a:chOff x="0" y="0"/>
            <a:chExt cx="3291840" cy="1146048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3291840" cy="1146048"/>
            </a:xfrm>
            <a:custGeom>
              <a:avLst/>
              <a:gdLst/>
              <a:ahLst/>
              <a:cxnLst/>
              <a:rect l="l" t="t" r="r" b="b"/>
              <a:pathLst>
                <a:path w="3291840" h="1146048">
                  <a:moveTo>
                    <a:pt x="0" y="0"/>
                  </a:moveTo>
                  <a:lnTo>
                    <a:pt x="3291840" y="0"/>
                  </a:lnTo>
                  <a:lnTo>
                    <a:pt x="3291840" y="1146048"/>
                  </a:lnTo>
                  <a:lnTo>
                    <a:pt x="0" y="11460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967" b="-5967"/>
              </a:stretch>
            </a:blipFill>
          </p:spPr>
        </p:sp>
        <p:sp>
          <p:nvSpPr>
            <p:cNvPr id="85" name="TextBox 85"/>
            <p:cNvSpPr txBox="1"/>
            <p:nvPr/>
          </p:nvSpPr>
          <p:spPr>
            <a:xfrm>
              <a:off x="0" y="0"/>
              <a:ext cx="3291840" cy="11460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• Anomaly Detection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• Risk Scoring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• Predictive Analytics</a:t>
              </a:r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12089130" y="5504821"/>
            <a:ext cx="2901457" cy="1993259"/>
            <a:chOff x="0" y="0"/>
            <a:chExt cx="3932090" cy="2701288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3931998" cy="2701187"/>
            </a:xfrm>
            <a:custGeom>
              <a:avLst/>
              <a:gdLst/>
              <a:ahLst/>
              <a:cxnLst/>
              <a:rect l="l" t="t" r="r" b="b"/>
              <a:pathLst>
                <a:path w="3931998" h="2701187">
                  <a:moveTo>
                    <a:pt x="0" y="227448"/>
                  </a:moveTo>
                  <a:cubicBezTo>
                    <a:pt x="0" y="101879"/>
                    <a:pt x="91554" y="0"/>
                    <a:pt x="204397" y="0"/>
                  </a:cubicBezTo>
                  <a:lnTo>
                    <a:pt x="3727601" y="0"/>
                  </a:lnTo>
                  <a:cubicBezTo>
                    <a:pt x="3840444" y="0"/>
                    <a:pt x="3931998" y="101879"/>
                    <a:pt x="3931998" y="227448"/>
                  </a:cubicBezTo>
                  <a:lnTo>
                    <a:pt x="3931998" y="2473738"/>
                  </a:lnTo>
                  <a:cubicBezTo>
                    <a:pt x="3931998" y="2599307"/>
                    <a:pt x="3840444" y="2701187"/>
                    <a:pt x="3727601" y="2701187"/>
                  </a:cubicBezTo>
                  <a:lnTo>
                    <a:pt x="204397" y="2701187"/>
                  </a:lnTo>
                  <a:cubicBezTo>
                    <a:pt x="91554" y="2701326"/>
                    <a:pt x="0" y="2599453"/>
                    <a:pt x="0" y="2473738"/>
                  </a:cubicBezTo>
                  <a:close/>
                </a:path>
              </a:pathLst>
            </a:custGeom>
            <a:solidFill>
              <a:srgbClr val="FFFFFF"/>
            </a:solidFill>
            <a:ln w="33020" cap="sq">
              <a:solidFill>
                <a:srgbClr val="5EEAD4"/>
              </a:solidFill>
              <a:prstDash val="solid"/>
              <a:miter/>
            </a:ln>
          </p:spPr>
        </p:sp>
      </p:grpSp>
      <p:grpSp>
        <p:nvGrpSpPr>
          <p:cNvPr id="88" name="Group 88"/>
          <p:cNvGrpSpPr/>
          <p:nvPr/>
        </p:nvGrpSpPr>
        <p:grpSpPr>
          <a:xfrm>
            <a:off x="12236958" y="5559688"/>
            <a:ext cx="1956816" cy="728291"/>
            <a:chOff x="0" y="0"/>
            <a:chExt cx="2609088" cy="971054"/>
          </a:xfrm>
        </p:grpSpPr>
        <p:sp>
          <p:nvSpPr>
            <p:cNvPr id="89" name="Freeform 89"/>
            <p:cNvSpPr/>
            <p:nvPr/>
          </p:nvSpPr>
          <p:spPr>
            <a:xfrm>
              <a:off x="0" y="0"/>
              <a:ext cx="2609088" cy="971054"/>
            </a:xfrm>
            <a:custGeom>
              <a:avLst/>
              <a:gdLst/>
              <a:ahLst/>
              <a:cxnLst/>
              <a:rect l="l" t="t" r="r" b="b"/>
              <a:pathLst>
                <a:path w="2609088" h="971054">
                  <a:moveTo>
                    <a:pt x="0" y="0"/>
                  </a:moveTo>
                  <a:lnTo>
                    <a:pt x="2609088" y="0"/>
                  </a:lnTo>
                  <a:lnTo>
                    <a:pt x="2609088" y="971054"/>
                  </a:lnTo>
                  <a:lnTo>
                    <a:pt x="0" y="97105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4687" b="9980"/>
              </a:stretch>
            </a:blipFill>
          </p:spPr>
        </p:sp>
        <p:sp>
          <p:nvSpPr>
            <p:cNvPr id="90" name="TextBox 90"/>
            <p:cNvSpPr txBox="1"/>
            <p:nvPr/>
          </p:nvSpPr>
          <p:spPr>
            <a:xfrm>
              <a:off x="0" y="-9525"/>
              <a:ext cx="2609088" cy="98057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>
                  <a:solidFill>
                    <a:srgbClr val="1E293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Analytics &amp; Dashboards</a:t>
              </a:r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12236958" y="6217920"/>
            <a:ext cx="2668276" cy="1173621"/>
            <a:chOff x="0" y="0"/>
            <a:chExt cx="3557702" cy="1564829"/>
          </a:xfrm>
        </p:grpSpPr>
        <p:sp>
          <p:nvSpPr>
            <p:cNvPr id="92" name="Freeform 92"/>
            <p:cNvSpPr/>
            <p:nvPr/>
          </p:nvSpPr>
          <p:spPr>
            <a:xfrm>
              <a:off x="0" y="0"/>
              <a:ext cx="3557702" cy="1564829"/>
            </a:xfrm>
            <a:custGeom>
              <a:avLst/>
              <a:gdLst/>
              <a:ahLst/>
              <a:cxnLst/>
              <a:rect l="l" t="t" r="r" b="b"/>
              <a:pathLst>
                <a:path w="3557702" h="1564829">
                  <a:moveTo>
                    <a:pt x="0" y="0"/>
                  </a:moveTo>
                  <a:lnTo>
                    <a:pt x="3557702" y="0"/>
                  </a:lnTo>
                  <a:lnTo>
                    <a:pt x="3557702" y="1564829"/>
                  </a:lnTo>
                  <a:lnTo>
                    <a:pt x="0" y="156482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370" r="7472" b="22391"/>
              </a:stretch>
            </a:blipFill>
          </p:spPr>
        </p:sp>
        <p:sp>
          <p:nvSpPr>
            <p:cNvPr id="93" name="TextBox 93"/>
            <p:cNvSpPr txBox="1"/>
            <p:nvPr/>
          </p:nvSpPr>
          <p:spPr>
            <a:xfrm>
              <a:off x="0" y="0"/>
              <a:ext cx="3557702" cy="156482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• Role-Based Dashboards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• KPIs &amp; Trends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• Drill-Down Insights</a:t>
              </a:r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8594162" y="7486228"/>
            <a:ext cx="3474720" cy="1957867"/>
            <a:chOff x="0" y="0"/>
            <a:chExt cx="4189311" cy="2360511"/>
          </a:xfrm>
        </p:grpSpPr>
        <p:sp>
          <p:nvSpPr>
            <p:cNvPr id="95" name="Freeform 95"/>
            <p:cNvSpPr/>
            <p:nvPr/>
          </p:nvSpPr>
          <p:spPr>
            <a:xfrm>
              <a:off x="0" y="0"/>
              <a:ext cx="4189222" cy="2360422"/>
            </a:xfrm>
            <a:custGeom>
              <a:avLst/>
              <a:gdLst/>
              <a:ahLst/>
              <a:cxnLst/>
              <a:rect l="l" t="t" r="r" b="b"/>
              <a:pathLst>
                <a:path w="4189222" h="2360422">
                  <a:moveTo>
                    <a:pt x="0" y="198755"/>
                  </a:moveTo>
                  <a:cubicBezTo>
                    <a:pt x="0" y="89027"/>
                    <a:pt x="89027" y="0"/>
                    <a:pt x="198755" y="0"/>
                  </a:cubicBezTo>
                  <a:lnTo>
                    <a:pt x="3990467" y="0"/>
                  </a:lnTo>
                  <a:cubicBezTo>
                    <a:pt x="4100195" y="0"/>
                    <a:pt x="4189222" y="89027"/>
                    <a:pt x="4189222" y="198755"/>
                  </a:cubicBezTo>
                  <a:lnTo>
                    <a:pt x="4189222" y="2161667"/>
                  </a:lnTo>
                  <a:cubicBezTo>
                    <a:pt x="4189222" y="2271395"/>
                    <a:pt x="4100195" y="2360422"/>
                    <a:pt x="3990467" y="2360422"/>
                  </a:cubicBezTo>
                  <a:lnTo>
                    <a:pt x="198755" y="2360422"/>
                  </a:lnTo>
                  <a:cubicBezTo>
                    <a:pt x="89027" y="2360549"/>
                    <a:pt x="0" y="2271522"/>
                    <a:pt x="0" y="2161667"/>
                  </a:cubicBezTo>
                  <a:close/>
                </a:path>
              </a:pathLst>
            </a:custGeom>
            <a:solidFill>
              <a:srgbClr val="FFFFFF"/>
            </a:solidFill>
            <a:ln w="33020" cap="sq">
              <a:solidFill>
                <a:srgbClr val="5EEAD4"/>
              </a:solidFill>
              <a:prstDash val="solid"/>
              <a:miter/>
            </a:ln>
          </p:spPr>
        </p:sp>
      </p:grpSp>
      <p:grpSp>
        <p:nvGrpSpPr>
          <p:cNvPr id="96" name="Group 96"/>
          <p:cNvGrpSpPr/>
          <p:nvPr/>
        </p:nvGrpSpPr>
        <p:grpSpPr>
          <a:xfrm>
            <a:off x="8870272" y="7671755"/>
            <a:ext cx="2467414" cy="606741"/>
            <a:chOff x="0" y="0"/>
            <a:chExt cx="2974848" cy="731520"/>
          </a:xfrm>
        </p:grpSpPr>
        <p:sp>
          <p:nvSpPr>
            <p:cNvPr id="97" name="Freeform 97"/>
            <p:cNvSpPr/>
            <p:nvPr/>
          </p:nvSpPr>
          <p:spPr>
            <a:xfrm>
              <a:off x="0" y="0"/>
              <a:ext cx="2974848" cy="731520"/>
            </a:xfrm>
            <a:custGeom>
              <a:avLst/>
              <a:gdLst/>
              <a:ahLst/>
              <a:cxnLst/>
              <a:rect l="l" t="t" r="r" b="b"/>
              <a:pathLst>
                <a:path w="2974848" h="731520">
                  <a:moveTo>
                    <a:pt x="0" y="0"/>
                  </a:moveTo>
                  <a:lnTo>
                    <a:pt x="2974848" y="0"/>
                  </a:lnTo>
                  <a:lnTo>
                    <a:pt x="297484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9239" b="-29239"/>
              </a:stretch>
            </a:blipFill>
          </p:spPr>
        </p:sp>
        <p:sp>
          <p:nvSpPr>
            <p:cNvPr id="98" name="TextBox 98"/>
            <p:cNvSpPr txBox="1"/>
            <p:nvPr/>
          </p:nvSpPr>
          <p:spPr>
            <a:xfrm>
              <a:off x="0" y="-9525"/>
              <a:ext cx="2974848" cy="7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>
                  <a:solidFill>
                    <a:srgbClr val="1E293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Alert &amp; Notification Engine</a:t>
              </a:r>
            </a:p>
          </p:txBody>
        </p:sp>
      </p:grpSp>
      <p:grpSp>
        <p:nvGrpSpPr>
          <p:cNvPr id="99" name="Group 99"/>
          <p:cNvGrpSpPr/>
          <p:nvPr/>
        </p:nvGrpSpPr>
        <p:grpSpPr>
          <a:xfrm>
            <a:off x="8814664" y="8313471"/>
            <a:ext cx="3033706" cy="950561"/>
            <a:chOff x="0" y="0"/>
            <a:chExt cx="3657600" cy="1146048"/>
          </a:xfrm>
        </p:grpSpPr>
        <p:sp>
          <p:nvSpPr>
            <p:cNvPr id="100" name="Freeform 100"/>
            <p:cNvSpPr/>
            <p:nvPr/>
          </p:nvSpPr>
          <p:spPr>
            <a:xfrm>
              <a:off x="0" y="0"/>
              <a:ext cx="3657600" cy="1146048"/>
            </a:xfrm>
            <a:custGeom>
              <a:avLst/>
              <a:gdLst/>
              <a:ahLst/>
              <a:cxnLst/>
              <a:rect l="l" t="t" r="r" b="b"/>
              <a:pathLst>
                <a:path w="3657600" h="1146048">
                  <a:moveTo>
                    <a:pt x="0" y="0"/>
                  </a:moveTo>
                  <a:lnTo>
                    <a:pt x="3657600" y="0"/>
                  </a:lnTo>
                  <a:lnTo>
                    <a:pt x="3657600" y="1146048"/>
                  </a:lnTo>
                  <a:lnTo>
                    <a:pt x="0" y="11460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186" b="-12186"/>
              </a:stretch>
            </a:blipFill>
          </p:spPr>
        </p:sp>
        <p:sp>
          <p:nvSpPr>
            <p:cNvPr id="101" name="TextBox 101"/>
            <p:cNvSpPr txBox="1"/>
            <p:nvPr/>
          </p:nvSpPr>
          <p:spPr>
            <a:xfrm>
              <a:off x="0" y="0"/>
              <a:ext cx="3657600" cy="11460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• Risk-Based Alerts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• Email / In-App Alerts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• Workflow Updates</a:t>
              </a:r>
            </a:p>
          </p:txBody>
        </p:sp>
      </p:grpSp>
      <p:grpSp>
        <p:nvGrpSpPr>
          <p:cNvPr id="102" name="Group 102"/>
          <p:cNvGrpSpPr/>
          <p:nvPr/>
        </p:nvGrpSpPr>
        <p:grpSpPr>
          <a:xfrm>
            <a:off x="4407174" y="7478746"/>
            <a:ext cx="3422976" cy="1928712"/>
            <a:chOff x="0" y="0"/>
            <a:chExt cx="4189311" cy="2360511"/>
          </a:xfrm>
        </p:grpSpPr>
        <p:sp>
          <p:nvSpPr>
            <p:cNvPr id="103" name="Freeform 103"/>
            <p:cNvSpPr/>
            <p:nvPr/>
          </p:nvSpPr>
          <p:spPr>
            <a:xfrm>
              <a:off x="0" y="0"/>
              <a:ext cx="4189222" cy="2360422"/>
            </a:xfrm>
            <a:custGeom>
              <a:avLst/>
              <a:gdLst/>
              <a:ahLst/>
              <a:cxnLst/>
              <a:rect l="l" t="t" r="r" b="b"/>
              <a:pathLst>
                <a:path w="4189222" h="2360422">
                  <a:moveTo>
                    <a:pt x="0" y="198755"/>
                  </a:moveTo>
                  <a:cubicBezTo>
                    <a:pt x="0" y="89027"/>
                    <a:pt x="89027" y="0"/>
                    <a:pt x="198755" y="0"/>
                  </a:cubicBezTo>
                  <a:lnTo>
                    <a:pt x="3990467" y="0"/>
                  </a:lnTo>
                  <a:cubicBezTo>
                    <a:pt x="4100195" y="0"/>
                    <a:pt x="4189222" y="89027"/>
                    <a:pt x="4189222" y="198755"/>
                  </a:cubicBezTo>
                  <a:lnTo>
                    <a:pt x="4189222" y="2161667"/>
                  </a:lnTo>
                  <a:cubicBezTo>
                    <a:pt x="4189222" y="2271395"/>
                    <a:pt x="4100195" y="2360422"/>
                    <a:pt x="3990467" y="2360422"/>
                  </a:cubicBezTo>
                  <a:lnTo>
                    <a:pt x="198755" y="2360422"/>
                  </a:lnTo>
                  <a:cubicBezTo>
                    <a:pt x="89027" y="2360549"/>
                    <a:pt x="0" y="2271522"/>
                    <a:pt x="0" y="2161667"/>
                  </a:cubicBezTo>
                  <a:close/>
                </a:path>
              </a:pathLst>
            </a:custGeom>
            <a:solidFill>
              <a:srgbClr val="FFFFFF"/>
            </a:solidFill>
            <a:ln w="33020" cap="sq">
              <a:solidFill>
                <a:srgbClr val="5EEAD4"/>
              </a:solidFill>
              <a:prstDash val="solid"/>
              <a:miter/>
            </a:ln>
          </p:spPr>
        </p:sp>
      </p:grpSp>
      <p:grpSp>
        <p:nvGrpSpPr>
          <p:cNvPr id="104" name="Group 104"/>
          <p:cNvGrpSpPr/>
          <p:nvPr/>
        </p:nvGrpSpPr>
        <p:grpSpPr>
          <a:xfrm>
            <a:off x="4631321" y="7680791"/>
            <a:ext cx="2430670" cy="597706"/>
            <a:chOff x="0" y="0"/>
            <a:chExt cx="2974848" cy="731520"/>
          </a:xfrm>
        </p:grpSpPr>
        <p:sp>
          <p:nvSpPr>
            <p:cNvPr id="105" name="Freeform 105"/>
            <p:cNvSpPr/>
            <p:nvPr/>
          </p:nvSpPr>
          <p:spPr>
            <a:xfrm>
              <a:off x="0" y="0"/>
              <a:ext cx="2974848" cy="731520"/>
            </a:xfrm>
            <a:custGeom>
              <a:avLst/>
              <a:gdLst/>
              <a:ahLst/>
              <a:cxnLst/>
              <a:rect l="l" t="t" r="r" b="b"/>
              <a:pathLst>
                <a:path w="2974848" h="731520">
                  <a:moveTo>
                    <a:pt x="0" y="0"/>
                  </a:moveTo>
                  <a:lnTo>
                    <a:pt x="2974848" y="0"/>
                  </a:lnTo>
                  <a:lnTo>
                    <a:pt x="297484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9239" b="-29239"/>
              </a:stretch>
            </a:blipFill>
          </p:spPr>
        </p:sp>
        <p:sp>
          <p:nvSpPr>
            <p:cNvPr id="106" name="TextBox 106"/>
            <p:cNvSpPr txBox="1"/>
            <p:nvPr/>
          </p:nvSpPr>
          <p:spPr>
            <a:xfrm>
              <a:off x="0" y="-9525"/>
              <a:ext cx="2974848" cy="7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>
                  <a:solidFill>
                    <a:srgbClr val="1E293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Audit &amp; Logging</a:t>
              </a:r>
            </a:p>
          </p:txBody>
        </p:sp>
      </p:grpSp>
      <p:grpSp>
        <p:nvGrpSpPr>
          <p:cNvPr id="107" name="Group 107"/>
          <p:cNvGrpSpPr/>
          <p:nvPr/>
        </p:nvGrpSpPr>
        <p:grpSpPr>
          <a:xfrm>
            <a:off x="4624392" y="8293670"/>
            <a:ext cx="2988529" cy="936406"/>
            <a:chOff x="0" y="0"/>
            <a:chExt cx="3657600" cy="1146048"/>
          </a:xfrm>
        </p:grpSpPr>
        <p:sp>
          <p:nvSpPr>
            <p:cNvPr id="108" name="Freeform 108"/>
            <p:cNvSpPr/>
            <p:nvPr/>
          </p:nvSpPr>
          <p:spPr>
            <a:xfrm>
              <a:off x="0" y="0"/>
              <a:ext cx="3657600" cy="1146048"/>
            </a:xfrm>
            <a:custGeom>
              <a:avLst/>
              <a:gdLst/>
              <a:ahLst/>
              <a:cxnLst/>
              <a:rect l="l" t="t" r="r" b="b"/>
              <a:pathLst>
                <a:path w="3657600" h="1146048">
                  <a:moveTo>
                    <a:pt x="0" y="0"/>
                  </a:moveTo>
                  <a:lnTo>
                    <a:pt x="3657600" y="0"/>
                  </a:lnTo>
                  <a:lnTo>
                    <a:pt x="3657600" y="1146048"/>
                  </a:lnTo>
                  <a:lnTo>
                    <a:pt x="0" y="11460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186" b="-12186"/>
              </a:stretch>
            </a:blipFill>
          </p:spPr>
        </p:sp>
        <p:sp>
          <p:nvSpPr>
            <p:cNvPr id="109" name="TextBox 109"/>
            <p:cNvSpPr txBox="1"/>
            <p:nvPr/>
          </p:nvSpPr>
          <p:spPr>
            <a:xfrm>
              <a:off x="0" y="0"/>
              <a:ext cx="3657600" cy="11460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• Tamper-Evident Logs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• Action Tracking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• Compliance Trail</a:t>
              </a:r>
            </a:p>
          </p:txBody>
        </p:sp>
      </p:grpSp>
      <p:grpSp>
        <p:nvGrpSpPr>
          <p:cNvPr id="110" name="Group 110"/>
          <p:cNvGrpSpPr/>
          <p:nvPr/>
        </p:nvGrpSpPr>
        <p:grpSpPr>
          <a:xfrm>
            <a:off x="15093953" y="1706751"/>
            <a:ext cx="2951483" cy="7614923"/>
            <a:chOff x="0" y="0"/>
            <a:chExt cx="3935311" cy="10153231"/>
          </a:xfrm>
        </p:grpSpPr>
        <p:sp>
          <p:nvSpPr>
            <p:cNvPr id="111" name="Freeform 111"/>
            <p:cNvSpPr/>
            <p:nvPr/>
          </p:nvSpPr>
          <p:spPr>
            <a:xfrm>
              <a:off x="0" y="0"/>
              <a:ext cx="3935222" cy="10153142"/>
            </a:xfrm>
            <a:custGeom>
              <a:avLst/>
              <a:gdLst/>
              <a:ahLst/>
              <a:cxnLst/>
              <a:rect l="l" t="t" r="r" b="b"/>
              <a:pathLst>
                <a:path w="3935222" h="10153142">
                  <a:moveTo>
                    <a:pt x="0" y="196723"/>
                  </a:moveTo>
                  <a:cubicBezTo>
                    <a:pt x="0" y="88138"/>
                    <a:pt x="88138" y="0"/>
                    <a:pt x="196723" y="0"/>
                  </a:cubicBezTo>
                  <a:lnTo>
                    <a:pt x="3738499" y="0"/>
                  </a:lnTo>
                  <a:cubicBezTo>
                    <a:pt x="3847211" y="0"/>
                    <a:pt x="3935222" y="88138"/>
                    <a:pt x="3935222" y="196723"/>
                  </a:cubicBezTo>
                  <a:lnTo>
                    <a:pt x="3935222" y="9956419"/>
                  </a:lnTo>
                  <a:cubicBezTo>
                    <a:pt x="3935222" y="10065131"/>
                    <a:pt x="3847084" y="10153142"/>
                    <a:pt x="3738499" y="10153142"/>
                  </a:cubicBezTo>
                  <a:lnTo>
                    <a:pt x="196723" y="10153142"/>
                  </a:lnTo>
                  <a:cubicBezTo>
                    <a:pt x="88138" y="10153269"/>
                    <a:pt x="0" y="10065131"/>
                    <a:pt x="0" y="9956419"/>
                  </a:cubicBezTo>
                  <a:close/>
                </a:path>
              </a:pathLst>
            </a:custGeom>
            <a:solidFill>
              <a:srgbClr val="F8FAFC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id="112" name="Group 112"/>
          <p:cNvGrpSpPr/>
          <p:nvPr/>
        </p:nvGrpSpPr>
        <p:grpSpPr>
          <a:xfrm>
            <a:off x="15106650" y="1810888"/>
            <a:ext cx="3017520" cy="731520"/>
            <a:chOff x="0" y="0"/>
            <a:chExt cx="4023360" cy="975360"/>
          </a:xfrm>
        </p:grpSpPr>
        <p:sp>
          <p:nvSpPr>
            <p:cNvPr id="113" name="Freeform 113"/>
            <p:cNvSpPr/>
            <p:nvPr/>
          </p:nvSpPr>
          <p:spPr>
            <a:xfrm>
              <a:off x="0" y="0"/>
              <a:ext cx="4023360" cy="975360"/>
            </a:xfrm>
            <a:custGeom>
              <a:avLst/>
              <a:gdLst/>
              <a:ahLst/>
              <a:cxnLst/>
              <a:rect l="l" t="t" r="r" b="b"/>
              <a:pathLst>
                <a:path w="4023360" h="975360">
                  <a:moveTo>
                    <a:pt x="0" y="0"/>
                  </a:moveTo>
                  <a:lnTo>
                    <a:pt x="4023360" y="0"/>
                  </a:lnTo>
                  <a:lnTo>
                    <a:pt x="4023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0375" b="-30375"/>
              </a:stretch>
            </a:blipFill>
          </p:spPr>
        </p:sp>
        <p:sp>
          <p:nvSpPr>
            <p:cNvPr id="114" name="TextBox 114"/>
            <p:cNvSpPr txBox="1"/>
            <p:nvPr/>
          </p:nvSpPr>
          <p:spPr>
            <a:xfrm>
              <a:off x="0" y="-9525"/>
              <a:ext cx="4023360" cy="9848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 b="1">
                  <a:solidFill>
                    <a:srgbClr val="1B3A5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TECH STACK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 b="1">
                  <a:solidFill>
                    <a:srgbClr val="1B3A5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(Prototype)</a:t>
              </a:r>
            </a:p>
          </p:txBody>
        </p:sp>
      </p:grpSp>
      <p:grpSp>
        <p:nvGrpSpPr>
          <p:cNvPr id="115" name="Group 115"/>
          <p:cNvGrpSpPr/>
          <p:nvPr/>
        </p:nvGrpSpPr>
        <p:grpSpPr>
          <a:xfrm>
            <a:off x="15289530" y="2725288"/>
            <a:ext cx="2651760" cy="292608"/>
            <a:chOff x="0" y="0"/>
            <a:chExt cx="3535680" cy="390144"/>
          </a:xfrm>
        </p:grpSpPr>
        <p:sp>
          <p:nvSpPr>
            <p:cNvPr id="116" name="Freeform 116"/>
            <p:cNvSpPr/>
            <p:nvPr/>
          </p:nvSpPr>
          <p:spPr>
            <a:xfrm>
              <a:off x="0" y="0"/>
              <a:ext cx="3535680" cy="390144"/>
            </a:xfrm>
            <a:custGeom>
              <a:avLst/>
              <a:gdLst/>
              <a:ahLst/>
              <a:cxnLst/>
              <a:rect l="l" t="t" r="r" b="b"/>
              <a:pathLst>
                <a:path w="3535680" h="390144">
                  <a:moveTo>
                    <a:pt x="0" y="0"/>
                  </a:moveTo>
                  <a:lnTo>
                    <a:pt x="3535680" y="0"/>
                  </a:lnTo>
                  <a:lnTo>
                    <a:pt x="3535680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6583" b="-126583"/>
              </a:stretch>
            </a:blipFill>
          </p:spPr>
        </p:sp>
        <p:sp>
          <p:nvSpPr>
            <p:cNvPr id="117" name="TextBox 117"/>
            <p:cNvSpPr txBox="1"/>
            <p:nvPr/>
          </p:nvSpPr>
          <p:spPr>
            <a:xfrm>
              <a:off x="0" y="0"/>
              <a:ext cx="3535680" cy="39014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0D948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Frontend</a:t>
              </a:r>
            </a:p>
          </p:txBody>
        </p:sp>
      </p:grpSp>
      <p:grpSp>
        <p:nvGrpSpPr>
          <p:cNvPr id="118" name="Group 118"/>
          <p:cNvGrpSpPr/>
          <p:nvPr/>
        </p:nvGrpSpPr>
        <p:grpSpPr>
          <a:xfrm>
            <a:off x="15289530" y="2999608"/>
            <a:ext cx="2651760" cy="292608"/>
            <a:chOff x="0" y="0"/>
            <a:chExt cx="3535680" cy="390144"/>
          </a:xfrm>
        </p:grpSpPr>
        <p:sp>
          <p:nvSpPr>
            <p:cNvPr id="119" name="Freeform 119"/>
            <p:cNvSpPr/>
            <p:nvPr/>
          </p:nvSpPr>
          <p:spPr>
            <a:xfrm>
              <a:off x="0" y="0"/>
              <a:ext cx="3535680" cy="390144"/>
            </a:xfrm>
            <a:custGeom>
              <a:avLst/>
              <a:gdLst/>
              <a:ahLst/>
              <a:cxnLst/>
              <a:rect l="l" t="t" r="r" b="b"/>
              <a:pathLst>
                <a:path w="3535680" h="390144">
                  <a:moveTo>
                    <a:pt x="0" y="0"/>
                  </a:moveTo>
                  <a:lnTo>
                    <a:pt x="3535680" y="0"/>
                  </a:lnTo>
                  <a:lnTo>
                    <a:pt x="3535680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6583" b="-126583"/>
              </a:stretch>
            </a:blipFill>
          </p:spPr>
        </p:sp>
        <p:sp>
          <p:nvSpPr>
            <p:cNvPr id="120" name="TextBox 120"/>
            <p:cNvSpPr txBox="1"/>
            <p:nvPr/>
          </p:nvSpPr>
          <p:spPr>
            <a:xfrm>
              <a:off x="0" y="0"/>
              <a:ext cx="3535680" cy="39014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React / Next.js</a:t>
              </a:r>
            </a:p>
          </p:txBody>
        </p:sp>
      </p:grpSp>
      <p:grpSp>
        <p:nvGrpSpPr>
          <p:cNvPr id="121" name="Group 121"/>
          <p:cNvGrpSpPr/>
          <p:nvPr/>
        </p:nvGrpSpPr>
        <p:grpSpPr>
          <a:xfrm>
            <a:off x="15289530" y="3493384"/>
            <a:ext cx="2651760" cy="292608"/>
            <a:chOff x="0" y="0"/>
            <a:chExt cx="3535680" cy="390144"/>
          </a:xfrm>
        </p:grpSpPr>
        <p:sp>
          <p:nvSpPr>
            <p:cNvPr id="122" name="Freeform 122"/>
            <p:cNvSpPr/>
            <p:nvPr/>
          </p:nvSpPr>
          <p:spPr>
            <a:xfrm>
              <a:off x="0" y="0"/>
              <a:ext cx="3535680" cy="390144"/>
            </a:xfrm>
            <a:custGeom>
              <a:avLst/>
              <a:gdLst/>
              <a:ahLst/>
              <a:cxnLst/>
              <a:rect l="l" t="t" r="r" b="b"/>
              <a:pathLst>
                <a:path w="3535680" h="390144">
                  <a:moveTo>
                    <a:pt x="0" y="0"/>
                  </a:moveTo>
                  <a:lnTo>
                    <a:pt x="3535680" y="0"/>
                  </a:lnTo>
                  <a:lnTo>
                    <a:pt x="3535680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6583" b="-126583"/>
              </a:stretch>
            </a:blipFill>
          </p:spPr>
        </p:sp>
        <p:sp>
          <p:nvSpPr>
            <p:cNvPr id="123" name="TextBox 123"/>
            <p:cNvSpPr txBox="1"/>
            <p:nvPr/>
          </p:nvSpPr>
          <p:spPr>
            <a:xfrm>
              <a:off x="0" y="0"/>
              <a:ext cx="3535680" cy="39014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0D948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Backend</a:t>
              </a:r>
            </a:p>
          </p:txBody>
        </p:sp>
      </p:grpSp>
      <p:grpSp>
        <p:nvGrpSpPr>
          <p:cNvPr id="124" name="Group 124"/>
          <p:cNvGrpSpPr/>
          <p:nvPr/>
        </p:nvGrpSpPr>
        <p:grpSpPr>
          <a:xfrm>
            <a:off x="15289530" y="3767704"/>
            <a:ext cx="2651760" cy="292608"/>
            <a:chOff x="0" y="0"/>
            <a:chExt cx="3535680" cy="390144"/>
          </a:xfrm>
        </p:grpSpPr>
        <p:sp>
          <p:nvSpPr>
            <p:cNvPr id="125" name="Freeform 125"/>
            <p:cNvSpPr/>
            <p:nvPr/>
          </p:nvSpPr>
          <p:spPr>
            <a:xfrm>
              <a:off x="0" y="0"/>
              <a:ext cx="3535680" cy="390144"/>
            </a:xfrm>
            <a:custGeom>
              <a:avLst/>
              <a:gdLst/>
              <a:ahLst/>
              <a:cxnLst/>
              <a:rect l="l" t="t" r="r" b="b"/>
              <a:pathLst>
                <a:path w="3535680" h="390144">
                  <a:moveTo>
                    <a:pt x="0" y="0"/>
                  </a:moveTo>
                  <a:lnTo>
                    <a:pt x="3535680" y="0"/>
                  </a:lnTo>
                  <a:lnTo>
                    <a:pt x="3535680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6583" b="-126583"/>
              </a:stretch>
            </a:blipFill>
          </p:spPr>
        </p:sp>
        <p:sp>
          <p:nvSpPr>
            <p:cNvPr id="126" name="TextBox 126"/>
            <p:cNvSpPr txBox="1"/>
            <p:nvPr/>
          </p:nvSpPr>
          <p:spPr>
            <a:xfrm>
              <a:off x="0" y="0"/>
              <a:ext cx="3535680" cy="39014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Python / FastAPI</a:t>
              </a:r>
            </a:p>
          </p:txBody>
        </p:sp>
      </p:grpSp>
      <p:grpSp>
        <p:nvGrpSpPr>
          <p:cNvPr id="127" name="Group 127"/>
          <p:cNvGrpSpPr/>
          <p:nvPr/>
        </p:nvGrpSpPr>
        <p:grpSpPr>
          <a:xfrm>
            <a:off x="15289530" y="4261480"/>
            <a:ext cx="2651760" cy="292608"/>
            <a:chOff x="0" y="0"/>
            <a:chExt cx="3535680" cy="390144"/>
          </a:xfrm>
        </p:grpSpPr>
        <p:sp>
          <p:nvSpPr>
            <p:cNvPr id="128" name="Freeform 128"/>
            <p:cNvSpPr/>
            <p:nvPr/>
          </p:nvSpPr>
          <p:spPr>
            <a:xfrm>
              <a:off x="0" y="0"/>
              <a:ext cx="3535680" cy="390144"/>
            </a:xfrm>
            <a:custGeom>
              <a:avLst/>
              <a:gdLst/>
              <a:ahLst/>
              <a:cxnLst/>
              <a:rect l="l" t="t" r="r" b="b"/>
              <a:pathLst>
                <a:path w="3535680" h="390144">
                  <a:moveTo>
                    <a:pt x="0" y="0"/>
                  </a:moveTo>
                  <a:lnTo>
                    <a:pt x="3535680" y="0"/>
                  </a:lnTo>
                  <a:lnTo>
                    <a:pt x="3535680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6583" b="-126583"/>
              </a:stretch>
            </a:blipFill>
          </p:spPr>
        </p:sp>
        <p:sp>
          <p:nvSpPr>
            <p:cNvPr id="129" name="TextBox 129"/>
            <p:cNvSpPr txBox="1"/>
            <p:nvPr/>
          </p:nvSpPr>
          <p:spPr>
            <a:xfrm>
              <a:off x="0" y="0"/>
              <a:ext cx="3535680" cy="39014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0D948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Database</a:t>
              </a:r>
            </a:p>
          </p:txBody>
        </p:sp>
      </p:grpSp>
      <p:grpSp>
        <p:nvGrpSpPr>
          <p:cNvPr id="130" name="Group 130"/>
          <p:cNvGrpSpPr/>
          <p:nvPr/>
        </p:nvGrpSpPr>
        <p:grpSpPr>
          <a:xfrm>
            <a:off x="15289530" y="4535800"/>
            <a:ext cx="2651760" cy="292608"/>
            <a:chOff x="0" y="0"/>
            <a:chExt cx="3535680" cy="390144"/>
          </a:xfrm>
        </p:grpSpPr>
        <p:sp>
          <p:nvSpPr>
            <p:cNvPr id="131" name="Freeform 131"/>
            <p:cNvSpPr/>
            <p:nvPr/>
          </p:nvSpPr>
          <p:spPr>
            <a:xfrm>
              <a:off x="0" y="0"/>
              <a:ext cx="3535680" cy="390144"/>
            </a:xfrm>
            <a:custGeom>
              <a:avLst/>
              <a:gdLst/>
              <a:ahLst/>
              <a:cxnLst/>
              <a:rect l="l" t="t" r="r" b="b"/>
              <a:pathLst>
                <a:path w="3535680" h="390144">
                  <a:moveTo>
                    <a:pt x="0" y="0"/>
                  </a:moveTo>
                  <a:lnTo>
                    <a:pt x="3535680" y="0"/>
                  </a:lnTo>
                  <a:lnTo>
                    <a:pt x="3535680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6583" b="-126583"/>
              </a:stretch>
            </a:blipFill>
          </p:spPr>
        </p:sp>
        <p:sp>
          <p:nvSpPr>
            <p:cNvPr id="132" name="TextBox 132"/>
            <p:cNvSpPr txBox="1"/>
            <p:nvPr/>
          </p:nvSpPr>
          <p:spPr>
            <a:xfrm>
              <a:off x="0" y="0"/>
              <a:ext cx="3535680" cy="39014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PostgreSQL / PostGIS</a:t>
              </a:r>
            </a:p>
          </p:txBody>
        </p:sp>
      </p:grpSp>
      <p:grpSp>
        <p:nvGrpSpPr>
          <p:cNvPr id="133" name="Group 133"/>
          <p:cNvGrpSpPr/>
          <p:nvPr/>
        </p:nvGrpSpPr>
        <p:grpSpPr>
          <a:xfrm>
            <a:off x="15289530" y="5029576"/>
            <a:ext cx="2651760" cy="292608"/>
            <a:chOff x="0" y="0"/>
            <a:chExt cx="3535680" cy="390144"/>
          </a:xfrm>
        </p:grpSpPr>
        <p:sp>
          <p:nvSpPr>
            <p:cNvPr id="134" name="Freeform 134"/>
            <p:cNvSpPr/>
            <p:nvPr/>
          </p:nvSpPr>
          <p:spPr>
            <a:xfrm>
              <a:off x="0" y="0"/>
              <a:ext cx="3535680" cy="390144"/>
            </a:xfrm>
            <a:custGeom>
              <a:avLst/>
              <a:gdLst/>
              <a:ahLst/>
              <a:cxnLst/>
              <a:rect l="l" t="t" r="r" b="b"/>
              <a:pathLst>
                <a:path w="3535680" h="390144">
                  <a:moveTo>
                    <a:pt x="0" y="0"/>
                  </a:moveTo>
                  <a:lnTo>
                    <a:pt x="3535680" y="0"/>
                  </a:lnTo>
                  <a:lnTo>
                    <a:pt x="3535680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6583" b="-126583"/>
              </a:stretch>
            </a:blipFill>
          </p:spPr>
        </p:sp>
        <p:sp>
          <p:nvSpPr>
            <p:cNvPr id="135" name="TextBox 135"/>
            <p:cNvSpPr txBox="1"/>
            <p:nvPr/>
          </p:nvSpPr>
          <p:spPr>
            <a:xfrm>
              <a:off x="0" y="0"/>
              <a:ext cx="3535680" cy="39014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0D948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AI / ML</a:t>
              </a:r>
            </a:p>
          </p:txBody>
        </p:sp>
      </p:grpSp>
      <p:grpSp>
        <p:nvGrpSpPr>
          <p:cNvPr id="136" name="Group 136"/>
          <p:cNvGrpSpPr/>
          <p:nvPr/>
        </p:nvGrpSpPr>
        <p:grpSpPr>
          <a:xfrm>
            <a:off x="15289530" y="5303896"/>
            <a:ext cx="2651760" cy="292608"/>
            <a:chOff x="0" y="0"/>
            <a:chExt cx="3535680" cy="390144"/>
          </a:xfrm>
        </p:grpSpPr>
        <p:sp>
          <p:nvSpPr>
            <p:cNvPr id="137" name="Freeform 137"/>
            <p:cNvSpPr/>
            <p:nvPr/>
          </p:nvSpPr>
          <p:spPr>
            <a:xfrm>
              <a:off x="0" y="0"/>
              <a:ext cx="3535680" cy="390144"/>
            </a:xfrm>
            <a:custGeom>
              <a:avLst/>
              <a:gdLst/>
              <a:ahLst/>
              <a:cxnLst/>
              <a:rect l="l" t="t" r="r" b="b"/>
              <a:pathLst>
                <a:path w="3535680" h="390144">
                  <a:moveTo>
                    <a:pt x="0" y="0"/>
                  </a:moveTo>
                  <a:lnTo>
                    <a:pt x="3535680" y="0"/>
                  </a:lnTo>
                  <a:lnTo>
                    <a:pt x="3535680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6583" b="-126583"/>
              </a:stretch>
            </a:blipFill>
          </p:spPr>
        </p:sp>
        <p:sp>
          <p:nvSpPr>
            <p:cNvPr id="138" name="TextBox 138"/>
            <p:cNvSpPr txBox="1"/>
            <p:nvPr/>
          </p:nvSpPr>
          <p:spPr>
            <a:xfrm>
              <a:off x="0" y="0"/>
              <a:ext cx="3535680" cy="39014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scikit-learn / XGBoost</a:t>
              </a:r>
            </a:p>
          </p:txBody>
        </p:sp>
      </p:grpSp>
      <p:grpSp>
        <p:nvGrpSpPr>
          <p:cNvPr id="139" name="Group 139"/>
          <p:cNvGrpSpPr/>
          <p:nvPr/>
        </p:nvGrpSpPr>
        <p:grpSpPr>
          <a:xfrm>
            <a:off x="15289530" y="5797672"/>
            <a:ext cx="2651760" cy="292608"/>
            <a:chOff x="0" y="0"/>
            <a:chExt cx="3535680" cy="390144"/>
          </a:xfrm>
        </p:grpSpPr>
        <p:sp>
          <p:nvSpPr>
            <p:cNvPr id="140" name="Freeform 140"/>
            <p:cNvSpPr/>
            <p:nvPr/>
          </p:nvSpPr>
          <p:spPr>
            <a:xfrm>
              <a:off x="0" y="0"/>
              <a:ext cx="3535680" cy="390144"/>
            </a:xfrm>
            <a:custGeom>
              <a:avLst/>
              <a:gdLst/>
              <a:ahLst/>
              <a:cxnLst/>
              <a:rect l="l" t="t" r="r" b="b"/>
              <a:pathLst>
                <a:path w="3535680" h="390144">
                  <a:moveTo>
                    <a:pt x="0" y="0"/>
                  </a:moveTo>
                  <a:lnTo>
                    <a:pt x="3535680" y="0"/>
                  </a:lnTo>
                  <a:lnTo>
                    <a:pt x="3535680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6583" b="-126583"/>
              </a:stretch>
            </a:blipFill>
          </p:spPr>
        </p:sp>
        <p:sp>
          <p:nvSpPr>
            <p:cNvPr id="141" name="TextBox 141"/>
            <p:cNvSpPr txBox="1"/>
            <p:nvPr/>
          </p:nvSpPr>
          <p:spPr>
            <a:xfrm>
              <a:off x="0" y="0"/>
              <a:ext cx="3535680" cy="39014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0D948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OCR</a:t>
              </a:r>
            </a:p>
          </p:txBody>
        </p:sp>
      </p:grpSp>
      <p:grpSp>
        <p:nvGrpSpPr>
          <p:cNvPr id="142" name="Group 142"/>
          <p:cNvGrpSpPr/>
          <p:nvPr/>
        </p:nvGrpSpPr>
        <p:grpSpPr>
          <a:xfrm>
            <a:off x="15289530" y="6071992"/>
            <a:ext cx="2651760" cy="292608"/>
            <a:chOff x="0" y="0"/>
            <a:chExt cx="3535680" cy="390144"/>
          </a:xfrm>
        </p:grpSpPr>
        <p:sp>
          <p:nvSpPr>
            <p:cNvPr id="143" name="Freeform 143"/>
            <p:cNvSpPr/>
            <p:nvPr/>
          </p:nvSpPr>
          <p:spPr>
            <a:xfrm>
              <a:off x="0" y="0"/>
              <a:ext cx="3535680" cy="390144"/>
            </a:xfrm>
            <a:custGeom>
              <a:avLst/>
              <a:gdLst/>
              <a:ahLst/>
              <a:cxnLst/>
              <a:rect l="l" t="t" r="r" b="b"/>
              <a:pathLst>
                <a:path w="3535680" h="390144">
                  <a:moveTo>
                    <a:pt x="0" y="0"/>
                  </a:moveTo>
                  <a:lnTo>
                    <a:pt x="3535680" y="0"/>
                  </a:lnTo>
                  <a:lnTo>
                    <a:pt x="3535680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6583" b="-126583"/>
              </a:stretch>
            </a:blipFill>
          </p:spPr>
        </p:sp>
        <p:sp>
          <p:nvSpPr>
            <p:cNvPr id="144" name="TextBox 144"/>
            <p:cNvSpPr txBox="1"/>
            <p:nvPr/>
          </p:nvSpPr>
          <p:spPr>
            <a:xfrm>
              <a:off x="0" y="0"/>
              <a:ext cx="3535680" cy="39014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Tesseract / PaddleOCR</a:t>
              </a:r>
            </a:p>
          </p:txBody>
        </p:sp>
      </p:grpSp>
      <p:grpSp>
        <p:nvGrpSpPr>
          <p:cNvPr id="145" name="Group 145"/>
          <p:cNvGrpSpPr/>
          <p:nvPr/>
        </p:nvGrpSpPr>
        <p:grpSpPr>
          <a:xfrm>
            <a:off x="15289530" y="6565768"/>
            <a:ext cx="2651760" cy="292608"/>
            <a:chOff x="0" y="0"/>
            <a:chExt cx="3535680" cy="390144"/>
          </a:xfrm>
        </p:grpSpPr>
        <p:sp>
          <p:nvSpPr>
            <p:cNvPr id="146" name="Freeform 146"/>
            <p:cNvSpPr/>
            <p:nvPr/>
          </p:nvSpPr>
          <p:spPr>
            <a:xfrm>
              <a:off x="0" y="0"/>
              <a:ext cx="3535680" cy="390144"/>
            </a:xfrm>
            <a:custGeom>
              <a:avLst/>
              <a:gdLst/>
              <a:ahLst/>
              <a:cxnLst/>
              <a:rect l="l" t="t" r="r" b="b"/>
              <a:pathLst>
                <a:path w="3535680" h="390144">
                  <a:moveTo>
                    <a:pt x="0" y="0"/>
                  </a:moveTo>
                  <a:lnTo>
                    <a:pt x="3535680" y="0"/>
                  </a:lnTo>
                  <a:lnTo>
                    <a:pt x="3535680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6583" b="-126583"/>
              </a:stretch>
            </a:blipFill>
          </p:spPr>
        </p:sp>
        <p:sp>
          <p:nvSpPr>
            <p:cNvPr id="147" name="TextBox 147"/>
            <p:cNvSpPr txBox="1"/>
            <p:nvPr/>
          </p:nvSpPr>
          <p:spPr>
            <a:xfrm>
              <a:off x="0" y="0"/>
              <a:ext cx="3535680" cy="39014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0D948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Maps</a:t>
              </a:r>
            </a:p>
          </p:txBody>
        </p:sp>
      </p:grpSp>
      <p:grpSp>
        <p:nvGrpSpPr>
          <p:cNvPr id="148" name="Group 148"/>
          <p:cNvGrpSpPr/>
          <p:nvPr/>
        </p:nvGrpSpPr>
        <p:grpSpPr>
          <a:xfrm>
            <a:off x="15289530" y="6840088"/>
            <a:ext cx="2651760" cy="292608"/>
            <a:chOff x="0" y="0"/>
            <a:chExt cx="3535680" cy="390144"/>
          </a:xfrm>
        </p:grpSpPr>
        <p:sp>
          <p:nvSpPr>
            <p:cNvPr id="149" name="Freeform 149"/>
            <p:cNvSpPr/>
            <p:nvPr/>
          </p:nvSpPr>
          <p:spPr>
            <a:xfrm>
              <a:off x="0" y="0"/>
              <a:ext cx="3535680" cy="390144"/>
            </a:xfrm>
            <a:custGeom>
              <a:avLst/>
              <a:gdLst/>
              <a:ahLst/>
              <a:cxnLst/>
              <a:rect l="l" t="t" r="r" b="b"/>
              <a:pathLst>
                <a:path w="3535680" h="390144">
                  <a:moveTo>
                    <a:pt x="0" y="0"/>
                  </a:moveTo>
                  <a:lnTo>
                    <a:pt x="3535680" y="0"/>
                  </a:lnTo>
                  <a:lnTo>
                    <a:pt x="3535680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6583" b="-126583"/>
              </a:stretch>
            </a:blipFill>
          </p:spPr>
        </p:sp>
        <p:sp>
          <p:nvSpPr>
            <p:cNvPr id="150" name="TextBox 150"/>
            <p:cNvSpPr txBox="1"/>
            <p:nvPr/>
          </p:nvSpPr>
          <p:spPr>
            <a:xfrm>
              <a:off x="0" y="0"/>
              <a:ext cx="3535680" cy="39014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Leaflet / Mapbox</a:t>
              </a:r>
            </a:p>
          </p:txBody>
        </p:sp>
      </p:grpSp>
      <p:grpSp>
        <p:nvGrpSpPr>
          <p:cNvPr id="151" name="Group 151"/>
          <p:cNvGrpSpPr/>
          <p:nvPr/>
        </p:nvGrpSpPr>
        <p:grpSpPr>
          <a:xfrm>
            <a:off x="15289530" y="7333864"/>
            <a:ext cx="2651760" cy="292608"/>
            <a:chOff x="0" y="0"/>
            <a:chExt cx="3535680" cy="390144"/>
          </a:xfrm>
        </p:grpSpPr>
        <p:sp>
          <p:nvSpPr>
            <p:cNvPr id="152" name="Freeform 152"/>
            <p:cNvSpPr/>
            <p:nvPr/>
          </p:nvSpPr>
          <p:spPr>
            <a:xfrm>
              <a:off x="0" y="0"/>
              <a:ext cx="3535680" cy="390144"/>
            </a:xfrm>
            <a:custGeom>
              <a:avLst/>
              <a:gdLst/>
              <a:ahLst/>
              <a:cxnLst/>
              <a:rect l="l" t="t" r="r" b="b"/>
              <a:pathLst>
                <a:path w="3535680" h="390144">
                  <a:moveTo>
                    <a:pt x="0" y="0"/>
                  </a:moveTo>
                  <a:lnTo>
                    <a:pt x="3535680" y="0"/>
                  </a:lnTo>
                  <a:lnTo>
                    <a:pt x="3535680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6583" b="-126583"/>
              </a:stretch>
            </a:blipFill>
          </p:spPr>
        </p:sp>
        <p:sp>
          <p:nvSpPr>
            <p:cNvPr id="153" name="TextBox 153"/>
            <p:cNvSpPr txBox="1"/>
            <p:nvPr/>
          </p:nvSpPr>
          <p:spPr>
            <a:xfrm>
              <a:off x="0" y="0"/>
              <a:ext cx="3535680" cy="39014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0D948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Storage</a:t>
              </a:r>
            </a:p>
          </p:txBody>
        </p:sp>
      </p:grpSp>
      <p:grpSp>
        <p:nvGrpSpPr>
          <p:cNvPr id="154" name="Group 154"/>
          <p:cNvGrpSpPr/>
          <p:nvPr/>
        </p:nvGrpSpPr>
        <p:grpSpPr>
          <a:xfrm>
            <a:off x="15289530" y="7608184"/>
            <a:ext cx="2651760" cy="292608"/>
            <a:chOff x="0" y="0"/>
            <a:chExt cx="3535680" cy="390144"/>
          </a:xfrm>
        </p:grpSpPr>
        <p:sp>
          <p:nvSpPr>
            <p:cNvPr id="155" name="Freeform 155"/>
            <p:cNvSpPr/>
            <p:nvPr/>
          </p:nvSpPr>
          <p:spPr>
            <a:xfrm>
              <a:off x="0" y="0"/>
              <a:ext cx="3535680" cy="390144"/>
            </a:xfrm>
            <a:custGeom>
              <a:avLst/>
              <a:gdLst/>
              <a:ahLst/>
              <a:cxnLst/>
              <a:rect l="l" t="t" r="r" b="b"/>
              <a:pathLst>
                <a:path w="3535680" h="390144">
                  <a:moveTo>
                    <a:pt x="0" y="0"/>
                  </a:moveTo>
                  <a:lnTo>
                    <a:pt x="3535680" y="0"/>
                  </a:lnTo>
                  <a:lnTo>
                    <a:pt x="3535680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6583" b="-126583"/>
              </a:stretch>
            </a:blipFill>
          </p:spPr>
        </p:sp>
        <p:sp>
          <p:nvSpPr>
            <p:cNvPr id="156" name="TextBox 156"/>
            <p:cNvSpPr txBox="1"/>
            <p:nvPr/>
          </p:nvSpPr>
          <p:spPr>
            <a:xfrm>
              <a:off x="0" y="0"/>
              <a:ext cx="3535680" cy="39014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AWS S3 / MinIO</a:t>
              </a:r>
            </a:p>
          </p:txBody>
        </p:sp>
      </p:grpSp>
      <p:grpSp>
        <p:nvGrpSpPr>
          <p:cNvPr id="157" name="Group 157"/>
          <p:cNvGrpSpPr/>
          <p:nvPr/>
        </p:nvGrpSpPr>
        <p:grpSpPr>
          <a:xfrm>
            <a:off x="15289530" y="8101960"/>
            <a:ext cx="2651760" cy="292608"/>
            <a:chOff x="0" y="0"/>
            <a:chExt cx="3535680" cy="390144"/>
          </a:xfrm>
        </p:grpSpPr>
        <p:sp>
          <p:nvSpPr>
            <p:cNvPr id="158" name="Freeform 158"/>
            <p:cNvSpPr/>
            <p:nvPr/>
          </p:nvSpPr>
          <p:spPr>
            <a:xfrm>
              <a:off x="0" y="0"/>
              <a:ext cx="3535680" cy="390144"/>
            </a:xfrm>
            <a:custGeom>
              <a:avLst/>
              <a:gdLst/>
              <a:ahLst/>
              <a:cxnLst/>
              <a:rect l="l" t="t" r="r" b="b"/>
              <a:pathLst>
                <a:path w="3535680" h="390144">
                  <a:moveTo>
                    <a:pt x="0" y="0"/>
                  </a:moveTo>
                  <a:lnTo>
                    <a:pt x="3535680" y="0"/>
                  </a:lnTo>
                  <a:lnTo>
                    <a:pt x="3535680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6583" b="-126583"/>
              </a:stretch>
            </a:blipFill>
          </p:spPr>
        </p:sp>
        <p:sp>
          <p:nvSpPr>
            <p:cNvPr id="159" name="TextBox 159"/>
            <p:cNvSpPr txBox="1"/>
            <p:nvPr/>
          </p:nvSpPr>
          <p:spPr>
            <a:xfrm>
              <a:off x="0" y="0"/>
              <a:ext cx="3535680" cy="39014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0D948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Hosting</a:t>
              </a:r>
            </a:p>
          </p:txBody>
        </p:sp>
      </p:grpSp>
      <p:grpSp>
        <p:nvGrpSpPr>
          <p:cNvPr id="160" name="Group 160"/>
          <p:cNvGrpSpPr/>
          <p:nvPr/>
        </p:nvGrpSpPr>
        <p:grpSpPr>
          <a:xfrm>
            <a:off x="15289530" y="8376280"/>
            <a:ext cx="2651760" cy="292608"/>
            <a:chOff x="0" y="0"/>
            <a:chExt cx="3535680" cy="390144"/>
          </a:xfrm>
        </p:grpSpPr>
        <p:sp>
          <p:nvSpPr>
            <p:cNvPr id="161" name="Freeform 161"/>
            <p:cNvSpPr/>
            <p:nvPr/>
          </p:nvSpPr>
          <p:spPr>
            <a:xfrm>
              <a:off x="0" y="0"/>
              <a:ext cx="3535680" cy="390144"/>
            </a:xfrm>
            <a:custGeom>
              <a:avLst/>
              <a:gdLst/>
              <a:ahLst/>
              <a:cxnLst/>
              <a:rect l="l" t="t" r="r" b="b"/>
              <a:pathLst>
                <a:path w="3535680" h="390144">
                  <a:moveTo>
                    <a:pt x="0" y="0"/>
                  </a:moveTo>
                  <a:lnTo>
                    <a:pt x="3535680" y="0"/>
                  </a:lnTo>
                  <a:lnTo>
                    <a:pt x="3535680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6583" b="-126583"/>
              </a:stretch>
            </a:blipFill>
          </p:spPr>
        </p:sp>
        <p:sp>
          <p:nvSpPr>
            <p:cNvPr id="162" name="TextBox 162"/>
            <p:cNvSpPr txBox="1"/>
            <p:nvPr/>
          </p:nvSpPr>
          <p:spPr>
            <a:xfrm>
              <a:off x="0" y="0"/>
              <a:ext cx="3535680" cy="39014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Docker / AWS / Azure</a:t>
              </a:r>
            </a:p>
          </p:txBody>
        </p:sp>
      </p:grpSp>
      <p:grpSp>
        <p:nvGrpSpPr>
          <p:cNvPr id="163" name="Group 163"/>
          <p:cNvGrpSpPr/>
          <p:nvPr/>
        </p:nvGrpSpPr>
        <p:grpSpPr>
          <a:xfrm>
            <a:off x="469268" y="157186"/>
            <a:ext cx="2331190" cy="1296754"/>
            <a:chOff x="0" y="0"/>
            <a:chExt cx="1168702" cy="650105"/>
          </a:xfrm>
        </p:grpSpPr>
        <p:sp>
          <p:nvSpPr>
            <p:cNvPr id="164" name="Freeform 164"/>
            <p:cNvSpPr/>
            <p:nvPr/>
          </p:nvSpPr>
          <p:spPr>
            <a:xfrm>
              <a:off x="0" y="0"/>
              <a:ext cx="1168702" cy="650105"/>
            </a:xfrm>
            <a:custGeom>
              <a:avLst/>
              <a:gdLst/>
              <a:ahLst/>
              <a:cxnLst/>
              <a:rect l="l" t="t" r="r" b="b"/>
              <a:pathLst>
                <a:path w="1168702" h="650105">
                  <a:moveTo>
                    <a:pt x="584351" y="0"/>
                  </a:moveTo>
                  <a:cubicBezTo>
                    <a:pt x="261623" y="0"/>
                    <a:pt x="0" y="145531"/>
                    <a:pt x="0" y="325053"/>
                  </a:cubicBezTo>
                  <a:cubicBezTo>
                    <a:pt x="0" y="504574"/>
                    <a:pt x="261623" y="650105"/>
                    <a:pt x="584351" y="650105"/>
                  </a:cubicBezTo>
                  <a:cubicBezTo>
                    <a:pt x="907079" y="650105"/>
                    <a:pt x="1168702" y="504574"/>
                    <a:pt x="1168702" y="325053"/>
                  </a:cubicBezTo>
                  <a:cubicBezTo>
                    <a:pt x="1168702" y="145531"/>
                    <a:pt x="907079" y="0"/>
                    <a:pt x="584351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65" name="TextBox 165"/>
            <p:cNvSpPr txBox="1"/>
            <p:nvPr/>
          </p:nvSpPr>
          <p:spPr>
            <a:xfrm>
              <a:off x="109566" y="-43828"/>
              <a:ext cx="949570" cy="6329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530"/>
                </a:lnSpc>
              </a:pPr>
              <a:r>
                <a:rPr lang="en-US" sz="4664">
                  <a:solidFill>
                    <a:srgbClr val="0A2F5C"/>
                  </a:solidFill>
                  <a:latin typeface="Bebas Neue Cyrillic"/>
                  <a:ea typeface="Bebas Neue Cyrillic"/>
                  <a:cs typeface="Bebas Neue Cyrillic"/>
                  <a:sym typeface="Bebas Neue Cyrillic"/>
                </a:rPr>
                <a:t>DietCode</a:t>
              </a:r>
            </a:p>
          </p:txBody>
        </p:sp>
      </p:grpSp>
      <p:sp>
        <p:nvSpPr>
          <p:cNvPr id="166" name="Freeform 166"/>
          <p:cNvSpPr/>
          <p:nvPr/>
        </p:nvSpPr>
        <p:spPr>
          <a:xfrm>
            <a:off x="14920707" y="157732"/>
            <a:ext cx="3203463" cy="1464440"/>
          </a:xfrm>
          <a:custGeom>
            <a:avLst/>
            <a:gdLst/>
            <a:ahLst/>
            <a:cxnLst/>
            <a:rect l="l" t="t" r="r" b="b"/>
            <a:pathLst>
              <a:path w="3203463" h="1464440">
                <a:moveTo>
                  <a:pt x="0" y="0"/>
                </a:moveTo>
                <a:lnTo>
                  <a:pt x="3203463" y="0"/>
                </a:lnTo>
                <a:lnTo>
                  <a:pt x="3203463" y="1464440"/>
                </a:lnTo>
                <a:lnTo>
                  <a:pt x="0" y="14644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167" name="Group 167"/>
          <p:cNvGrpSpPr/>
          <p:nvPr/>
        </p:nvGrpSpPr>
        <p:grpSpPr>
          <a:xfrm>
            <a:off x="19050" y="9796520"/>
            <a:ext cx="18288000" cy="481336"/>
            <a:chOff x="0" y="0"/>
            <a:chExt cx="24384000" cy="641782"/>
          </a:xfrm>
        </p:grpSpPr>
        <p:sp>
          <p:nvSpPr>
            <p:cNvPr id="168" name="Freeform 168"/>
            <p:cNvSpPr/>
            <p:nvPr/>
          </p:nvSpPr>
          <p:spPr>
            <a:xfrm>
              <a:off x="0" y="0"/>
              <a:ext cx="24384000" cy="641782"/>
            </a:xfrm>
            <a:custGeom>
              <a:avLst/>
              <a:gdLst/>
              <a:ahLst/>
              <a:cxnLst/>
              <a:rect l="l" t="t" r="r" b="b"/>
              <a:pathLst>
                <a:path w="24384000" h="641782">
                  <a:moveTo>
                    <a:pt x="0" y="0"/>
                  </a:moveTo>
                  <a:lnTo>
                    <a:pt x="24384000" y="0"/>
                  </a:lnTo>
                  <a:lnTo>
                    <a:pt x="24384000" y="641782"/>
                  </a:lnTo>
                  <a:lnTo>
                    <a:pt x="0" y="641782"/>
                  </a:lnTo>
                  <a:close/>
                </a:path>
              </a:pathLst>
            </a:custGeom>
            <a:solidFill>
              <a:srgbClr val="1B3A5F"/>
            </a:solidFill>
          </p:spPr>
        </p:sp>
      </p:grpSp>
      <p:grpSp>
        <p:nvGrpSpPr>
          <p:cNvPr id="169" name="Group 169"/>
          <p:cNvGrpSpPr/>
          <p:nvPr/>
        </p:nvGrpSpPr>
        <p:grpSpPr>
          <a:xfrm>
            <a:off x="567239" y="9729845"/>
            <a:ext cx="12801600" cy="548011"/>
            <a:chOff x="0" y="0"/>
            <a:chExt cx="17068800" cy="730682"/>
          </a:xfrm>
        </p:grpSpPr>
        <p:sp>
          <p:nvSpPr>
            <p:cNvPr id="170" name="Freeform 170"/>
            <p:cNvSpPr/>
            <p:nvPr/>
          </p:nvSpPr>
          <p:spPr>
            <a:xfrm>
              <a:off x="0" y="0"/>
              <a:ext cx="17068800" cy="730682"/>
            </a:xfrm>
            <a:custGeom>
              <a:avLst/>
              <a:gdLst/>
              <a:ahLst/>
              <a:cxnLst/>
              <a:rect l="l" t="t" r="r" b="b"/>
              <a:pathLst>
                <a:path w="17068800" h="730682">
                  <a:moveTo>
                    <a:pt x="0" y="0"/>
                  </a:moveTo>
                  <a:lnTo>
                    <a:pt x="17068800" y="0"/>
                  </a:lnTo>
                  <a:lnTo>
                    <a:pt x="17068800" y="730682"/>
                  </a:lnTo>
                  <a:lnTo>
                    <a:pt x="0" y="73068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85092" b="-425252"/>
              </a:stretch>
            </a:blipFill>
          </p:spPr>
        </p:sp>
        <p:sp>
          <p:nvSpPr>
            <p:cNvPr id="171" name="TextBox 171"/>
            <p:cNvSpPr txBox="1"/>
            <p:nvPr/>
          </p:nvSpPr>
          <p:spPr>
            <a:xfrm>
              <a:off x="0" y="-9525"/>
              <a:ext cx="17068800" cy="74020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MPLADS ArthSetu  ·  SIH 26102  ·  Idea Submission</a:t>
              </a:r>
            </a:p>
          </p:txBody>
        </p:sp>
      </p:grpSp>
      <p:grpSp>
        <p:nvGrpSpPr>
          <p:cNvPr id="172" name="Group 172"/>
          <p:cNvGrpSpPr/>
          <p:nvPr/>
        </p:nvGrpSpPr>
        <p:grpSpPr>
          <a:xfrm>
            <a:off x="16459200" y="9773477"/>
            <a:ext cx="1280160" cy="504379"/>
            <a:chOff x="0" y="0"/>
            <a:chExt cx="1706880" cy="672505"/>
          </a:xfrm>
        </p:grpSpPr>
        <p:sp>
          <p:nvSpPr>
            <p:cNvPr id="173" name="Freeform 173"/>
            <p:cNvSpPr/>
            <p:nvPr/>
          </p:nvSpPr>
          <p:spPr>
            <a:xfrm>
              <a:off x="0" y="0"/>
              <a:ext cx="1706880" cy="672505"/>
            </a:xfrm>
            <a:custGeom>
              <a:avLst/>
              <a:gdLst/>
              <a:ahLst/>
              <a:cxnLst/>
              <a:rect l="l" t="t" r="r" b="b"/>
              <a:pathLst>
                <a:path w="1706880" h="672505">
                  <a:moveTo>
                    <a:pt x="0" y="0"/>
                  </a:moveTo>
                  <a:lnTo>
                    <a:pt x="1706880" y="0"/>
                  </a:lnTo>
                  <a:lnTo>
                    <a:pt x="1706880" y="672505"/>
                  </a:lnTo>
                  <a:lnTo>
                    <a:pt x="0" y="67250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r="-26982" b="-52285"/>
              </a:stretch>
            </a:blipFill>
          </p:spPr>
        </p:sp>
        <p:sp>
          <p:nvSpPr>
            <p:cNvPr id="174" name="TextBox 174"/>
            <p:cNvSpPr txBox="1"/>
            <p:nvPr/>
          </p:nvSpPr>
          <p:spPr>
            <a:xfrm>
              <a:off x="0" y="0"/>
              <a:ext cx="1706880" cy="6725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08</a:t>
              </a:r>
            </a:p>
          </p:txBody>
        </p:sp>
      </p:grpSp>
      <p:grpSp>
        <p:nvGrpSpPr>
          <p:cNvPr id="175" name="Group 175"/>
          <p:cNvGrpSpPr/>
          <p:nvPr/>
        </p:nvGrpSpPr>
        <p:grpSpPr>
          <a:xfrm>
            <a:off x="0" y="9705346"/>
            <a:ext cx="18288000" cy="665855"/>
            <a:chOff x="0" y="0"/>
            <a:chExt cx="24384000" cy="887806"/>
          </a:xfrm>
        </p:grpSpPr>
        <p:sp>
          <p:nvSpPr>
            <p:cNvPr id="176" name="Freeform 176"/>
            <p:cNvSpPr/>
            <p:nvPr/>
          </p:nvSpPr>
          <p:spPr>
            <a:xfrm>
              <a:off x="0" y="0"/>
              <a:ext cx="24384000" cy="887806"/>
            </a:xfrm>
            <a:custGeom>
              <a:avLst/>
              <a:gdLst/>
              <a:ahLst/>
              <a:cxnLst/>
              <a:rect l="l" t="t" r="r" b="b"/>
              <a:pathLst>
                <a:path w="24384000" h="887806">
                  <a:moveTo>
                    <a:pt x="0" y="0"/>
                  </a:moveTo>
                  <a:lnTo>
                    <a:pt x="24384000" y="0"/>
                  </a:lnTo>
                  <a:lnTo>
                    <a:pt x="24384000" y="887806"/>
                  </a:lnTo>
                  <a:lnTo>
                    <a:pt x="0" y="887806"/>
                  </a:lnTo>
                  <a:close/>
                </a:path>
              </a:pathLst>
            </a:custGeom>
            <a:solidFill>
              <a:srgbClr val="1B3A5F"/>
            </a:solidFill>
          </p:spPr>
        </p:sp>
      </p:grpSp>
      <p:grpSp>
        <p:nvGrpSpPr>
          <p:cNvPr id="177" name="Group 177"/>
          <p:cNvGrpSpPr/>
          <p:nvPr/>
        </p:nvGrpSpPr>
        <p:grpSpPr>
          <a:xfrm>
            <a:off x="16459200" y="9705346"/>
            <a:ext cx="1280160" cy="866329"/>
            <a:chOff x="0" y="0"/>
            <a:chExt cx="1706880" cy="1155105"/>
          </a:xfrm>
        </p:grpSpPr>
        <p:sp>
          <p:nvSpPr>
            <p:cNvPr id="178" name="Freeform 178"/>
            <p:cNvSpPr/>
            <p:nvPr/>
          </p:nvSpPr>
          <p:spPr>
            <a:xfrm>
              <a:off x="0" y="0"/>
              <a:ext cx="1706880" cy="1155105"/>
            </a:xfrm>
            <a:custGeom>
              <a:avLst/>
              <a:gdLst/>
              <a:ahLst/>
              <a:cxnLst/>
              <a:rect l="l" t="t" r="r" b="b"/>
              <a:pathLst>
                <a:path w="1706880" h="1155105">
                  <a:moveTo>
                    <a:pt x="0" y="0"/>
                  </a:moveTo>
                  <a:lnTo>
                    <a:pt x="1706880" y="0"/>
                  </a:lnTo>
                  <a:lnTo>
                    <a:pt x="1706880" y="1155105"/>
                  </a:lnTo>
                  <a:lnTo>
                    <a:pt x="0" y="115510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r="-26982" b="11338"/>
              </a:stretch>
            </a:blipFill>
          </p:spPr>
        </p:sp>
        <p:sp>
          <p:nvSpPr>
            <p:cNvPr id="179" name="TextBox 179"/>
            <p:cNvSpPr txBox="1"/>
            <p:nvPr/>
          </p:nvSpPr>
          <p:spPr>
            <a:xfrm>
              <a:off x="0" y="0"/>
              <a:ext cx="1706880" cy="11551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07</a:t>
              </a:r>
            </a:p>
            <a:p>
              <a:pPr algn="r">
                <a:lnSpc>
                  <a:spcPts val="2879"/>
                </a:lnSpc>
              </a:pPr>
              <a:endParaRPr lang="en-US" sz="2400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endParaRPr>
            </a:p>
          </p:txBody>
        </p:sp>
      </p:grpSp>
      <p:grpSp>
        <p:nvGrpSpPr>
          <p:cNvPr id="180" name="Group 180"/>
          <p:cNvGrpSpPr/>
          <p:nvPr/>
        </p:nvGrpSpPr>
        <p:grpSpPr>
          <a:xfrm>
            <a:off x="548640" y="9752971"/>
            <a:ext cx="12801600" cy="524885"/>
            <a:chOff x="0" y="0"/>
            <a:chExt cx="17068800" cy="699846"/>
          </a:xfrm>
        </p:grpSpPr>
        <p:sp>
          <p:nvSpPr>
            <p:cNvPr id="181" name="Freeform 181"/>
            <p:cNvSpPr/>
            <p:nvPr/>
          </p:nvSpPr>
          <p:spPr>
            <a:xfrm>
              <a:off x="0" y="0"/>
              <a:ext cx="17068800" cy="699846"/>
            </a:xfrm>
            <a:custGeom>
              <a:avLst/>
              <a:gdLst/>
              <a:ahLst/>
              <a:cxnLst/>
              <a:rect l="l" t="t" r="r" b="b"/>
              <a:pathLst>
                <a:path w="17068800" h="699846">
                  <a:moveTo>
                    <a:pt x="0" y="0"/>
                  </a:moveTo>
                  <a:lnTo>
                    <a:pt x="17068800" y="0"/>
                  </a:lnTo>
                  <a:lnTo>
                    <a:pt x="17068800" y="699846"/>
                  </a:lnTo>
                  <a:lnTo>
                    <a:pt x="0" y="69984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02059" b="-448395"/>
              </a:stretch>
            </a:blipFill>
          </p:spPr>
        </p:sp>
        <p:sp>
          <p:nvSpPr>
            <p:cNvPr id="182" name="TextBox 182"/>
            <p:cNvSpPr txBox="1"/>
            <p:nvPr/>
          </p:nvSpPr>
          <p:spPr>
            <a:xfrm>
              <a:off x="0" y="-9525"/>
              <a:ext cx="17068800" cy="70937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ArthSetu  ·  SIH 26102  ·  Idea Submission</a:t>
              </a:r>
            </a:p>
          </p:txBody>
        </p:sp>
      </p:grp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905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9706104"/>
            <a:ext cx="18288000" cy="571752"/>
            <a:chOff x="0" y="0"/>
            <a:chExt cx="24384000" cy="76233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762337"/>
            </a:xfrm>
            <a:custGeom>
              <a:avLst/>
              <a:gdLst/>
              <a:ahLst/>
              <a:cxnLst/>
              <a:rect l="l" t="t" r="r" b="b"/>
              <a:pathLst>
                <a:path w="24384000" h="762337">
                  <a:moveTo>
                    <a:pt x="0" y="0"/>
                  </a:moveTo>
                  <a:lnTo>
                    <a:pt x="24384000" y="0"/>
                  </a:lnTo>
                  <a:lnTo>
                    <a:pt x="24384000" y="762337"/>
                  </a:lnTo>
                  <a:lnTo>
                    <a:pt x="0" y="762337"/>
                  </a:lnTo>
                  <a:close/>
                </a:path>
              </a:pathLst>
            </a:custGeom>
            <a:solidFill>
              <a:srgbClr val="1B3A5F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548640" y="9706104"/>
            <a:ext cx="12801600" cy="571752"/>
            <a:chOff x="0" y="0"/>
            <a:chExt cx="17068800" cy="76233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068800" cy="762337"/>
            </a:xfrm>
            <a:custGeom>
              <a:avLst/>
              <a:gdLst/>
              <a:ahLst/>
              <a:cxnLst/>
              <a:rect l="l" t="t" r="r" b="b"/>
              <a:pathLst>
                <a:path w="17068800" h="762337">
                  <a:moveTo>
                    <a:pt x="0" y="0"/>
                  </a:moveTo>
                  <a:lnTo>
                    <a:pt x="17068800" y="0"/>
                  </a:lnTo>
                  <a:lnTo>
                    <a:pt x="17068800" y="762337"/>
                  </a:lnTo>
                  <a:lnTo>
                    <a:pt x="0" y="7623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69101" b="-403442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17068800" cy="77186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MPLADS ArthSetu  ·  SIH 26102  ·  Idea Submission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6459200" y="9696579"/>
            <a:ext cx="1280160" cy="581277"/>
            <a:chOff x="0" y="0"/>
            <a:chExt cx="1706880" cy="77503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706880" cy="775037"/>
            </a:xfrm>
            <a:custGeom>
              <a:avLst/>
              <a:gdLst/>
              <a:ahLst/>
              <a:cxnLst/>
              <a:rect l="l" t="t" r="r" b="b"/>
              <a:pathLst>
                <a:path w="1706880" h="775037">
                  <a:moveTo>
                    <a:pt x="0" y="0"/>
                  </a:moveTo>
                  <a:lnTo>
                    <a:pt x="1706880" y="0"/>
                  </a:lnTo>
                  <a:lnTo>
                    <a:pt x="1706880" y="775037"/>
                  </a:lnTo>
                  <a:lnTo>
                    <a:pt x="0" y="7750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r="-26982" b="-32139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0"/>
              <a:ext cx="1706880" cy="7750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07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0" y="9696579"/>
            <a:ext cx="18288000" cy="674622"/>
            <a:chOff x="0" y="0"/>
            <a:chExt cx="24384000" cy="89949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4384000" cy="899497"/>
            </a:xfrm>
            <a:custGeom>
              <a:avLst/>
              <a:gdLst/>
              <a:ahLst/>
              <a:cxnLst/>
              <a:rect l="l" t="t" r="r" b="b"/>
              <a:pathLst>
                <a:path w="24384000" h="899497">
                  <a:moveTo>
                    <a:pt x="0" y="0"/>
                  </a:moveTo>
                  <a:lnTo>
                    <a:pt x="24384000" y="0"/>
                  </a:lnTo>
                  <a:lnTo>
                    <a:pt x="24384000" y="899497"/>
                  </a:lnTo>
                  <a:lnTo>
                    <a:pt x="0" y="899497"/>
                  </a:lnTo>
                  <a:close/>
                </a:path>
              </a:pathLst>
            </a:custGeom>
            <a:solidFill>
              <a:srgbClr val="1B3A5F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16571221" y="9714871"/>
            <a:ext cx="1280160" cy="866329"/>
            <a:chOff x="0" y="0"/>
            <a:chExt cx="1706880" cy="115510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706880" cy="1155105"/>
            </a:xfrm>
            <a:custGeom>
              <a:avLst/>
              <a:gdLst/>
              <a:ahLst/>
              <a:cxnLst/>
              <a:rect l="l" t="t" r="r" b="b"/>
              <a:pathLst>
                <a:path w="1706880" h="1155105">
                  <a:moveTo>
                    <a:pt x="0" y="0"/>
                  </a:moveTo>
                  <a:lnTo>
                    <a:pt x="1706880" y="0"/>
                  </a:lnTo>
                  <a:lnTo>
                    <a:pt x="1706880" y="1155105"/>
                  </a:lnTo>
                  <a:lnTo>
                    <a:pt x="0" y="11551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r="-26982" b="11338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0"/>
              <a:ext cx="1706880" cy="11551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08</a:t>
              </a:r>
            </a:p>
            <a:p>
              <a:pPr algn="r">
                <a:lnSpc>
                  <a:spcPts val="2879"/>
                </a:lnSpc>
              </a:pPr>
              <a:endParaRPr lang="en-US" sz="2400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48640" y="9696579"/>
            <a:ext cx="12801600" cy="581277"/>
            <a:chOff x="0" y="0"/>
            <a:chExt cx="17068800" cy="775037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7068800" cy="775037"/>
            </a:xfrm>
            <a:custGeom>
              <a:avLst/>
              <a:gdLst/>
              <a:ahLst/>
              <a:cxnLst/>
              <a:rect l="l" t="t" r="r" b="b"/>
              <a:pathLst>
                <a:path w="17068800" h="775037">
                  <a:moveTo>
                    <a:pt x="0" y="0"/>
                  </a:moveTo>
                  <a:lnTo>
                    <a:pt x="17068800" y="0"/>
                  </a:lnTo>
                  <a:lnTo>
                    <a:pt x="17068800" y="775037"/>
                  </a:lnTo>
                  <a:lnTo>
                    <a:pt x="0" y="7750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63053" b="-395192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9525"/>
              <a:ext cx="17068800" cy="78456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ArthSetu  ·  SIH 26102  ·  Idea Submission</a:t>
              </a:r>
            </a:p>
          </p:txBody>
        </p:sp>
      </p:grpSp>
      <p:sp>
        <p:nvSpPr>
          <p:cNvPr id="19" name="Freeform 19"/>
          <p:cNvSpPr/>
          <p:nvPr/>
        </p:nvSpPr>
        <p:spPr>
          <a:xfrm>
            <a:off x="5827165" y="445546"/>
            <a:ext cx="6307041" cy="690691"/>
          </a:xfrm>
          <a:custGeom>
            <a:avLst/>
            <a:gdLst/>
            <a:ahLst/>
            <a:cxnLst/>
            <a:rect l="l" t="t" r="r" b="b"/>
            <a:pathLst>
              <a:path w="6307041" h="690691">
                <a:moveTo>
                  <a:pt x="0" y="0"/>
                </a:moveTo>
                <a:lnTo>
                  <a:pt x="6307040" y="0"/>
                </a:lnTo>
                <a:lnTo>
                  <a:pt x="6307040" y="690691"/>
                </a:lnTo>
                <a:lnTo>
                  <a:pt x="0" y="6906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210"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548640" y="248723"/>
            <a:ext cx="5468768" cy="1559954"/>
          </a:xfrm>
          <a:custGeom>
            <a:avLst/>
            <a:gdLst/>
            <a:ahLst/>
            <a:cxnLst/>
            <a:rect l="l" t="t" r="r" b="b"/>
            <a:pathLst>
              <a:path w="5468768" h="1559954">
                <a:moveTo>
                  <a:pt x="0" y="0"/>
                </a:moveTo>
                <a:lnTo>
                  <a:pt x="5468768" y="0"/>
                </a:lnTo>
                <a:lnTo>
                  <a:pt x="5468768" y="1559954"/>
                </a:lnTo>
                <a:lnTo>
                  <a:pt x="0" y="155995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r="-43192" b="-130645"/>
            </a:stretch>
          </a:blipFill>
        </p:spPr>
      </p:sp>
      <p:grpSp>
        <p:nvGrpSpPr>
          <p:cNvPr id="21" name="Group 21"/>
          <p:cNvGrpSpPr/>
          <p:nvPr/>
        </p:nvGrpSpPr>
        <p:grpSpPr>
          <a:xfrm>
            <a:off x="694283" y="211159"/>
            <a:ext cx="2331190" cy="1296754"/>
            <a:chOff x="0" y="0"/>
            <a:chExt cx="1168702" cy="650105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168702" cy="650105"/>
            </a:xfrm>
            <a:custGeom>
              <a:avLst/>
              <a:gdLst/>
              <a:ahLst/>
              <a:cxnLst/>
              <a:rect l="l" t="t" r="r" b="b"/>
              <a:pathLst>
                <a:path w="1168702" h="650105">
                  <a:moveTo>
                    <a:pt x="584351" y="0"/>
                  </a:moveTo>
                  <a:cubicBezTo>
                    <a:pt x="261623" y="0"/>
                    <a:pt x="0" y="145531"/>
                    <a:pt x="0" y="325053"/>
                  </a:cubicBezTo>
                  <a:cubicBezTo>
                    <a:pt x="0" y="504574"/>
                    <a:pt x="261623" y="650105"/>
                    <a:pt x="584351" y="650105"/>
                  </a:cubicBezTo>
                  <a:cubicBezTo>
                    <a:pt x="907079" y="650105"/>
                    <a:pt x="1168702" y="504574"/>
                    <a:pt x="1168702" y="325053"/>
                  </a:cubicBezTo>
                  <a:cubicBezTo>
                    <a:pt x="1168702" y="145531"/>
                    <a:pt x="907079" y="0"/>
                    <a:pt x="584351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9566" y="-43828"/>
              <a:ext cx="949570" cy="6329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530"/>
                </a:lnSpc>
              </a:pPr>
              <a:r>
                <a:rPr lang="en-US" sz="4664">
                  <a:solidFill>
                    <a:srgbClr val="0A2F5C"/>
                  </a:solidFill>
                  <a:latin typeface="Bebas Neue Cyrillic"/>
                  <a:ea typeface="Bebas Neue Cyrillic"/>
                  <a:cs typeface="Bebas Neue Cyrillic"/>
                  <a:sym typeface="Bebas Neue Cyrillic"/>
                </a:rPr>
                <a:t>DietCode</a:t>
              </a:r>
            </a:p>
          </p:txBody>
        </p:sp>
      </p:grpSp>
      <p:sp>
        <p:nvSpPr>
          <p:cNvPr id="24" name="Freeform 24"/>
          <p:cNvSpPr/>
          <p:nvPr/>
        </p:nvSpPr>
        <p:spPr>
          <a:xfrm>
            <a:off x="3378146" y="1280394"/>
            <a:ext cx="5278525" cy="562319"/>
          </a:xfrm>
          <a:custGeom>
            <a:avLst/>
            <a:gdLst/>
            <a:ahLst/>
            <a:cxnLst/>
            <a:rect l="l" t="t" r="r" b="b"/>
            <a:pathLst>
              <a:path w="5278525" h="562319">
                <a:moveTo>
                  <a:pt x="0" y="0"/>
                </a:moveTo>
                <a:lnTo>
                  <a:pt x="5278524" y="0"/>
                </a:lnTo>
                <a:lnTo>
                  <a:pt x="5278524" y="562318"/>
                </a:lnTo>
                <a:lnTo>
                  <a:pt x="0" y="5623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77414" r="-48353" b="-362428"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4857155" y="1428203"/>
            <a:ext cx="8535591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2099" b="1">
                <a:solidFill>
                  <a:srgbClr val="0A2F5C"/>
                </a:solidFill>
                <a:latin typeface="Inter Bold"/>
                <a:ea typeface="Inter Bold"/>
                <a:cs typeface="Inter Bold"/>
                <a:sym typeface="Inter Bold"/>
              </a:rPr>
              <a:t>Key implementation challenges and how ArthSetu addresses them</a:t>
            </a: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73152"/>
            <a:chOff x="0" y="0"/>
            <a:chExt cx="24384000" cy="9753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97536"/>
            </a:xfrm>
            <a:custGeom>
              <a:avLst/>
              <a:gdLst/>
              <a:ahLst/>
              <a:cxnLst/>
              <a:rect l="l" t="t" r="r" b="b"/>
              <a:pathLst>
                <a:path w="24384000" h="97536">
                  <a:moveTo>
                    <a:pt x="0" y="0"/>
                  </a:moveTo>
                  <a:lnTo>
                    <a:pt x="24384000" y="0"/>
                  </a:lnTo>
                  <a:lnTo>
                    <a:pt x="2438400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5B4B8A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2577266" y="677262"/>
            <a:ext cx="12300336" cy="702876"/>
            <a:chOff x="0" y="0"/>
            <a:chExt cx="15361920" cy="87782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5361920" cy="877824"/>
            </a:xfrm>
            <a:custGeom>
              <a:avLst/>
              <a:gdLst/>
              <a:ahLst/>
              <a:cxnLst/>
              <a:rect l="l" t="t" r="r" b="b"/>
              <a:pathLst>
                <a:path w="15361920" h="877824">
                  <a:moveTo>
                    <a:pt x="0" y="0"/>
                  </a:moveTo>
                  <a:lnTo>
                    <a:pt x="15361920" y="0"/>
                  </a:lnTo>
                  <a:lnTo>
                    <a:pt x="1536192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90988" b="-290988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15361920" cy="8778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799"/>
                </a:lnSpc>
              </a:pPr>
              <a:r>
                <a:rPr lang="en-US" sz="3999" b="1">
                  <a:solidFill>
                    <a:srgbClr val="1B3A5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RESEARCH AND REFERENCES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31520" y="1672547"/>
            <a:ext cx="16824960" cy="54864"/>
            <a:chOff x="0" y="0"/>
            <a:chExt cx="22433280" cy="7315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433280" cy="73152"/>
            </a:xfrm>
            <a:custGeom>
              <a:avLst/>
              <a:gdLst/>
              <a:ahLst/>
              <a:cxnLst/>
              <a:rect l="l" t="t" r="r" b="b"/>
              <a:pathLst>
                <a:path w="22433280" h="73152">
                  <a:moveTo>
                    <a:pt x="0" y="0"/>
                  </a:moveTo>
                  <a:lnTo>
                    <a:pt x="22433280" y="0"/>
                  </a:lnTo>
                  <a:lnTo>
                    <a:pt x="22433280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512064" y="1855427"/>
            <a:ext cx="548640" cy="373521"/>
            <a:chOff x="0" y="0"/>
            <a:chExt cx="731520" cy="49802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31520" cy="498029"/>
            </a:xfrm>
            <a:custGeom>
              <a:avLst/>
              <a:gdLst/>
              <a:ahLst/>
              <a:cxnLst/>
              <a:rect l="l" t="t" r="r" b="b"/>
              <a:pathLst>
                <a:path w="731520" h="498029">
                  <a:moveTo>
                    <a:pt x="0" y="0"/>
                  </a:moveTo>
                  <a:lnTo>
                    <a:pt x="731520" y="0"/>
                  </a:lnTo>
                  <a:lnTo>
                    <a:pt x="731520" y="498029"/>
                  </a:lnTo>
                  <a:lnTo>
                    <a:pt x="0" y="49802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r="-14151" b="26558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0"/>
              <a:ext cx="731520" cy="49802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1E293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97280" y="1855427"/>
            <a:ext cx="16642080" cy="373521"/>
            <a:chOff x="0" y="0"/>
            <a:chExt cx="22189440" cy="49802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2189439" cy="498029"/>
            </a:xfrm>
            <a:custGeom>
              <a:avLst/>
              <a:gdLst/>
              <a:ahLst/>
              <a:cxnLst/>
              <a:rect l="l" t="t" r="r" b="b"/>
              <a:pathLst>
                <a:path w="22189439" h="498029">
                  <a:moveTo>
                    <a:pt x="0" y="0"/>
                  </a:moveTo>
                  <a:lnTo>
                    <a:pt x="22189439" y="0"/>
                  </a:lnTo>
                  <a:lnTo>
                    <a:pt x="22189439" y="498029"/>
                  </a:lnTo>
                  <a:lnTo>
                    <a:pt x="0" y="49802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24082" b="-812212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0"/>
              <a:ext cx="22189440" cy="49802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MPLADS Guidelines 2023 – Ministry of Statistics &amp; Programme Implementation, Government of India, accessed August 26, 2026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97280" y="2155212"/>
            <a:ext cx="16642080" cy="352688"/>
            <a:chOff x="0" y="0"/>
            <a:chExt cx="22189440" cy="47025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2189439" cy="470250"/>
            </a:xfrm>
            <a:custGeom>
              <a:avLst/>
              <a:gdLst/>
              <a:ahLst/>
              <a:cxnLst/>
              <a:rect l="l" t="t" r="r" b="b"/>
              <a:pathLst>
                <a:path w="22189439" h="470250">
                  <a:moveTo>
                    <a:pt x="0" y="0"/>
                  </a:moveTo>
                  <a:lnTo>
                    <a:pt x="22189439" y="0"/>
                  </a:lnTo>
                  <a:lnTo>
                    <a:pt x="22189439" y="470250"/>
                  </a:lnTo>
                  <a:lnTo>
                    <a:pt x="0" y="47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77947" b="-860912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9525"/>
              <a:ext cx="22189440" cy="4797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1D4ED8"/>
                  </a:solidFill>
                  <a:latin typeface="Inter"/>
                  <a:ea typeface="Inter"/>
                  <a:cs typeface="Inter"/>
                  <a:sym typeface="Inter"/>
                </a:rPr>
                <a:t>https://www.mplads.gov.in/mplads/En/2034.aspx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12064" y="2398894"/>
            <a:ext cx="548640" cy="373521"/>
            <a:chOff x="0" y="0"/>
            <a:chExt cx="731520" cy="49802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731520" cy="498029"/>
            </a:xfrm>
            <a:custGeom>
              <a:avLst/>
              <a:gdLst/>
              <a:ahLst/>
              <a:cxnLst/>
              <a:rect l="l" t="t" r="r" b="b"/>
              <a:pathLst>
                <a:path w="731520" h="498029">
                  <a:moveTo>
                    <a:pt x="0" y="0"/>
                  </a:moveTo>
                  <a:lnTo>
                    <a:pt x="731520" y="0"/>
                  </a:lnTo>
                  <a:lnTo>
                    <a:pt x="731520" y="498029"/>
                  </a:lnTo>
                  <a:lnTo>
                    <a:pt x="0" y="49802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r="-14151" b="26558"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0" y="0"/>
              <a:ext cx="731520" cy="49802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1E293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2.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097280" y="2451797"/>
            <a:ext cx="16642080" cy="373521"/>
            <a:chOff x="0" y="0"/>
            <a:chExt cx="22189440" cy="49802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2189439" cy="498029"/>
            </a:xfrm>
            <a:custGeom>
              <a:avLst/>
              <a:gdLst/>
              <a:ahLst/>
              <a:cxnLst/>
              <a:rect l="l" t="t" r="r" b="b"/>
              <a:pathLst>
                <a:path w="22189439" h="498029">
                  <a:moveTo>
                    <a:pt x="0" y="0"/>
                  </a:moveTo>
                  <a:lnTo>
                    <a:pt x="22189439" y="0"/>
                  </a:lnTo>
                  <a:lnTo>
                    <a:pt x="22189439" y="498029"/>
                  </a:lnTo>
                  <a:lnTo>
                    <a:pt x="0" y="49802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24082" b="-812212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0"/>
              <a:ext cx="22189440" cy="49802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Members of Parliament Local Area Development Scheme (MPLADS) – Official MPLADS Portal, Government of India, accessed August 26, 2026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097280" y="2756756"/>
            <a:ext cx="16642080" cy="333077"/>
            <a:chOff x="0" y="0"/>
            <a:chExt cx="22189440" cy="444103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2189439" cy="444103"/>
            </a:xfrm>
            <a:custGeom>
              <a:avLst/>
              <a:gdLst/>
              <a:ahLst/>
              <a:cxnLst/>
              <a:rect l="l" t="t" r="r" b="b"/>
              <a:pathLst>
                <a:path w="22189439" h="444103">
                  <a:moveTo>
                    <a:pt x="0" y="0"/>
                  </a:moveTo>
                  <a:lnTo>
                    <a:pt x="22189439" y="0"/>
                  </a:lnTo>
                  <a:lnTo>
                    <a:pt x="22189439" y="444103"/>
                  </a:lnTo>
                  <a:lnTo>
                    <a:pt x="0" y="44410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929637" b="-917487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0" y="-9525"/>
              <a:ext cx="22189440" cy="4536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1D4ED8"/>
                  </a:solidFill>
                  <a:latin typeface="Inter"/>
                  <a:ea typeface="Inter"/>
                  <a:cs typeface="Inter"/>
                  <a:sym typeface="Inter"/>
                </a:rPr>
                <a:t>https://www.mplads.gov.in/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12064" y="3051365"/>
            <a:ext cx="548640" cy="373521"/>
            <a:chOff x="0" y="0"/>
            <a:chExt cx="731520" cy="49802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731520" cy="498029"/>
            </a:xfrm>
            <a:custGeom>
              <a:avLst/>
              <a:gdLst/>
              <a:ahLst/>
              <a:cxnLst/>
              <a:rect l="l" t="t" r="r" b="b"/>
              <a:pathLst>
                <a:path w="731520" h="498029">
                  <a:moveTo>
                    <a:pt x="0" y="0"/>
                  </a:moveTo>
                  <a:lnTo>
                    <a:pt x="731520" y="0"/>
                  </a:lnTo>
                  <a:lnTo>
                    <a:pt x="731520" y="498029"/>
                  </a:lnTo>
                  <a:lnTo>
                    <a:pt x="0" y="49802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r="-14151" b="26558"/>
              </a:stretch>
            </a:blipFill>
          </p:spPr>
        </p:sp>
        <p:sp>
          <p:nvSpPr>
            <p:cNvPr id="29" name="TextBox 29"/>
            <p:cNvSpPr txBox="1"/>
            <p:nvPr/>
          </p:nvSpPr>
          <p:spPr>
            <a:xfrm>
              <a:off x="0" y="0"/>
              <a:ext cx="731520" cy="49802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1E293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3.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097280" y="3104269"/>
            <a:ext cx="16642080" cy="373521"/>
            <a:chOff x="0" y="0"/>
            <a:chExt cx="22189440" cy="498029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2189439" cy="498029"/>
            </a:xfrm>
            <a:custGeom>
              <a:avLst/>
              <a:gdLst/>
              <a:ahLst/>
              <a:cxnLst/>
              <a:rect l="l" t="t" r="r" b="b"/>
              <a:pathLst>
                <a:path w="22189439" h="498029">
                  <a:moveTo>
                    <a:pt x="0" y="0"/>
                  </a:moveTo>
                  <a:lnTo>
                    <a:pt x="22189439" y="0"/>
                  </a:lnTo>
                  <a:lnTo>
                    <a:pt x="22189439" y="498029"/>
                  </a:lnTo>
                  <a:lnTo>
                    <a:pt x="0" y="49802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24082" b="-812212"/>
              </a:stretch>
            </a:blipFill>
          </p:spPr>
        </p:sp>
        <p:sp>
          <p:nvSpPr>
            <p:cNvPr id="32" name="TextBox 32"/>
            <p:cNvSpPr txBox="1"/>
            <p:nvPr/>
          </p:nvSpPr>
          <p:spPr>
            <a:xfrm>
              <a:off x="0" y="0"/>
              <a:ext cx="22189440" cy="49802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Programme Implementation (MPLADS &amp; IPMD) – Ministry of Statistics &amp; Programme Implementation, accessed August 26, 2026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097280" y="3409228"/>
            <a:ext cx="16642080" cy="333077"/>
            <a:chOff x="0" y="0"/>
            <a:chExt cx="22189440" cy="444103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2189439" cy="444103"/>
            </a:xfrm>
            <a:custGeom>
              <a:avLst/>
              <a:gdLst/>
              <a:ahLst/>
              <a:cxnLst/>
              <a:rect l="l" t="t" r="r" b="b"/>
              <a:pathLst>
                <a:path w="22189439" h="444103">
                  <a:moveTo>
                    <a:pt x="0" y="0"/>
                  </a:moveTo>
                  <a:lnTo>
                    <a:pt x="22189439" y="0"/>
                  </a:lnTo>
                  <a:lnTo>
                    <a:pt x="22189439" y="444103"/>
                  </a:lnTo>
                  <a:lnTo>
                    <a:pt x="0" y="44410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929637" b="-917487"/>
              </a:stretch>
            </a:blipFill>
          </p:spPr>
        </p:sp>
        <p:sp>
          <p:nvSpPr>
            <p:cNvPr id="35" name="TextBox 35"/>
            <p:cNvSpPr txBox="1"/>
            <p:nvPr/>
          </p:nvSpPr>
          <p:spPr>
            <a:xfrm>
              <a:off x="0" y="-9525"/>
              <a:ext cx="22189440" cy="4536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1D4ED8"/>
                  </a:solidFill>
                  <a:latin typeface="Inter"/>
                  <a:ea typeface="Inter"/>
                  <a:cs typeface="Inter"/>
                  <a:sym typeface="Inter"/>
                </a:rPr>
                <a:t>https://mospi.gov.in/programme-implementation-pi-wing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512064" y="3703837"/>
            <a:ext cx="548640" cy="373521"/>
            <a:chOff x="0" y="0"/>
            <a:chExt cx="731520" cy="49802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731520" cy="498029"/>
            </a:xfrm>
            <a:custGeom>
              <a:avLst/>
              <a:gdLst/>
              <a:ahLst/>
              <a:cxnLst/>
              <a:rect l="l" t="t" r="r" b="b"/>
              <a:pathLst>
                <a:path w="731520" h="498029">
                  <a:moveTo>
                    <a:pt x="0" y="0"/>
                  </a:moveTo>
                  <a:lnTo>
                    <a:pt x="731520" y="0"/>
                  </a:lnTo>
                  <a:lnTo>
                    <a:pt x="731520" y="498029"/>
                  </a:lnTo>
                  <a:lnTo>
                    <a:pt x="0" y="49802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r="-14151" b="26558"/>
              </a:stretch>
            </a:blipFill>
          </p:spPr>
        </p:sp>
        <p:sp>
          <p:nvSpPr>
            <p:cNvPr id="38" name="TextBox 38"/>
            <p:cNvSpPr txBox="1"/>
            <p:nvPr/>
          </p:nvSpPr>
          <p:spPr>
            <a:xfrm>
              <a:off x="0" y="0"/>
              <a:ext cx="731520" cy="49802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1E293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4.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097280" y="3756740"/>
            <a:ext cx="16642080" cy="373521"/>
            <a:chOff x="0" y="0"/>
            <a:chExt cx="22189440" cy="49802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22189439" cy="498029"/>
            </a:xfrm>
            <a:custGeom>
              <a:avLst/>
              <a:gdLst/>
              <a:ahLst/>
              <a:cxnLst/>
              <a:rect l="l" t="t" r="r" b="b"/>
              <a:pathLst>
                <a:path w="22189439" h="498029">
                  <a:moveTo>
                    <a:pt x="0" y="0"/>
                  </a:moveTo>
                  <a:lnTo>
                    <a:pt x="22189439" y="0"/>
                  </a:lnTo>
                  <a:lnTo>
                    <a:pt x="22189439" y="498029"/>
                  </a:lnTo>
                  <a:lnTo>
                    <a:pt x="0" y="49802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24082" b="-812212"/>
              </a:stretch>
            </a:blipFill>
          </p:spPr>
        </p:sp>
        <p:sp>
          <p:nvSpPr>
            <p:cNvPr id="41" name="TextBox 41"/>
            <p:cNvSpPr txBox="1"/>
            <p:nvPr/>
          </p:nvSpPr>
          <p:spPr>
            <a:xfrm>
              <a:off x="0" y="0"/>
              <a:ext cx="22189440" cy="49802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Performance Audit of MPLADS – Comptroller and Auditor General of India (CAG), Report No. 31 of 2010-2011, accessed August 26, 2026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097280" y="4061700"/>
            <a:ext cx="16642080" cy="333077"/>
            <a:chOff x="0" y="0"/>
            <a:chExt cx="22189440" cy="444103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22189439" cy="444103"/>
            </a:xfrm>
            <a:custGeom>
              <a:avLst/>
              <a:gdLst/>
              <a:ahLst/>
              <a:cxnLst/>
              <a:rect l="l" t="t" r="r" b="b"/>
              <a:pathLst>
                <a:path w="22189439" h="444103">
                  <a:moveTo>
                    <a:pt x="0" y="0"/>
                  </a:moveTo>
                  <a:lnTo>
                    <a:pt x="22189439" y="0"/>
                  </a:lnTo>
                  <a:lnTo>
                    <a:pt x="22189439" y="444103"/>
                  </a:lnTo>
                  <a:lnTo>
                    <a:pt x="0" y="44410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929637" b="-917487"/>
              </a:stretch>
            </a:blipFill>
          </p:spPr>
        </p:sp>
        <p:sp>
          <p:nvSpPr>
            <p:cNvPr id="44" name="TextBox 44"/>
            <p:cNvSpPr txBox="1"/>
            <p:nvPr/>
          </p:nvSpPr>
          <p:spPr>
            <a:xfrm>
              <a:off x="0" y="-9525"/>
              <a:ext cx="22189440" cy="4536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1D4ED8"/>
                  </a:solidFill>
                  <a:latin typeface="Inter"/>
                  <a:ea typeface="Inter"/>
                  <a:cs typeface="Inter"/>
                  <a:sym typeface="Inter"/>
                </a:rPr>
                <a:t>https://cag.gov.in/webroot/uploads/download_audit_report/2010/Union_Performance_Local_area_Development_Scheme_31_2010_chapter_8.pdf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512064" y="4356309"/>
            <a:ext cx="548640" cy="373521"/>
            <a:chOff x="0" y="0"/>
            <a:chExt cx="731520" cy="498029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731520" cy="498029"/>
            </a:xfrm>
            <a:custGeom>
              <a:avLst/>
              <a:gdLst/>
              <a:ahLst/>
              <a:cxnLst/>
              <a:rect l="l" t="t" r="r" b="b"/>
              <a:pathLst>
                <a:path w="731520" h="498029">
                  <a:moveTo>
                    <a:pt x="0" y="0"/>
                  </a:moveTo>
                  <a:lnTo>
                    <a:pt x="731520" y="0"/>
                  </a:lnTo>
                  <a:lnTo>
                    <a:pt x="731520" y="498029"/>
                  </a:lnTo>
                  <a:lnTo>
                    <a:pt x="0" y="49802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r="-14151" b="26558"/>
              </a:stretch>
            </a:blipFill>
          </p:spPr>
        </p:sp>
        <p:sp>
          <p:nvSpPr>
            <p:cNvPr id="47" name="TextBox 47"/>
            <p:cNvSpPr txBox="1"/>
            <p:nvPr/>
          </p:nvSpPr>
          <p:spPr>
            <a:xfrm>
              <a:off x="0" y="0"/>
              <a:ext cx="731520" cy="49802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1E293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5.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097280" y="4409212"/>
            <a:ext cx="16642080" cy="373521"/>
            <a:chOff x="0" y="0"/>
            <a:chExt cx="22189440" cy="498029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22189439" cy="498029"/>
            </a:xfrm>
            <a:custGeom>
              <a:avLst/>
              <a:gdLst/>
              <a:ahLst/>
              <a:cxnLst/>
              <a:rect l="l" t="t" r="r" b="b"/>
              <a:pathLst>
                <a:path w="22189439" h="498029">
                  <a:moveTo>
                    <a:pt x="0" y="0"/>
                  </a:moveTo>
                  <a:lnTo>
                    <a:pt x="22189439" y="0"/>
                  </a:lnTo>
                  <a:lnTo>
                    <a:pt x="22189439" y="498029"/>
                  </a:lnTo>
                  <a:lnTo>
                    <a:pt x="0" y="49802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24082" b="-812212"/>
              </a:stretch>
            </a:blipFill>
          </p:spPr>
        </p:sp>
        <p:sp>
          <p:nvSpPr>
            <p:cNvPr id="50" name="TextBox 50"/>
            <p:cNvSpPr txBox="1"/>
            <p:nvPr/>
          </p:nvSpPr>
          <p:spPr>
            <a:xfrm>
              <a:off x="0" y="0"/>
              <a:ext cx="22189440" cy="49802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Compliance Audit – Fraudulent and Irregular Payment under Member of Parliament Local Area Development Scheme, CAG, accessed August 26, 2026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097280" y="4714172"/>
            <a:ext cx="16642080" cy="333077"/>
            <a:chOff x="0" y="0"/>
            <a:chExt cx="22189440" cy="444103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22189439" cy="444103"/>
            </a:xfrm>
            <a:custGeom>
              <a:avLst/>
              <a:gdLst/>
              <a:ahLst/>
              <a:cxnLst/>
              <a:rect l="l" t="t" r="r" b="b"/>
              <a:pathLst>
                <a:path w="22189439" h="444103">
                  <a:moveTo>
                    <a:pt x="0" y="0"/>
                  </a:moveTo>
                  <a:lnTo>
                    <a:pt x="22189439" y="0"/>
                  </a:lnTo>
                  <a:lnTo>
                    <a:pt x="22189439" y="444103"/>
                  </a:lnTo>
                  <a:lnTo>
                    <a:pt x="0" y="44410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929637" b="-917487"/>
              </a:stretch>
            </a:blipFill>
          </p:spPr>
        </p:sp>
        <p:sp>
          <p:nvSpPr>
            <p:cNvPr id="53" name="TextBox 53"/>
            <p:cNvSpPr txBox="1"/>
            <p:nvPr/>
          </p:nvSpPr>
          <p:spPr>
            <a:xfrm>
              <a:off x="0" y="-9525"/>
              <a:ext cx="22189440" cy="4536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1D4ED8"/>
                  </a:solidFill>
                  <a:latin typeface="Inter"/>
                  <a:ea typeface="Inter"/>
                  <a:cs typeface="Inter"/>
                  <a:sym typeface="Inter"/>
                </a:rPr>
                <a:t>https://www.cag.gov.in/uploads/download_audit_report/2018/Chapter_3_Compliance_Audit_of_Report_No_4_of_2018_-_General_and_Social_Sector_Government_of_Gujarat.pdf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512064" y="5008781"/>
            <a:ext cx="548640" cy="373521"/>
            <a:chOff x="0" y="0"/>
            <a:chExt cx="731520" cy="498029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731520" cy="498029"/>
            </a:xfrm>
            <a:custGeom>
              <a:avLst/>
              <a:gdLst/>
              <a:ahLst/>
              <a:cxnLst/>
              <a:rect l="l" t="t" r="r" b="b"/>
              <a:pathLst>
                <a:path w="731520" h="498029">
                  <a:moveTo>
                    <a:pt x="0" y="0"/>
                  </a:moveTo>
                  <a:lnTo>
                    <a:pt x="731520" y="0"/>
                  </a:lnTo>
                  <a:lnTo>
                    <a:pt x="731520" y="498029"/>
                  </a:lnTo>
                  <a:lnTo>
                    <a:pt x="0" y="49802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r="-14151" b="26558"/>
              </a:stretch>
            </a:blipFill>
          </p:spPr>
        </p:sp>
        <p:sp>
          <p:nvSpPr>
            <p:cNvPr id="56" name="TextBox 56"/>
            <p:cNvSpPr txBox="1"/>
            <p:nvPr/>
          </p:nvSpPr>
          <p:spPr>
            <a:xfrm>
              <a:off x="0" y="0"/>
              <a:ext cx="731520" cy="49802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1E293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6.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1097280" y="5061684"/>
            <a:ext cx="16642080" cy="373521"/>
            <a:chOff x="0" y="0"/>
            <a:chExt cx="22189440" cy="498029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22189439" cy="498029"/>
            </a:xfrm>
            <a:custGeom>
              <a:avLst/>
              <a:gdLst/>
              <a:ahLst/>
              <a:cxnLst/>
              <a:rect l="l" t="t" r="r" b="b"/>
              <a:pathLst>
                <a:path w="22189439" h="498029">
                  <a:moveTo>
                    <a:pt x="0" y="0"/>
                  </a:moveTo>
                  <a:lnTo>
                    <a:pt x="22189439" y="0"/>
                  </a:lnTo>
                  <a:lnTo>
                    <a:pt x="22189439" y="498029"/>
                  </a:lnTo>
                  <a:lnTo>
                    <a:pt x="0" y="49802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24082" b="-812212"/>
              </a:stretch>
            </a:blipFill>
          </p:spPr>
        </p:sp>
        <p:sp>
          <p:nvSpPr>
            <p:cNvPr id="59" name="TextBox 59"/>
            <p:cNvSpPr txBox="1"/>
            <p:nvPr/>
          </p:nvSpPr>
          <p:spPr>
            <a:xfrm>
              <a:off x="0" y="0"/>
              <a:ext cx="22189440" cy="49802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MPLADS Portal – Work Register, Recommended Works, Completed Works and Status of Works, accessed August 26, 2026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1097280" y="5366644"/>
            <a:ext cx="16642080" cy="333077"/>
            <a:chOff x="0" y="0"/>
            <a:chExt cx="22189440" cy="444103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22189439" cy="444103"/>
            </a:xfrm>
            <a:custGeom>
              <a:avLst/>
              <a:gdLst/>
              <a:ahLst/>
              <a:cxnLst/>
              <a:rect l="l" t="t" r="r" b="b"/>
              <a:pathLst>
                <a:path w="22189439" h="444103">
                  <a:moveTo>
                    <a:pt x="0" y="0"/>
                  </a:moveTo>
                  <a:lnTo>
                    <a:pt x="22189439" y="0"/>
                  </a:lnTo>
                  <a:lnTo>
                    <a:pt x="22189439" y="444103"/>
                  </a:lnTo>
                  <a:lnTo>
                    <a:pt x="0" y="44410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929637" b="-917487"/>
              </a:stretch>
            </a:blipFill>
          </p:spPr>
        </p:sp>
        <p:sp>
          <p:nvSpPr>
            <p:cNvPr id="62" name="TextBox 62"/>
            <p:cNvSpPr txBox="1"/>
            <p:nvPr/>
          </p:nvSpPr>
          <p:spPr>
            <a:xfrm>
              <a:off x="0" y="-9525"/>
              <a:ext cx="22189440" cy="4536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1D4ED8"/>
                  </a:solidFill>
                  <a:latin typeface="Inter"/>
                  <a:ea typeface="Inter"/>
                  <a:cs typeface="Inter"/>
                  <a:sym typeface="Inter"/>
                </a:rPr>
                <a:t>https://www.mplads.gov.in/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512064" y="5661253"/>
            <a:ext cx="548640" cy="373521"/>
            <a:chOff x="0" y="0"/>
            <a:chExt cx="731520" cy="498029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731520" cy="498029"/>
            </a:xfrm>
            <a:custGeom>
              <a:avLst/>
              <a:gdLst/>
              <a:ahLst/>
              <a:cxnLst/>
              <a:rect l="l" t="t" r="r" b="b"/>
              <a:pathLst>
                <a:path w="731520" h="498029">
                  <a:moveTo>
                    <a:pt x="0" y="0"/>
                  </a:moveTo>
                  <a:lnTo>
                    <a:pt x="731520" y="0"/>
                  </a:lnTo>
                  <a:lnTo>
                    <a:pt x="731520" y="498029"/>
                  </a:lnTo>
                  <a:lnTo>
                    <a:pt x="0" y="49802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r="-14151" b="26558"/>
              </a:stretch>
            </a:blipFill>
          </p:spPr>
        </p:sp>
        <p:sp>
          <p:nvSpPr>
            <p:cNvPr id="65" name="TextBox 65"/>
            <p:cNvSpPr txBox="1"/>
            <p:nvPr/>
          </p:nvSpPr>
          <p:spPr>
            <a:xfrm>
              <a:off x="0" y="0"/>
              <a:ext cx="731520" cy="49802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1E293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7.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1097280" y="5714156"/>
            <a:ext cx="16642080" cy="373521"/>
            <a:chOff x="0" y="0"/>
            <a:chExt cx="22189440" cy="498029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22189439" cy="498029"/>
            </a:xfrm>
            <a:custGeom>
              <a:avLst/>
              <a:gdLst/>
              <a:ahLst/>
              <a:cxnLst/>
              <a:rect l="l" t="t" r="r" b="b"/>
              <a:pathLst>
                <a:path w="22189439" h="498029">
                  <a:moveTo>
                    <a:pt x="0" y="0"/>
                  </a:moveTo>
                  <a:lnTo>
                    <a:pt x="22189439" y="0"/>
                  </a:lnTo>
                  <a:lnTo>
                    <a:pt x="22189439" y="498029"/>
                  </a:lnTo>
                  <a:lnTo>
                    <a:pt x="0" y="49802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24082" b="-812212"/>
              </a:stretch>
            </a:blipFill>
          </p:spPr>
        </p:sp>
        <p:sp>
          <p:nvSpPr>
            <p:cNvPr id="68" name="TextBox 68"/>
            <p:cNvSpPr txBox="1"/>
            <p:nvPr/>
          </p:nvSpPr>
          <p:spPr>
            <a:xfrm>
              <a:off x="0" y="0"/>
              <a:ext cx="22189440" cy="49802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MPLADS Portal – Fund Release Statements, Expenditure Reports and Utilisation Certificate Formats, accessed August 26, 2026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1097280" y="6019116"/>
            <a:ext cx="16642080" cy="333077"/>
            <a:chOff x="0" y="0"/>
            <a:chExt cx="22189440" cy="444103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22189439" cy="444103"/>
            </a:xfrm>
            <a:custGeom>
              <a:avLst/>
              <a:gdLst/>
              <a:ahLst/>
              <a:cxnLst/>
              <a:rect l="l" t="t" r="r" b="b"/>
              <a:pathLst>
                <a:path w="22189439" h="444103">
                  <a:moveTo>
                    <a:pt x="0" y="0"/>
                  </a:moveTo>
                  <a:lnTo>
                    <a:pt x="22189439" y="0"/>
                  </a:lnTo>
                  <a:lnTo>
                    <a:pt x="22189439" y="444103"/>
                  </a:lnTo>
                  <a:lnTo>
                    <a:pt x="0" y="44410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929637" b="-917487"/>
              </a:stretch>
            </a:blipFill>
          </p:spPr>
        </p:sp>
        <p:sp>
          <p:nvSpPr>
            <p:cNvPr id="71" name="TextBox 71"/>
            <p:cNvSpPr txBox="1"/>
            <p:nvPr/>
          </p:nvSpPr>
          <p:spPr>
            <a:xfrm>
              <a:off x="0" y="-9525"/>
              <a:ext cx="22189440" cy="4536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1D4ED8"/>
                  </a:solidFill>
                  <a:latin typeface="Inter"/>
                  <a:ea typeface="Inter"/>
                  <a:cs typeface="Inter"/>
                  <a:sym typeface="Inter"/>
                </a:rPr>
                <a:t>https://www.mplads.gov.in/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512064" y="6313725"/>
            <a:ext cx="548640" cy="373521"/>
            <a:chOff x="0" y="0"/>
            <a:chExt cx="731520" cy="498029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731520" cy="498029"/>
            </a:xfrm>
            <a:custGeom>
              <a:avLst/>
              <a:gdLst/>
              <a:ahLst/>
              <a:cxnLst/>
              <a:rect l="l" t="t" r="r" b="b"/>
              <a:pathLst>
                <a:path w="731520" h="498029">
                  <a:moveTo>
                    <a:pt x="0" y="0"/>
                  </a:moveTo>
                  <a:lnTo>
                    <a:pt x="731520" y="0"/>
                  </a:lnTo>
                  <a:lnTo>
                    <a:pt x="731520" y="498029"/>
                  </a:lnTo>
                  <a:lnTo>
                    <a:pt x="0" y="49802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r="-14151" b="26558"/>
              </a:stretch>
            </a:blipFill>
          </p:spPr>
        </p:sp>
        <p:sp>
          <p:nvSpPr>
            <p:cNvPr id="74" name="TextBox 74"/>
            <p:cNvSpPr txBox="1"/>
            <p:nvPr/>
          </p:nvSpPr>
          <p:spPr>
            <a:xfrm>
              <a:off x="0" y="0"/>
              <a:ext cx="731520" cy="49802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1E293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8.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1097280" y="6366628"/>
            <a:ext cx="16642080" cy="373521"/>
            <a:chOff x="0" y="0"/>
            <a:chExt cx="22189440" cy="498029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22189439" cy="498029"/>
            </a:xfrm>
            <a:custGeom>
              <a:avLst/>
              <a:gdLst/>
              <a:ahLst/>
              <a:cxnLst/>
              <a:rect l="l" t="t" r="r" b="b"/>
              <a:pathLst>
                <a:path w="22189439" h="498029">
                  <a:moveTo>
                    <a:pt x="0" y="0"/>
                  </a:moveTo>
                  <a:lnTo>
                    <a:pt x="22189439" y="0"/>
                  </a:lnTo>
                  <a:lnTo>
                    <a:pt x="22189439" y="498029"/>
                  </a:lnTo>
                  <a:lnTo>
                    <a:pt x="0" y="49802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24082" b="-812212"/>
              </a:stretch>
            </a:blipFill>
          </p:spPr>
        </p:sp>
        <p:sp>
          <p:nvSpPr>
            <p:cNvPr id="77" name="TextBox 77"/>
            <p:cNvSpPr txBox="1"/>
            <p:nvPr/>
          </p:nvSpPr>
          <p:spPr>
            <a:xfrm>
              <a:off x="0" y="0"/>
              <a:ext cx="22189440" cy="49802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Digital India – Geospatial and GIS Data for Monitoring Infrastructure Projects, accessed August 26, 2026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1097280" y="6671588"/>
            <a:ext cx="16642080" cy="333077"/>
            <a:chOff x="0" y="0"/>
            <a:chExt cx="22189440" cy="444103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22189439" cy="444103"/>
            </a:xfrm>
            <a:custGeom>
              <a:avLst/>
              <a:gdLst/>
              <a:ahLst/>
              <a:cxnLst/>
              <a:rect l="l" t="t" r="r" b="b"/>
              <a:pathLst>
                <a:path w="22189439" h="444103">
                  <a:moveTo>
                    <a:pt x="0" y="0"/>
                  </a:moveTo>
                  <a:lnTo>
                    <a:pt x="22189439" y="0"/>
                  </a:lnTo>
                  <a:lnTo>
                    <a:pt x="22189439" y="444103"/>
                  </a:lnTo>
                  <a:lnTo>
                    <a:pt x="0" y="44410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929637" b="-917487"/>
              </a:stretch>
            </a:blipFill>
          </p:spPr>
        </p:sp>
        <p:sp>
          <p:nvSpPr>
            <p:cNvPr id="80" name="TextBox 80"/>
            <p:cNvSpPr txBox="1"/>
            <p:nvPr/>
          </p:nvSpPr>
          <p:spPr>
            <a:xfrm>
              <a:off x="0" y="-9525"/>
              <a:ext cx="22189440" cy="4536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1D4ED8"/>
                  </a:solidFill>
                  <a:latin typeface="Inter"/>
                  <a:ea typeface="Inter"/>
                  <a:cs typeface="Inter"/>
                  <a:sym typeface="Inter"/>
                </a:rPr>
                <a:t>https://bhuvan.nrsc.gov.in/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512064" y="6966197"/>
            <a:ext cx="548640" cy="373521"/>
            <a:chOff x="0" y="0"/>
            <a:chExt cx="731520" cy="498029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731520" cy="498029"/>
            </a:xfrm>
            <a:custGeom>
              <a:avLst/>
              <a:gdLst/>
              <a:ahLst/>
              <a:cxnLst/>
              <a:rect l="l" t="t" r="r" b="b"/>
              <a:pathLst>
                <a:path w="731520" h="498029">
                  <a:moveTo>
                    <a:pt x="0" y="0"/>
                  </a:moveTo>
                  <a:lnTo>
                    <a:pt x="731520" y="0"/>
                  </a:lnTo>
                  <a:lnTo>
                    <a:pt x="731520" y="498029"/>
                  </a:lnTo>
                  <a:lnTo>
                    <a:pt x="0" y="49802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r="-14151" b="26558"/>
              </a:stretch>
            </a:blipFill>
          </p:spPr>
        </p:sp>
        <p:sp>
          <p:nvSpPr>
            <p:cNvPr id="83" name="TextBox 83"/>
            <p:cNvSpPr txBox="1"/>
            <p:nvPr/>
          </p:nvSpPr>
          <p:spPr>
            <a:xfrm>
              <a:off x="0" y="0"/>
              <a:ext cx="731520" cy="49802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1E293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9.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1097280" y="7019100"/>
            <a:ext cx="16642080" cy="373521"/>
            <a:chOff x="0" y="0"/>
            <a:chExt cx="22189440" cy="498029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22189439" cy="498029"/>
            </a:xfrm>
            <a:custGeom>
              <a:avLst/>
              <a:gdLst/>
              <a:ahLst/>
              <a:cxnLst/>
              <a:rect l="l" t="t" r="r" b="b"/>
              <a:pathLst>
                <a:path w="22189439" h="498029">
                  <a:moveTo>
                    <a:pt x="0" y="0"/>
                  </a:moveTo>
                  <a:lnTo>
                    <a:pt x="22189439" y="0"/>
                  </a:lnTo>
                  <a:lnTo>
                    <a:pt x="22189439" y="498029"/>
                  </a:lnTo>
                  <a:lnTo>
                    <a:pt x="0" y="49802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24082" b="-812212"/>
              </a:stretch>
            </a:blipFill>
          </p:spPr>
        </p:sp>
        <p:sp>
          <p:nvSpPr>
            <p:cNvPr id="86" name="TextBox 86"/>
            <p:cNvSpPr txBox="1"/>
            <p:nvPr/>
          </p:nvSpPr>
          <p:spPr>
            <a:xfrm>
              <a:off x="0" y="0"/>
              <a:ext cx="22189440" cy="49802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Ministry of Electronics &amp; IT – e-Office and Digital Governance Initiatives, Government of India, accessed August 26, 2026</a:t>
              </a:r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1097280" y="7324060"/>
            <a:ext cx="16642080" cy="333077"/>
            <a:chOff x="0" y="0"/>
            <a:chExt cx="22189440" cy="444103"/>
          </a:xfrm>
        </p:grpSpPr>
        <p:sp>
          <p:nvSpPr>
            <p:cNvPr id="88" name="Freeform 88"/>
            <p:cNvSpPr/>
            <p:nvPr/>
          </p:nvSpPr>
          <p:spPr>
            <a:xfrm>
              <a:off x="0" y="0"/>
              <a:ext cx="22189439" cy="444103"/>
            </a:xfrm>
            <a:custGeom>
              <a:avLst/>
              <a:gdLst/>
              <a:ahLst/>
              <a:cxnLst/>
              <a:rect l="l" t="t" r="r" b="b"/>
              <a:pathLst>
                <a:path w="22189439" h="444103">
                  <a:moveTo>
                    <a:pt x="0" y="0"/>
                  </a:moveTo>
                  <a:lnTo>
                    <a:pt x="22189439" y="0"/>
                  </a:lnTo>
                  <a:lnTo>
                    <a:pt x="22189439" y="444103"/>
                  </a:lnTo>
                  <a:lnTo>
                    <a:pt x="0" y="44410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929637" b="-917487"/>
              </a:stretch>
            </a:blipFill>
          </p:spPr>
        </p:sp>
        <p:sp>
          <p:nvSpPr>
            <p:cNvPr id="89" name="TextBox 89"/>
            <p:cNvSpPr txBox="1"/>
            <p:nvPr/>
          </p:nvSpPr>
          <p:spPr>
            <a:xfrm>
              <a:off x="0" y="-9525"/>
              <a:ext cx="22189440" cy="4536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1D4ED8"/>
                  </a:solidFill>
                  <a:latin typeface="Inter"/>
                  <a:ea typeface="Inter"/>
                  <a:cs typeface="Inter"/>
                  <a:sym typeface="Inter"/>
                </a:rPr>
                <a:t>https://www.meity.gov.in/</a:t>
              </a:r>
            </a:p>
          </p:txBody>
        </p:sp>
      </p:grpSp>
      <p:grpSp>
        <p:nvGrpSpPr>
          <p:cNvPr id="90" name="Group 90"/>
          <p:cNvGrpSpPr/>
          <p:nvPr/>
        </p:nvGrpSpPr>
        <p:grpSpPr>
          <a:xfrm>
            <a:off x="512064" y="7618669"/>
            <a:ext cx="548640" cy="373521"/>
            <a:chOff x="0" y="0"/>
            <a:chExt cx="731520" cy="498029"/>
          </a:xfrm>
        </p:grpSpPr>
        <p:sp>
          <p:nvSpPr>
            <p:cNvPr id="91" name="Freeform 91"/>
            <p:cNvSpPr/>
            <p:nvPr/>
          </p:nvSpPr>
          <p:spPr>
            <a:xfrm>
              <a:off x="0" y="0"/>
              <a:ext cx="731520" cy="498029"/>
            </a:xfrm>
            <a:custGeom>
              <a:avLst/>
              <a:gdLst/>
              <a:ahLst/>
              <a:cxnLst/>
              <a:rect l="l" t="t" r="r" b="b"/>
              <a:pathLst>
                <a:path w="731520" h="498029">
                  <a:moveTo>
                    <a:pt x="0" y="0"/>
                  </a:moveTo>
                  <a:lnTo>
                    <a:pt x="731520" y="0"/>
                  </a:lnTo>
                  <a:lnTo>
                    <a:pt x="731520" y="498029"/>
                  </a:lnTo>
                  <a:lnTo>
                    <a:pt x="0" y="49802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r="-14151" b="26558"/>
              </a:stretch>
            </a:blipFill>
          </p:spPr>
        </p:sp>
        <p:sp>
          <p:nvSpPr>
            <p:cNvPr id="92" name="TextBox 92"/>
            <p:cNvSpPr txBox="1"/>
            <p:nvPr/>
          </p:nvSpPr>
          <p:spPr>
            <a:xfrm>
              <a:off x="0" y="0"/>
              <a:ext cx="731520" cy="49802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1E293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10.</a:t>
              </a:r>
            </a:p>
          </p:txBody>
        </p:sp>
      </p:grpSp>
      <p:grpSp>
        <p:nvGrpSpPr>
          <p:cNvPr id="93" name="Group 93"/>
          <p:cNvGrpSpPr/>
          <p:nvPr/>
        </p:nvGrpSpPr>
        <p:grpSpPr>
          <a:xfrm>
            <a:off x="1097280" y="7671572"/>
            <a:ext cx="16642080" cy="373521"/>
            <a:chOff x="0" y="0"/>
            <a:chExt cx="22189440" cy="498029"/>
          </a:xfrm>
        </p:grpSpPr>
        <p:sp>
          <p:nvSpPr>
            <p:cNvPr id="94" name="Freeform 94"/>
            <p:cNvSpPr/>
            <p:nvPr/>
          </p:nvSpPr>
          <p:spPr>
            <a:xfrm>
              <a:off x="0" y="0"/>
              <a:ext cx="22189439" cy="498029"/>
            </a:xfrm>
            <a:custGeom>
              <a:avLst/>
              <a:gdLst/>
              <a:ahLst/>
              <a:cxnLst/>
              <a:rect l="l" t="t" r="r" b="b"/>
              <a:pathLst>
                <a:path w="22189439" h="498029">
                  <a:moveTo>
                    <a:pt x="0" y="0"/>
                  </a:moveTo>
                  <a:lnTo>
                    <a:pt x="22189439" y="0"/>
                  </a:lnTo>
                  <a:lnTo>
                    <a:pt x="22189439" y="498029"/>
                  </a:lnTo>
                  <a:lnTo>
                    <a:pt x="0" y="49802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24082" b="-812212"/>
              </a:stretch>
            </a:blipFill>
          </p:spPr>
        </p:sp>
        <p:sp>
          <p:nvSpPr>
            <p:cNvPr id="95" name="TextBox 95"/>
            <p:cNvSpPr txBox="1"/>
            <p:nvPr/>
          </p:nvSpPr>
          <p:spPr>
            <a:xfrm>
              <a:off x="0" y="0"/>
              <a:ext cx="22189440" cy="49802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NITI Aayog – Data-driven Governance and AI for Public Services, accessed August 26, 2026</a:t>
              </a:r>
            </a:p>
          </p:txBody>
        </p:sp>
      </p:grpSp>
      <p:grpSp>
        <p:nvGrpSpPr>
          <p:cNvPr id="96" name="Group 96"/>
          <p:cNvGrpSpPr/>
          <p:nvPr/>
        </p:nvGrpSpPr>
        <p:grpSpPr>
          <a:xfrm>
            <a:off x="1097280" y="7976531"/>
            <a:ext cx="16642080" cy="333077"/>
            <a:chOff x="0" y="0"/>
            <a:chExt cx="22189440" cy="444103"/>
          </a:xfrm>
        </p:grpSpPr>
        <p:sp>
          <p:nvSpPr>
            <p:cNvPr id="97" name="Freeform 97"/>
            <p:cNvSpPr/>
            <p:nvPr/>
          </p:nvSpPr>
          <p:spPr>
            <a:xfrm>
              <a:off x="0" y="0"/>
              <a:ext cx="22189439" cy="444103"/>
            </a:xfrm>
            <a:custGeom>
              <a:avLst/>
              <a:gdLst/>
              <a:ahLst/>
              <a:cxnLst/>
              <a:rect l="l" t="t" r="r" b="b"/>
              <a:pathLst>
                <a:path w="22189439" h="444103">
                  <a:moveTo>
                    <a:pt x="0" y="0"/>
                  </a:moveTo>
                  <a:lnTo>
                    <a:pt x="22189439" y="0"/>
                  </a:lnTo>
                  <a:lnTo>
                    <a:pt x="22189439" y="444103"/>
                  </a:lnTo>
                  <a:lnTo>
                    <a:pt x="0" y="44410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929637" b="-917487"/>
              </a:stretch>
            </a:blipFill>
          </p:spPr>
        </p:sp>
        <p:sp>
          <p:nvSpPr>
            <p:cNvPr id="98" name="TextBox 98"/>
            <p:cNvSpPr txBox="1"/>
            <p:nvPr/>
          </p:nvSpPr>
          <p:spPr>
            <a:xfrm>
              <a:off x="0" y="-9525"/>
              <a:ext cx="22189440" cy="4536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1D4ED8"/>
                  </a:solidFill>
                  <a:latin typeface="Inter"/>
                  <a:ea typeface="Inter"/>
                  <a:cs typeface="Inter"/>
                  <a:sym typeface="Inter"/>
                </a:rPr>
                <a:t>https://www.niti.gov.in/</a:t>
              </a:r>
            </a:p>
          </p:txBody>
        </p:sp>
      </p:grpSp>
      <p:grpSp>
        <p:nvGrpSpPr>
          <p:cNvPr id="99" name="Group 99"/>
          <p:cNvGrpSpPr/>
          <p:nvPr/>
        </p:nvGrpSpPr>
        <p:grpSpPr>
          <a:xfrm>
            <a:off x="512064" y="8271140"/>
            <a:ext cx="548640" cy="373521"/>
            <a:chOff x="0" y="0"/>
            <a:chExt cx="731520" cy="498029"/>
          </a:xfrm>
        </p:grpSpPr>
        <p:sp>
          <p:nvSpPr>
            <p:cNvPr id="100" name="Freeform 100"/>
            <p:cNvSpPr/>
            <p:nvPr/>
          </p:nvSpPr>
          <p:spPr>
            <a:xfrm>
              <a:off x="0" y="0"/>
              <a:ext cx="731520" cy="498029"/>
            </a:xfrm>
            <a:custGeom>
              <a:avLst/>
              <a:gdLst/>
              <a:ahLst/>
              <a:cxnLst/>
              <a:rect l="l" t="t" r="r" b="b"/>
              <a:pathLst>
                <a:path w="731520" h="498029">
                  <a:moveTo>
                    <a:pt x="0" y="0"/>
                  </a:moveTo>
                  <a:lnTo>
                    <a:pt x="731520" y="0"/>
                  </a:lnTo>
                  <a:lnTo>
                    <a:pt x="731520" y="498029"/>
                  </a:lnTo>
                  <a:lnTo>
                    <a:pt x="0" y="49802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r="-14151" b="26558"/>
              </a:stretch>
            </a:blipFill>
          </p:spPr>
        </p:sp>
        <p:sp>
          <p:nvSpPr>
            <p:cNvPr id="101" name="TextBox 101"/>
            <p:cNvSpPr txBox="1"/>
            <p:nvPr/>
          </p:nvSpPr>
          <p:spPr>
            <a:xfrm>
              <a:off x="0" y="0"/>
              <a:ext cx="731520" cy="49802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1E293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11.</a:t>
              </a:r>
            </a:p>
          </p:txBody>
        </p:sp>
      </p:grpSp>
      <p:grpSp>
        <p:nvGrpSpPr>
          <p:cNvPr id="102" name="Group 102"/>
          <p:cNvGrpSpPr/>
          <p:nvPr/>
        </p:nvGrpSpPr>
        <p:grpSpPr>
          <a:xfrm>
            <a:off x="1097280" y="8324044"/>
            <a:ext cx="16642080" cy="373521"/>
            <a:chOff x="0" y="0"/>
            <a:chExt cx="22189440" cy="498029"/>
          </a:xfrm>
        </p:grpSpPr>
        <p:sp>
          <p:nvSpPr>
            <p:cNvPr id="103" name="Freeform 103"/>
            <p:cNvSpPr/>
            <p:nvPr/>
          </p:nvSpPr>
          <p:spPr>
            <a:xfrm>
              <a:off x="0" y="0"/>
              <a:ext cx="22189439" cy="498029"/>
            </a:xfrm>
            <a:custGeom>
              <a:avLst/>
              <a:gdLst/>
              <a:ahLst/>
              <a:cxnLst/>
              <a:rect l="l" t="t" r="r" b="b"/>
              <a:pathLst>
                <a:path w="22189439" h="498029">
                  <a:moveTo>
                    <a:pt x="0" y="0"/>
                  </a:moveTo>
                  <a:lnTo>
                    <a:pt x="22189439" y="0"/>
                  </a:lnTo>
                  <a:lnTo>
                    <a:pt x="22189439" y="498029"/>
                  </a:lnTo>
                  <a:lnTo>
                    <a:pt x="0" y="49802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24082" b="-812212"/>
              </a:stretch>
            </a:blipFill>
          </p:spPr>
        </p:sp>
        <p:sp>
          <p:nvSpPr>
            <p:cNvPr id="104" name="TextBox 104"/>
            <p:cNvSpPr txBox="1"/>
            <p:nvPr/>
          </p:nvSpPr>
          <p:spPr>
            <a:xfrm>
              <a:off x="0" y="0"/>
              <a:ext cx="22189440" cy="49802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PM GatiShakti – National Master Plan for Integrated Infrastructure Monitoring, accessed August 26, 2026</a:t>
              </a:r>
            </a:p>
          </p:txBody>
        </p:sp>
      </p:grpSp>
      <p:grpSp>
        <p:nvGrpSpPr>
          <p:cNvPr id="105" name="Group 105"/>
          <p:cNvGrpSpPr/>
          <p:nvPr/>
        </p:nvGrpSpPr>
        <p:grpSpPr>
          <a:xfrm>
            <a:off x="1097280" y="8629003"/>
            <a:ext cx="16642080" cy="333077"/>
            <a:chOff x="0" y="0"/>
            <a:chExt cx="22189440" cy="444103"/>
          </a:xfrm>
        </p:grpSpPr>
        <p:sp>
          <p:nvSpPr>
            <p:cNvPr id="106" name="Freeform 106"/>
            <p:cNvSpPr/>
            <p:nvPr/>
          </p:nvSpPr>
          <p:spPr>
            <a:xfrm>
              <a:off x="0" y="0"/>
              <a:ext cx="22189439" cy="444103"/>
            </a:xfrm>
            <a:custGeom>
              <a:avLst/>
              <a:gdLst/>
              <a:ahLst/>
              <a:cxnLst/>
              <a:rect l="l" t="t" r="r" b="b"/>
              <a:pathLst>
                <a:path w="22189439" h="444103">
                  <a:moveTo>
                    <a:pt x="0" y="0"/>
                  </a:moveTo>
                  <a:lnTo>
                    <a:pt x="22189439" y="0"/>
                  </a:lnTo>
                  <a:lnTo>
                    <a:pt x="22189439" y="444103"/>
                  </a:lnTo>
                  <a:lnTo>
                    <a:pt x="0" y="44410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929637" b="-917487"/>
              </a:stretch>
            </a:blipFill>
          </p:spPr>
        </p:sp>
        <p:sp>
          <p:nvSpPr>
            <p:cNvPr id="107" name="TextBox 107"/>
            <p:cNvSpPr txBox="1"/>
            <p:nvPr/>
          </p:nvSpPr>
          <p:spPr>
            <a:xfrm>
              <a:off x="0" y="-9525"/>
              <a:ext cx="22189440" cy="4536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1D4ED8"/>
                  </a:solidFill>
                  <a:latin typeface="Inter"/>
                  <a:ea typeface="Inter"/>
                  <a:cs typeface="Inter"/>
                  <a:sym typeface="Inter"/>
                </a:rPr>
                <a:t>https://pmgatishakti.gov.in/</a:t>
              </a:r>
            </a:p>
          </p:txBody>
        </p:sp>
      </p:grpSp>
      <p:grpSp>
        <p:nvGrpSpPr>
          <p:cNvPr id="108" name="Group 108"/>
          <p:cNvGrpSpPr/>
          <p:nvPr/>
        </p:nvGrpSpPr>
        <p:grpSpPr>
          <a:xfrm>
            <a:off x="512064" y="8923612"/>
            <a:ext cx="548640" cy="373521"/>
            <a:chOff x="0" y="0"/>
            <a:chExt cx="731520" cy="498029"/>
          </a:xfrm>
        </p:grpSpPr>
        <p:sp>
          <p:nvSpPr>
            <p:cNvPr id="109" name="Freeform 109"/>
            <p:cNvSpPr/>
            <p:nvPr/>
          </p:nvSpPr>
          <p:spPr>
            <a:xfrm>
              <a:off x="0" y="0"/>
              <a:ext cx="731520" cy="498029"/>
            </a:xfrm>
            <a:custGeom>
              <a:avLst/>
              <a:gdLst/>
              <a:ahLst/>
              <a:cxnLst/>
              <a:rect l="l" t="t" r="r" b="b"/>
              <a:pathLst>
                <a:path w="731520" h="498029">
                  <a:moveTo>
                    <a:pt x="0" y="0"/>
                  </a:moveTo>
                  <a:lnTo>
                    <a:pt x="731520" y="0"/>
                  </a:lnTo>
                  <a:lnTo>
                    <a:pt x="731520" y="498029"/>
                  </a:lnTo>
                  <a:lnTo>
                    <a:pt x="0" y="49802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r="-14151" b="26558"/>
              </a:stretch>
            </a:blipFill>
          </p:spPr>
        </p:sp>
        <p:sp>
          <p:nvSpPr>
            <p:cNvPr id="110" name="TextBox 110"/>
            <p:cNvSpPr txBox="1"/>
            <p:nvPr/>
          </p:nvSpPr>
          <p:spPr>
            <a:xfrm>
              <a:off x="0" y="0"/>
              <a:ext cx="731520" cy="49802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1E293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12.</a:t>
              </a:r>
            </a:p>
          </p:txBody>
        </p:sp>
      </p:grpSp>
      <p:grpSp>
        <p:nvGrpSpPr>
          <p:cNvPr id="111" name="Group 111"/>
          <p:cNvGrpSpPr/>
          <p:nvPr/>
        </p:nvGrpSpPr>
        <p:grpSpPr>
          <a:xfrm>
            <a:off x="1097280" y="8976515"/>
            <a:ext cx="16642080" cy="373521"/>
            <a:chOff x="0" y="0"/>
            <a:chExt cx="22189440" cy="498029"/>
          </a:xfrm>
        </p:grpSpPr>
        <p:sp>
          <p:nvSpPr>
            <p:cNvPr id="112" name="Freeform 112"/>
            <p:cNvSpPr/>
            <p:nvPr/>
          </p:nvSpPr>
          <p:spPr>
            <a:xfrm>
              <a:off x="0" y="0"/>
              <a:ext cx="22189439" cy="498029"/>
            </a:xfrm>
            <a:custGeom>
              <a:avLst/>
              <a:gdLst/>
              <a:ahLst/>
              <a:cxnLst/>
              <a:rect l="l" t="t" r="r" b="b"/>
              <a:pathLst>
                <a:path w="22189439" h="498029">
                  <a:moveTo>
                    <a:pt x="0" y="0"/>
                  </a:moveTo>
                  <a:lnTo>
                    <a:pt x="22189439" y="0"/>
                  </a:lnTo>
                  <a:lnTo>
                    <a:pt x="22189439" y="498029"/>
                  </a:lnTo>
                  <a:lnTo>
                    <a:pt x="0" y="49802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24082" b="-812212"/>
              </a:stretch>
            </a:blipFill>
          </p:spPr>
        </p:sp>
        <p:sp>
          <p:nvSpPr>
            <p:cNvPr id="113" name="TextBox 113"/>
            <p:cNvSpPr txBox="1"/>
            <p:nvPr/>
          </p:nvSpPr>
          <p:spPr>
            <a:xfrm>
              <a:off x="0" y="0"/>
              <a:ext cx="22189440" cy="49802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Government of India – Public Financial Management and Transparency Initiatives, accessed August 26, 2026</a:t>
              </a:r>
            </a:p>
          </p:txBody>
        </p:sp>
      </p:grpSp>
      <p:grpSp>
        <p:nvGrpSpPr>
          <p:cNvPr id="114" name="Group 114"/>
          <p:cNvGrpSpPr/>
          <p:nvPr/>
        </p:nvGrpSpPr>
        <p:grpSpPr>
          <a:xfrm>
            <a:off x="1097280" y="9281475"/>
            <a:ext cx="16642080" cy="333077"/>
            <a:chOff x="0" y="0"/>
            <a:chExt cx="22189440" cy="444103"/>
          </a:xfrm>
        </p:grpSpPr>
        <p:sp>
          <p:nvSpPr>
            <p:cNvPr id="115" name="Freeform 115"/>
            <p:cNvSpPr/>
            <p:nvPr/>
          </p:nvSpPr>
          <p:spPr>
            <a:xfrm>
              <a:off x="0" y="0"/>
              <a:ext cx="22189439" cy="444103"/>
            </a:xfrm>
            <a:custGeom>
              <a:avLst/>
              <a:gdLst/>
              <a:ahLst/>
              <a:cxnLst/>
              <a:rect l="l" t="t" r="r" b="b"/>
              <a:pathLst>
                <a:path w="22189439" h="444103">
                  <a:moveTo>
                    <a:pt x="0" y="0"/>
                  </a:moveTo>
                  <a:lnTo>
                    <a:pt x="22189439" y="0"/>
                  </a:lnTo>
                  <a:lnTo>
                    <a:pt x="22189439" y="444103"/>
                  </a:lnTo>
                  <a:lnTo>
                    <a:pt x="0" y="44410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929637" b="-917487"/>
              </a:stretch>
            </a:blipFill>
          </p:spPr>
        </p:sp>
        <p:sp>
          <p:nvSpPr>
            <p:cNvPr id="116" name="TextBox 116"/>
            <p:cNvSpPr txBox="1"/>
            <p:nvPr/>
          </p:nvSpPr>
          <p:spPr>
            <a:xfrm>
              <a:off x="0" y="-9525"/>
              <a:ext cx="22189440" cy="4536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1D4ED8"/>
                  </a:solidFill>
                  <a:latin typeface="Inter"/>
                  <a:ea typeface="Inter"/>
                  <a:cs typeface="Inter"/>
                  <a:sym typeface="Inter"/>
                </a:rPr>
                <a:t>https://www.pfm.gov.in/</a:t>
              </a:r>
            </a:p>
          </p:txBody>
        </p:sp>
      </p:grpSp>
      <p:grpSp>
        <p:nvGrpSpPr>
          <p:cNvPr id="117" name="Group 117"/>
          <p:cNvGrpSpPr/>
          <p:nvPr/>
        </p:nvGrpSpPr>
        <p:grpSpPr>
          <a:xfrm>
            <a:off x="263229" y="241575"/>
            <a:ext cx="2331190" cy="1296754"/>
            <a:chOff x="0" y="0"/>
            <a:chExt cx="1168702" cy="650105"/>
          </a:xfrm>
        </p:grpSpPr>
        <p:sp>
          <p:nvSpPr>
            <p:cNvPr id="118" name="Freeform 118"/>
            <p:cNvSpPr/>
            <p:nvPr/>
          </p:nvSpPr>
          <p:spPr>
            <a:xfrm>
              <a:off x="0" y="0"/>
              <a:ext cx="1168702" cy="650105"/>
            </a:xfrm>
            <a:custGeom>
              <a:avLst/>
              <a:gdLst/>
              <a:ahLst/>
              <a:cxnLst/>
              <a:rect l="l" t="t" r="r" b="b"/>
              <a:pathLst>
                <a:path w="1168702" h="650105">
                  <a:moveTo>
                    <a:pt x="584351" y="0"/>
                  </a:moveTo>
                  <a:cubicBezTo>
                    <a:pt x="261623" y="0"/>
                    <a:pt x="0" y="145531"/>
                    <a:pt x="0" y="325053"/>
                  </a:cubicBezTo>
                  <a:cubicBezTo>
                    <a:pt x="0" y="504574"/>
                    <a:pt x="261623" y="650105"/>
                    <a:pt x="584351" y="650105"/>
                  </a:cubicBezTo>
                  <a:cubicBezTo>
                    <a:pt x="907079" y="650105"/>
                    <a:pt x="1168702" y="504574"/>
                    <a:pt x="1168702" y="325053"/>
                  </a:cubicBezTo>
                  <a:cubicBezTo>
                    <a:pt x="1168702" y="145531"/>
                    <a:pt x="907079" y="0"/>
                    <a:pt x="584351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19" name="TextBox 119"/>
            <p:cNvSpPr txBox="1"/>
            <p:nvPr/>
          </p:nvSpPr>
          <p:spPr>
            <a:xfrm>
              <a:off x="109566" y="-43828"/>
              <a:ext cx="949570" cy="6329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530"/>
                </a:lnSpc>
              </a:pPr>
              <a:r>
                <a:rPr lang="en-US" sz="4664">
                  <a:solidFill>
                    <a:srgbClr val="0A2F5C"/>
                  </a:solidFill>
                  <a:latin typeface="Bebas Neue Cyrillic"/>
                  <a:ea typeface="Bebas Neue Cyrillic"/>
                  <a:cs typeface="Bebas Neue Cyrillic"/>
                  <a:sym typeface="Bebas Neue Cyrillic"/>
                </a:rPr>
                <a:t>DietCode</a:t>
              </a:r>
            </a:p>
          </p:txBody>
        </p:sp>
      </p:grpSp>
      <p:sp>
        <p:nvSpPr>
          <p:cNvPr id="120" name="Freeform 120"/>
          <p:cNvSpPr/>
          <p:nvPr/>
        </p:nvSpPr>
        <p:spPr>
          <a:xfrm>
            <a:off x="14877602" y="157732"/>
            <a:ext cx="3203463" cy="1464440"/>
          </a:xfrm>
          <a:custGeom>
            <a:avLst/>
            <a:gdLst/>
            <a:ahLst/>
            <a:cxnLst/>
            <a:rect l="l" t="t" r="r" b="b"/>
            <a:pathLst>
              <a:path w="3203463" h="1464440">
                <a:moveTo>
                  <a:pt x="0" y="0"/>
                </a:moveTo>
                <a:lnTo>
                  <a:pt x="3203463" y="0"/>
                </a:lnTo>
                <a:lnTo>
                  <a:pt x="3203463" y="1464440"/>
                </a:lnTo>
                <a:lnTo>
                  <a:pt x="0" y="14644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121" name="Group 121"/>
          <p:cNvGrpSpPr/>
          <p:nvPr/>
        </p:nvGrpSpPr>
        <p:grpSpPr>
          <a:xfrm>
            <a:off x="0" y="9776634"/>
            <a:ext cx="18288000" cy="375709"/>
            <a:chOff x="0" y="0"/>
            <a:chExt cx="24384000" cy="500945"/>
          </a:xfrm>
        </p:grpSpPr>
        <p:sp>
          <p:nvSpPr>
            <p:cNvPr id="122" name="Freeform 122"/>
            <p:cNvSpPr/>
            <p:nvPr/>
          </p:nvSpPr>
          <p:spPr>
            <a:xfrm>
              <a:off x="0" y="0"/>
              <a:ext cx="24384000" cy="500945"/>
            </a:xfrm>
            <a:custGeom>
              <a:avLst/>
              <a:gdLst/>
              <a:ahLst/>
              <a:cxnLst/>
              <a:rect l="l" t="t" r="r" b="b"/>
              <a:pathLst>
                <a:path w="24384000" h="500945">
                  <a:moveTo>
                    <a:pt x="0" y="0"/>
                  </a:moveTo>
                  <a:lnTo>
                    <a:pt x="24384000" y="0"/>
                  </a:lnTo>
                  <a:lnTo>
                    <a:pt x="24384000" y="500945"/>
                  </a:lnTo>
                  <a:lnTo>
                    <a:pt x="0" y="500945"/>
                  </a:lnTo>
                  <a:close/>
                </a:path>
              </a:pathLst>
            </a:custGeom>
            <a:solidFill>
              <a:srgbClr val="1B3A5F"/>
            </a:solidFill>
          </p:spPr>
        </p:sp>
      </p:grpSp>
      <p:grpSp>
        <p:nvGrpSpPr>
          <p:cNvPr id="123" name="Group 123"/>
          <p:cNvGrpSpPr/>
          <p:nvPr/>
        </p:nvGrpSpPr>
        <p:grpSpPr>
          <a:xfrm>
            <a:off x="548640" y="9728852"/>
            <a:ext cx="12801600" cy="423491"/>
            <a:chOff x="0" y="0"/>
            <a:chExt cx="17068800" cy="564654"/>
          </a:xfrm>
        </p:grpSpPr>
        <p:sp>
          <p:nvSpPr>
            <p:cNvPr id="124" name="Freeform 124"/>
            <p:cNvSpPr/>
            <p:nvPr/>
          </p:nvSpPr>
          <p:spPr>
            <a:xfrm>
              <a:off x="0" y="0"/>
              <a:ext cx="17068800" cy="564654"/>
            </a:xfrm>
            <a:custGeom>
              <a:avLst/>
              <a:gdLst/>
              <a:ahLst/>
              <a:cxnLst/>
              <a:rect l="l" t="t" r="r" b="b"/>
              <a:pathLst>
                <a:path w="17068800" h="564654">
                  <a:moveTo>
                    <a:pt x="0" y="0"/>
                  </a:moveTo>
                  <a:lnTo>
                    <a:pt x="17068800" y="0"/>
                  </a:lnTo>
                  <a:lnTo>
                    <a:pt x="17068800" y="564654"/>
                  </a:lnTo>
                  <a:lnTo>
                    <a:pt x="0" y="56465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98322" b="-579695"/>
              </a:stretch>
            </a:blipFill>
          </p:spPr>
        </p:sp>
        <p:sp>
          <p:nvSpPr>
            <p:cNvPr id="125" name="TextBox 125"/>
            <p:cNvSpPr txBox="1"/>
            <p:nvPr/>
          </p:nvSpPr>
          <p:spPr>
            <a:xfrm>
              <a:off x="0" y="-9525"/>
              <a:ext cx="17068800" cy="57417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MPLADS ArthSetu  ·  SIH 26102  ·  Idea Submission</a:t>
              </a:r>
            </a:p>
          </p:txBody>
        </p:sp>
      </p:grpSp>
      <p:grpSp>
        <p:nvGrpSpPr>
          <p:cNvPr id="126" name="Group 126"/>
          <p:cNvGrpSpPr/>
          <p:nvPr/>
        </p:nvGrpSpPr>
        <p:grpSpPr>
          <a:xfrm>
            <a:off x="16459200" y="9728852"/>
            <a:ext cx="1280160" cy="522013"/>
            <a:chOff x="0" y="0"/>
            <a:chExt cx="1706880" cy="696017"/>
          </a:xfrm>
        </p:grpSpPr>
        <p:sp>
          <p:nvSpPr>
            <p:cNvPr id="127" name="Freeform 127"/>
            <p:cNvSpPr/>
            <p:nvPr/>
          </p:nvSpPr>
          <p:spPr>
            <a:xfrm>
              <a:off x="0" y="0"/>
              <a:ext cx="1706880" cy="696017"/>
            </a:xfrm>
            <a:custGeom>
              <a:avLst/>
              <a:gdLst/>
              <a:ahLst/>
              <a:cxnLst/>
              <a:rect l="l" t="t" r="r" b="b"/>
              <a:pathLst>
                <a:path w="1706880" h="696017">
                  <a:moveTo>
                    <a:pt x="0" y="0"/>
                  </a:moveTo>
                  <a:lnTo>
                    <a:pt x="1706880" y="0"/>
                  </a:lnTo>
                  <a:lnTo>
                    <a:pt x="1706880" y="696017"/>
                  </a:lnTo>
                  <a:lnTo>
                    <a:pt x="0" y="69601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r="-26982" b="-47141"/>
              </a:stretch>
            </a:blipFill>
          </p:spPr>
        </p:sp>
        <p:sp>
          <p:nvSpPr>
            <p:cNvPr id="128" name="TextBox 128"/>
            <p:cNvSpPr txBox="1"/>
            <p:nvPr/>
          </p:nvSpPr>
          <p:spPr>
            <a:xfrm>
              <a:off x="0" y="0"/>
              <a:ext cx="1706880" cy="6960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09</a:t>
              </a:r>
            </a:p>
          </p:txBody>
        </p:sp>
      </p:grpSp>
      <p:grpSp>
        <p:nvGrpSpPr>
          <p:cNvPr id="129" name="Group 129"/>
          <p:cNvGrpSpPr/>
          <p:nvPr/>
        </p:nvGrpSpPr>
        <p:grpSpPr>
          <a:xfrm>
            <a:off x="0" y="9728852"/>
            <a:ext cx="18288000" cy="665855"/>
            <a:chOff x="0" y="0"/>
            <a:chExt cx="24384000" cy="887806"/>
          </a:xfrm>
        </p:grpSpPr>
        <p:sp>
          <p:nvSpPr>
            <p:cNvPr id="130" name="Freeform 130"/>
            <p:cNvSpPr/>
            <p:nvPr/>
          </p:nvSpPr>
          <p:spPr>
            <a:xfrm>
              <a:off x="0" y="0"/>
              <a:ext cx="24384000" cy="887806"/>
            </a:xfrm>
            <a:custGeom>
              <a:avLst/>
              <a:gdLst/>
              <a:ahLst/>
              <a:cxnLst/>
              <a:rect l="l" t="t" r="r" b="b"/>
              <a:pathLst>
                <a:path w="24384000" h="887806">
                  <a:moveTo>
                    <a:pt x="0" y="0"/>
                  </a:moveTo>
                  <a:lnTo>
                    <a:pt x="24384000" y="0"/>
                  </a:lnTo>
                  <a:lnTo>
                    <a:pt x="24384000" y="887806"/>
                  </a:lnTo>
                  <a:lnTo>
                    <a:pt x="0" y="887806"/>
                  </a:lnTo>
                  <a:close/>
                </a:path>
              </a:pathLst>
            </a:custGeom>
            <a:solidFill>
              <a:srgbClr val="1B3A5F"/>
            </a:solidFill>
          </p:spPr>
        </p:sp>
      </p:grpSp>
      <p:grpSp>
        <p:nvGrpSpPr>
          <p:cNvPr id="131" name="Group 131"/>
          <p:cNvGrpSpPr/>
          <p:nvPr/>
        </p:nvGrpSpPr>
        <p:grpSpPr>
          <a:xfrm>
            <a:off x="16571221" y="9738377"/>
            <a:ext cx="1280160" cy="866329"/>
            <a:chOff x="0" y="0"/>
            <a:chExt cx="1706880" cy="1155105"/>
          </a:xfrm>
        </p:grpSpPr>
        <p:sp>
          <p:nvSpPr>
            <p:cNvPr id="132" name="Freeform 132"/>
            <p:cNvSpPr/>
            <p:nvPr/>
          </p:nvSpPr>
          <p:spPr>
            <a:xfrm>
              <a:off x="0" y="0"/>
              <a:ext cx="1706880" cy="1155105"/>
            </a:xfrm>
            <a:custGeom>
              <a:avLst/>
              <a:gdLst/>
              <a:ahLst/>
              <a:cxnLst/>
              <a:rect l="l" t="t" r="r" b="b"/>
              <a:pathLst>
                <a:path w="1706880" h="1155105">
                  <a:moveTo>
                    <a:pt x="0" y="0"/>
                  </a:moveTo>
                  <a:lnTo>
                    <a:pt x="1706880" y="0"/>
                  </a:lnTo>
                  <a:lnTo>
                    <a:pt x="1706880" y="1155105"/>
                  </a:lnTo>
                  <a:lnTo>
                    <a:pt x="0" y="115510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r="-26982" b="11338"/>
              </a:stretch>
            </a:blipFill>
          </p:spPr>
        </p:sp>
        <p:sp>
          <p:nvSpPr>
            <p:cNvPr id="133" name="TextBox 133"/>
            <p:cNvSpPr txBox="1"/>
            <p:nvPr/>
          </p:nvSpPr>
          <p:spPr>
            <a:xfrm>
              <a:off x="0" y="0"/>
              <a:ext cx="1706880" cy="11551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09</a:t>
              </a:r>
            </a:p>
            <a:p>
              <a:pPr algn="r">
                <a:lnSpc>
                  <a:spcPts val="2879"/>
                </a:lnSpc>
              </a:pPr>
              <a:endParaRPr lang="en-US" sz="2400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endParaRPr>
            </a:p>
          </p:txBody>
        </p:sp>
      </p:grpSp>
      <p:grpSp>
        <p:nvGrpSpPr>
          <p:cNvPr id="134" name="Group 134"/>
          <p:cNvGrpSpPr/>
          <p:nvPr/>
        </p:nvGrpSpPr>
        <p:grpSpPr>
          <a:xfrm>
            <a:off x="548640" y="9633602"/>
            <a:ext cx="12801600" cy="705860"/>
            <a:chOff x="0" y="0"/>
            <a:chExt cx="17068800" cy="941146"/>
          </a:xfrm>
        </p:grpSpPr>
        <p:sp>
          <p:nvSpPr>
            <p:cNvPr id="135" name="Freeform 135"/>
            <p:cNvSpPr/>
            <p:nvPr/>
          </p:nvSpPr>
          <p:spPr>
            <a:xfrm>
              <a:off x="0" y="0"/>
              <a:ext cx="17068800" cy="941146"/>
            </a:xfrm>
            <a:custGeom>
              <a:avLst/>
              <a:gdLst/>
              <a:ahLst/>
              <a:cxnLst/>
              <a:rect l="l" t="t" r="r" b="b"/>
              <a:pathLst>
                <a:path w="17068800" h="941146">
                  <a:moveTo>
                    <a:pt x="0" y="0"/>
                  </a:moveTo>
                  <a:lnTo>
                    <a:pt x="17068800" y="0"/>
                  </a:lnTo>
                  <a:lnTo>
                    <a:pt x="17068800" y="941146"/>
                  </a:lnTo>
                  <a:lnTo>
                    <a:pt x="0" y="94114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98975" b="-307792"/>
              </a:stretch>
            </a:blipFill>
          </p:spPr>
        </p:sp>
        <p:sp>
          <p:nvSpPr>
            <p:cNvPr id="136" name="TextBox 136"/>
            <p:cNvSpPr txBox="1"/>
            <p:nvPr/>
          </p:nvSpPr>
          <p:spPr>
            <a:xfrm>
              <a:off x="0" y="-9525"/>
              <a:ext cx="17068800" cy="95067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ArthSetu  ·  SIH 26102  ·  Idea Submission</a:t>
              </a:r>
            </a:p>
          </p:txBody>
        </p:sp>
      </p:grp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1290</Words>
  <Application>Microsoft Office PowerPoint</Application>
  <PresentationFormat>Custom</PresentationFormat>
  <Paragraphs>244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Roboto Bold</vt:lpstr>
      <vt:lpstr>Calibri</vt:lpstr>
      <vt:lpstr>Inter</vt:lpstr>
      <vt:lpstr>Inter Bold</vt:lpstr>
      <vt:lpstr>Inter Italics</vt:lpstr>
      <vt:lpstr>Arial</vt:lpstr>
      <vt:lpstr>Bebas Neue Cyrillic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DietCode SIH26102</dc:title>
  <dc:creator>Yash Khatri</dc:creator>
  <cp:lastModifiedBy>Yash Khatri</cp:lastModifiedBy>
  <cp:revision>1</cp:revision>
  <dcterms:created xsi:type="dcterms:W3CDTF">2006-08-16T00:00:00Z</dcterms:created>
  <dcterms:modified xsi:type="dcterms:W3CDTF">2026-08-26T15:57:43Z</dcterms:modified>
  <dc:identifier>DAHTT4mFp-Y</dc:identifier>
</cp:coreProperties>
</file>